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mo Bold" charset="1" panose="020B0704020202020204"/>
      <p:regular r:id="rId21"/>
    </p:embeddedFont>
    <p:embeddedFont>
      <p:font typeface="IBM Plex Sans" charset="1" panose="020B0503050203000203"/>
      <p:regular r:id="rId22"/>
    </p:embeddedFont>
    <p:embeddedFont>
      <p:font typeface="IBM Plex Sans Bold" charset="1" panose="020B0803050203000203"/>
      <p:regular r:id="rId24"/>
    </p:embeddedFont>
    <p:embeddedFont>
      <p:font typeface="Canva Sans" charset="1" panose="020B05030305010401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• Begrüßung: Namen nennen, Ausschuss ansprechen </a:t>
            </a:r>
          </a:p>
          <a:p>
            <a:r>
              <a:rPr lang="en-US"/>
              <a:t>• Thema: Migration eines IoT-Datendienstes (Fahrzeug-Telematik) in die Cloud </a:t>
            </a:r>
          </a:p>
          <a:p>
            <a:r>
              <a:rPr lang="en-US"/>
              <a:t>• Schwerpunkt: Backup- &amp; Wiederherstellungskonzept – sicherer Betrieb so wichtig wie der Umzug </a:t>
            </a:r>
          </a:p>
          <a:p>
            <a:r>
              <a:rPr lang="en-US"/>
              <a:t>• Ablauf: ~15 Min, 6 Stationen: Ausgangslage → Entscheidung → Umsetzung → Absicherung </a:t>
            </a:r>
          </a:p>
          <a:p>
            <a:r>
              <a:rPr lang="en-US"/>
              <a:t>• Titelfolie kurz halten (~30 Sek), Fragen am Ende </a:t>
            </a:r>
          </a:p>
          <a:p>
            <a:r>
              <a:rPr lang="en-US"/>
              <a:t>• Merke: ruhig starten, Blickkontakt, klar und deutlich sprechen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• Roten Faden vorab geben – Vortrag in 6 Schritten </a:t>
            </a:r>
          </a:p>
          <a:p>
            <a:r>
              <a:rPr lang="en-US"/>
              <a:t>• 1) Ausgangssituation &amp; Ziele (Problem, messbare Werte) </a:t>
            </a:r>
          </a:p>
          <a:p>
            <a:r>
              <a:rPr lang="en-US"/>
              <a:t>• 2) Risiken &amp; Entscheidung für Cloud-Variante </a:t>
            </a:r>
          </a:p>
          <a:p>
            <a:r>
              <a:rPr lang="en-US"/>
              <a:t>• 3) Hybride Ziel-Architektur (on-premise + Cloud) </a:t>
            </a:r>
          </a:p>
          <a:p>
            <a:r>
              <a:rPr lang="en-US"/>
              <a:t>• 4) Backup &amp; Recovery (RTO/RPO) </a:t>
            </a:r>
          </a:p>
          <a:p>
            <a:r>
              <a:rPr lang="en-US"/>
              <a:t>• 5) IT-Sicherheit &amp; Datenschutz • 6) Umsetzung, Tests, Projektsteuerung, Fazit </a:t>
            </a:r>
          </a:p>
          <a:p>
            <a:r>
              <a:rPr lang="en-US"/>
              <a:t>• Logik: erst verstehen → entscheiden → umsetzen → absichern </a:t>
            </a:r>
          </a:p>
          <a:p>
            <a:r>
              <a:rPr lang="en-US"/>
              <a:t>• Kurz halten (~45 Sek)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• Problem: Flotte &amp; Datenvolumen wachsen, On-Premise-Dienst nicht dafür ausgelegt </a:t>
            </a:r>
          </a:p>
          <a:p>
            <a:r>
              <a:rPr lang="en-US"/>
              <a:t>• Skalierung: Lastspitzen nur mit teurer Dauer-Hardware abfangbar </a:t>
            </a:r>
          </a:p>
          <a:p>
            <a:r>
              <a:rPr lang="en-US"/>
              <a:t>• Verfügbarkeit: keine Redundanz → Ausfall = sofort Datenlücken (Telematik nicht nachholbar) </a:t>
            </a:r>
          </a:p>
          <a:p>
            <a:r>
              <a:rPr lang="en-US"/>
              <a:t>• Wartungsaufwand: Hardware, Updates, Betrieb binden Personal </a:t>
            </a:r>
          </a:p>
          <a:p>
            <a:r>
              <a:rPr lang="en-US"/>
              <a:t>• Ziel daraus: Skalierbarkeit &amp; Hochverfügbarkeit aus der Cloud, Kontrolle über sensible Standortdaten </a:t>
            </a:r>
          </a:p>
          <a:p>
            <a:r>
              <a:rPr lang="en-US"/>
              <a:t>• ~1,5 Min </a:t>
            </a:r>
          </a:p>
          <a:p>
            <a:r>
              <a:rPr lang="en-US"/>
              <a:t>• Nachfrage-Antwort: Server aufrüsten löst weder Verfügbarkeit noch Kosten bei schwankender Last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• Ziele messbar machen → nur so später nachweisbar </a:t>
            </a:r>
          </a:p>
          <a:p>
            <a:r>
              <a:rPr lang="en-US"/>
              <a:t>• Verfügbarkeit 99,9 % </a:t>
            </a:r>
          </a:p>
          <a:p>
            <a:r>
              <a:rPr lang="en-US"/>
              <a:t>• RTO ≤ 2 h (max. Wiederanlaufzeit) </a:t>
            </a:r>
          </a:p>
          <a:p>
            <a:r>
              <a:rPr lang="en-US"/>
              <a:t>• RPO ≤ 15 min (max. Datenverlust) </a:t>
            </a:r>
          </a:p>
          <a:p>
            <a:r>
              <a:rPr lang="en-US"/>
              <a:t>• → beide Werte steuern das Backup-Konzept </a:t>
            </a:r>
          </a:p>
          <a:p>
            <a:r>
              <a:rPr lang="en-US"/>
              <a:t>• Qualitativ: elastische Skalierung, DSGVO &amp; Datensouveränität, Kostentransparenz </a:t>
            </a:r>
          </a:p>
          <a:p>
            <a:r>
              <a:rPr lang="en-US"/>
              <a:t>• Ziele am Ende im Fazit spiegeln • ~1,5 Min </a:t>
            </a:r>
          </a:p>
          <a:p>
            <a:r>
              <a:rPr lang="en-US"/>
              <a:t>· Fachgespräch: RTO = Zeit bis Wiederanlauf, RPO = tolerierter Datenverlust-Zeitraum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• Risiken systematisch bewertet (Eintritt × Auswirkung) = Kern der QS bei Migration </a:t>
            </a:r>
          </a:p>
          <a:p>
            <a:r>
              <a:rPr lang="en-US"/>
              <a:t>• Datenverlust b. Migration → Parallelbetrieb + Validierung vor Cutover </a:t>
            </a:r>
          </a:p>
          <a:p>
            <a:r>
              <a:rPr lang="en-US"/>
              <a:t>• Ausfall Erfassung → Georedundanz + Failover </a:t>
            </a:r>
          </a:p>
          <a:p>
            <a:r>
              <a:rPr lang="en-US"/>
              <a:t>• Fehlkonfiguration → Infrastructure as Code + Vier-Augen-Review </a:t>
            </a:r>
          </a:p>
          <a:p>
            <a:r>
              <a:rPr lang="en-US"/>
              <a:t>• Unbefugter Zugriff / DSGVO → Verschlüsselung, Rechtekonzept, Pseudonymisierung </a:t>
            </a:r>
          </a:p>
          <a:p>
            <a:r>
              <a:rPr lang="en-US"/>
              <a:t>• Kernbotschaft: jede Zeile hat eine konkrete Gegenmaßnahme </a:t>
            </a:r>
          </a:p>
          <a:p>
            <a:r>
              <a:rPr lang="en-US"/>
              <a:t>• ~1,5–2 Min · guter Anknüpfungspunkt fürs Fachgespräch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• Hybrid = bewusster Kern: sensible Daten von Verarbeitung trennen </a:t>
            </a:r>
          </a:p>
          <a:p>
            <a:r>
              <a:rPr lang="en-US"/>
              <a:t>• On-Premise (souverän): MQTT-Edge-Gateway nimmt Telemetrie (TLS) an, pseudonymisiert Standortdaten am Rand </a:t>
            </a:r>
          </a:p>
          <a:p>
            <a:r>
              <a:rPr lang="en-US"/>
              <a:t>• Zuordnungstabelle (Re-ID-Schlüssel) bleibt intern – nie in die Cloud </a:t>
            </a:r>
          </a:p>
          <a:p>
            <a:r>
              <a:rPr lang="en-US"/>
              <a:t>• In die Cloud nur pseudonymisierte Daten </a:t>
            </a:r>
          </a:p>
          <a:p>
            <a:r>
              <a:rPr lang="en-US"/>
              <a:t>• Cloud (AWS, EU): Stream-Verarbeitung → Zeitreihen-DB/Data Lake → georedundantes Backup </a:t>
            </a:r>
          </a:p>
          <a:p>
            <a:r>
              <a:rPr lang="en-US"/>
              <a:t>• Vorteil: Skalierung/HA aus Cloud + Datensouveränität; in Cloud keine direkt personenbeziehbaren Daten </a:t>
            </a:r>
          </a:p>
          <a:p>
            <a:r>
              <a:rPr lang="en-US"/>
              <a:t>• Querschnitt: Monitoring, IAM, E2E-Verschlüsselung </a:t>
            </a:r>
          </a:p>
          <a:p>
            <a:r>
              <a:rPr lang="en-US"/>
              <a:t>• ~2–2,5 Min (Kernfolie) </a:t>
            </a:r>
          </a:p>
          <a:p>
            <a:r>
              <a:rPr lang="en-US"/>
              <a:t>• Fachgespräch: warum hybrid? Souveränität/CLOUD Act; Pseudonymisierung umkehrbar → Schlüssel getrennt halten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• Kernaussage: Backup nur so gut wie sein Restore </a:t>
            </a:r>
          </a:p>
          <a:p>
            <a:r>
              <a:rPr lang="en-US"/>
              <a:t>• Steuergrößen: RTO ≤ 2 h, RPO ≤ 15 min </a:t>
            </a:r>
          </a:p>
          <a:p>
            <a:r>
              <a:rPr lang="en-US"/>
              <a:t>• 3-2-1-Prinzip: 3 Kopien, 2 Medien, 1 räumlich getrennt </a:t>
            </a:r>
          </a:p>
          <a:p>
            <a:r>
              <a:rPr lang="en-US"/>
              <a:t>• Georedundante Replikation in 2. EU-Region (deckt RZ-Ausfall) </a:t>
            </a:r>
          </a:p>
          <a:p>
            <a:r>
              <a:rPr lang="en-US"/>
              <a:t>• Regelmäßig getestete Restores nach Notfallhandbuch (wichtigster Punkt) </a:t>
            </a:r>
          </a:p>
          <a:p>
            <a:r>
              <a:rPr lang="en-US"/>
              <a:t>• Nachweis folgt in der Restore-Simulation (Testfolie) </a:t>
            </a:r>
          </a:p>
          <a:p>
            <a:r>
              <a:rPr lang="en-US"/>
              <a:t>• ~2 Min · Fachgespräch: inkrementelles vs. vollständiges Backup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• Sicherheit auf jeder Ebene, nicht als Einzelmaßnahme </a:t>
            </a:r>
          </a:p>
          <a:p>
            <a:r>
              <a:rPr lang="en-US"/>
              <a:t>• Transport: MQTT über TLS 1.3 </a:t>
            </a:r>
          </a:p>
          <a:p>
            <a:r>
              <a:rPr lang="en-US"/>
              <a:t>• Geräteauthentifizierung: eigene Identität per X.509-Zertifikat </a:t>
            </a:r>
          </a:p>
          <a:p>
            <a:r>
              <a:rPr lang="en-US"/>
              <a:t>• Rollen/Rechte: IAM, Least-Privilege </a:t>
            </a:r>
          </a:p>
          <a:p>
            <a:r>
              <a:rPr lang="en-US"/>
              <a:t>• Datenschutz (hybrid): Pseudonymisierung am Edge, Schlüssel on-premise, Cloud-Daten in EU-Region + Löschkonzept </a:t>
            </a:r>
          </a:p>
          <a:p>
            <a:r>
              <a:rPr lang="en-US"/>
              <a:t>• → deckt den organisatorisch-rechtlichen Schwerpunkt ab • ~1,5–2 Min </a:t>
            </a:r>
          </a:p>
          <a:p>
            <a:r>
              <a:rPr lang="en-US"/>
              <a:t>· Fachgespräch: Pseudonymisierung vs. Anonymisierung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• Migration in 4 Schritten: Vorbereitung → Parallelbetrieb → Cutover → Nachbetreuung </a:t>
            </a:r>
          </a:p>
          <a:p>
            <a:r>
              <a:rPr lang="en-US"/>
              <a:t>• Parallelbetrieb = wichtigste Absicherung gegen Datenverlust (erst umschalten, wenn geprüft) • QS über messbare Testfälle mit klarem Erfolgskriterium: </a:t>
            </a:r>
          </a:p>
          <a:p>
            <a:r>
              <a:rPr lang="en-US"/>
              <a:t>• – Lasttest: 10.000 Nachrichten/s stabil </a:t>
            </a:r>
          </a:p>
          <a:p>
            <a:r>
              <a:rPr lang="en-US"/>
              <a:t>• – Restore-Simulation: RTO ≤ 2 h nachgewiesen (Beleg fürs Backup) </a:t>
            </a:r>
          </a:p>
          <a:p>
            <a:r>
              <a:rPr lang="en-US"/>
              <a:t>• – Integrationstest: Daten vollständig &amp; korrekt </a:t>
            </a:r>
          </a:p>
          <a:p>
            <a:r>
              <a:rPr lang="en-US"/>
              <a:t>• – Failover-Test: Umschwenk &lt; 60 s </a:t>
            </a:r>
          </a:p>
          <a:p>
            <a:r>
              <a:rPr lang="en-US"/>
              <a:t>• QS nachvollziehbar, nicht behauptet · ~2 Min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• Projektsteuerung gehört zur Systemintegration </a:t>
            </a:r>
          </a:p>
          <a:p>
            <a:r>
              <a:rPr lang="en-US"/>
              <a:t>• 5 Phasen, Aufwand in PT: Analyse 8 · Infra 12 · Migration 10 · Test 5 · Rollout/Schulung 4 </a:t>
            </a:r>
          </a:p>
          <a:p>
            <a:r>
              <a:rPr lang="en-US"/>
              <a:t>• Gesamt: 9 Wochen / 39 PT → Basis für Termin-, Ressourcenplanung, Controlling </a:t>
            </a:r>
          </a:p>
          <a:p>
            <a:r>
              <a:rPr lang="en-US"/>
              <a:t>• Letzter Schritt bewusst: Rollout &amp; Schulung •</a:t>
            </a:r>
          </a:p>
          <a:p>
            <a:r>
              <a:rPr lang="en-US"/>
              <a:t> Übergabe mit Einweisung, Doku, Notfallhandbuch → kontrollierter Regelbetrieb </a:t>
            </a:r>
          </a:p>
          <a:p>
            <a:r>
              <a:rPr lang="en-US"/>
              <a:t>• ~1,5 Min · Fachgespräch: wie Aufwand geschätzt? Erfahrungswerte, Vergleich ähnlicher Aufgaben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• Ergebnisse gegen die Ziele spiegeln (roter Faden schließen) </a:t>
            </a:r>
          </a:p>
          <a:p>
            <a:r>
              <a:rPr lang="en-US"/>
              <a:t>• Verfügbarkeit 99,9 % erreicht </a:t>
            </a:r>
          </a:p>
          <a:p>
            <a:r>
              <a:rPr lang="en-US"/>
              <a:t>• RTO ≤ 2 h im Restore-Test nachgewiesen </a:t>
            </a:r>
          </a:p>
          <a:p>
            <a:r>
              <a:rPr lang="en-US"/>
              <a:t>• Migration ohne Datenverlust (Parallelbetrieb) </a:t>
            </a:r>
          </a:p>
          <a:p>
            <a:r>
              <a:rPr lang="en-US"/>
              <a:t>• Standortdaten souverän: nur pseudonymisierte Daten in der Cloud </a:t>
            </a:r>
          </a:p>
          <a:p>
            <a:r>
              <a:rPr lang="en-US"/>
              <a:t>• Deckt alle Facetten der Systemintegration ab </a:t>
            </a:r>
          </a:p>
          <a:p>
            <a:r>
              <a:rPr lang="en-US"/>
              <a:t>• Ausblick: Predictive Maintenance auf Basis der Sensordaten </a:t>
            </a:r>
          </a:p>
          <a:p>
            <a:r>
              <a:rPr lang="en-US"/>
              <a:t>• Dank + Überleitung zu Fragen · ~1 Min, klarer Schlusssatz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3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62050"/>
            <a:ext cx="16325088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4FB6C0"/>
                </a:solidFill>
                <a:latin typeface="Arimo Bold"/>
                <a:ea typeface="Arimo Bold"/>
                <a:cs typeface="Arimo Bold"/>
                <a:sym typeface="Arimo Bold"/>
              </a:rPr>
              <a:t>MÜNDLICHE PRÜFUNG: PRÄSENTATION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1729683"/>
            <a:ext cx="1143000" cy="38100"/>
            <a:chOff x="0" y="0"/>
            <a:chExt cx="1524000" cy="50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000" cy="50800"/>
            </a:xfrm>
            <a:custGeom>
              <a:avLst/>
              <a:gdLst/>
              <a:ahLst/>
              <a:cxnLst/>
              <a:rect r="r" b="b" t="t" l="l"/>
              <a:pathLst>
                <a:path h="508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E7C8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219200" y="3173311"/>
            <a:ext cx="15304770" cy="271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66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Cloud-Migration einer</a:t>
            </a:r>
          </a:p>
          <a:p>
            <a:pPr algn="l">
              <a:lnSpc>
                <a:spcPts val="7128"/>
              </a:lnSpc>
            </a:pPr>
            <a:r>
              <a:rPr lang="en-US" sz="66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IoT-Telematik mit</a:t>
            </a:r>
          </a:p>
          <a:p>
            <a:pPr algn="l">
              <a:lnSpc>
                <a:spcPts val="7128"/>
              </a:lnSpc>
            </a:pPr>
            <a:r>
              <a:rPr lang="en-US" sz="66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Backup &amp; Recovery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200" y="6079331"/>
            <a:ext cx="12753975" cy="529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AFC0D2"/>
                </a:solidFill>
                <a:latin typeface="IBM Plex Sans"/>
                <a:ea typeface="IBM Plex Sans"/>
                <a:cs typeface="IBM Plex Sans"/>
                <a:sym typeface="IBM Plex Sans"/>
              </a:rPr>
              <a:t>Berufsspezialist für Systemintegration und Vernetzung</a:t>
            </a:r>
          </a:p>
        </p:txBody>
      </p:sp>
      <p:sp>
        <p:nvSpPr>
          <p:cNvPr name="AutoShape 7" id="7"/>
          <p:cNvSpPr/>
          <p:nvPr/>
        </p:nvSpPr>
        <p:spPr>
          <a:xfrm rot="2040">
            <a:off x="1214438" y="7938192"/>
            <a:ext cx="15859125" cy="0"/>
          </a:xfrm>
          <a:prstGeom prst="line">
            <a:avLst/>
          </a:prstGeom>
          <a:ln cap="rnd" w="9525">
            <a:solidFill>
              <a:srgbClr val="2C3B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219200" y="8252517"/>
            <a:ext cx="2865663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93A4BB"/>
                </a:solidFill>
                <a:latin typeface="IBM Plex Sans"/>
                <a:ea typeface="IBM Plex Sans"/>
                <a:cs typeface="IBM Plex Sans"/>
                <a:sym typeface="IBM Plex Sans"/>
              </a:rPr>
              <a:t>Name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9200" y="8629650"/>
            <a:ext cx="286566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4F6F8"/>
                </a:solidFill>
                <a:latin typeface="IBM Plex Sans"/>
                <a:ea typeface="IBM Plex Sans"/>
                <a:cs typeface="IBM Plex Sans"/>
                <a:sym typeface="IBM Plex Sans"/>
              </a:rPr>
              <a:t>Helen Haveloh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87195" y="8252517"/>
            <a:ext cx="1764506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93A4BB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Datum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87195" y="8629650"/>
            <a:ext cx="176450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4F6F8"/>
                </a:solidFill>
                <a:latin typeface="IBM Plex Sans"/>
                <a:ea typeface="IBM Plex Sans"/>
                <a:cs typeface="IBM Plex Sans"/>
                <a:sym typeface="IBM Plex Sans"/>
              </a:rPr>
              <a:t>21.09.2026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61302" y="8252517"/>
            <a:ext cx="2061267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93A4BB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Prüfungsausschuss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61302" y="8629650"/>
            <a:ext cx="206126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4F6F8"/>
                </a:solidFill>
                <a:latin typeface="IBM Plex Sans"/>
                <a:ea typeface="IBM Plex Sans"/>
                <a:cs typeface="IBM Plex Sans"/>
                <a:sym typeface="IBM Plex Sans"/>
              </a:rPr>
              <a:t>CloudHelden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62050"/>
            <a:ext cx="163250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0E7C86"/>
                </a:solidFill>
                <a:latin typeface="Arimo Bold"/>
                <a:ea typeface="Arimo Bold"/>
                <a:cs typeface="Arimo Bold"/>
                <a:sym typeface="Arimo Bold"/>
              </a:rPr>
              <a:t>AGENDA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10633"/>
            <a:ext cx="1632508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172A3F"/>
                </a:solidFill>
                <a:latin typeface="Arimo Bold"/>
                <a:ea typeface="Arimo Bold"/>
                <a:cs typeface="Arimo Bold"/>
                <a:sym typeface="Arimo Bold"/>
              </a:rPr>
              <a:t>Der rote Faden</a:t>
            </a:r>
          </a:p>
        </p:txBody>
      </p:sp>
      <p:sp>
        <p:nvSpPr>
          <p:cNvPr name="AutoShape 4" id="4"/>
          <p:cNvSpPr/>
          <p:nvPr/>
        </p:nvSpPr>
        <p:spPr>
          <a:xfrm rot="4140">
            <a:off x="1214438" y="2815533"/>
            <a:ext cx="7934335" cy="0"/>
          </a:xfrm>
          <a:prstGeom prst="line">
            <a:avLst/>
          </a:prstGeom>
          <a:ln cap="rnd" w="9525">
            <a:solidFill>
              <a:srgbClr val="DCE2E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219200" y="3044133"/>
            <a:ext cx="685800" cy="61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0E7C86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57400" y="3110808"/>
            <a:ext cx="5200155" cy="40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Ausgangssituation &amp; Zielsetzung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57400" y="3495523"/>
            <a:ext cx="5200155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Problem, Anforderungen und messbare Zielwerte</a:t>
            </a:r>
          </a:p>
        </p:txBody>
      </p:sp>
      <p:sp>
        <p:nvSpPr>
          <p:cNvPr name="AutoShape 8" id="8"/>
          <p:cNvSpPr/>
          <p:nvPr/>
        </p:nvSpPr>
        <p:spPr>
          <a:xfrm>
            <a:off x="1204889" y="7645923"/>
            <a:ext cx="7934329" cy="9555"/>
          </a:xfrm>
          <a:prstGeom prst="line">
            <a:avLst/>
          </a:prstGeom>
          <a:ln cap="rnd" w="9525">
            <a:solidFill>
              <a:srgbClr val="DCE2E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219200" y="4015530"/>
            <a:ext cx="685800" cy="61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0E7C86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47865" y="4082205"/>
            <a:ext cx="4987538" cy="40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Risiko &amp; Entscheidung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47865" y="4466920"/>
            <a:ext cx="4987538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Migrationsrisiken und Cloud-Variantenvergleich</a:t>
            </a:r>
          </a:p>
        </p:txBody>
      </p:sp>
      <p:sp>
        <p:nvSpPr>
          <p:cNvPr name="AutoShape 12" id="12"/>
          <p:cNvSpPr/>
          <p:nvPr/>
        </p:nvSpPr>
        <p:spPr>
          <a:xfrm rot="4140">
            <a:off x="1214438" y="3853605"/>
            <a:ext cx="7934335" cy="0"/>
          </a:xfrm>
          <a:prstGeom prst="line">
            <a:avLst/>
          </a:prstGeom>
          <a:ln cap="rnd" w="9525">
            <a:solidFill>
              <a:srgbClr val="DCE2E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204894" y="4950756"/>
            <a:ext cx="685800" cy="61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0E7C86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43094" y="5017431"/>
            <a:ext cx="3308985" cy="40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Ziel-Architektur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43094" y="5402155"/>
            <a:ext cx="3308985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Der IoT-Datenfluss in der Cloud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204906" y="4824988"/>
            <a:ext cx="7934329" cy="9555"/>
          </a:xfrm>
          <a:prstGeom prst="line">
            <a:avLst/>
          </a:prstGeom>
          <a:ln cap="rnd" w="9525">
            <a:solidFill>
              <a:srgbClr val="DCE2E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219200" y="5841231"/>
            <a:ext cx="685800" cy="61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0E7C86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47854" y="5907906"/>
            <a:ext cx="4654896" cy="40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Backup &amp; Recovery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47854" y="6292630"/>
            <a:ext cx="4654896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Wiederherstellung mit RTO- und RPO-Zielen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204900" y="5822151"/>
            <a:ext cx="7934329" cy="9555"/>
          </a:xfrm>
          <a:prstGeom prst="line">
            <a:avLst/>
          </a:prstGeom>
          <a:ln cap="rnd" w="9525">
            <a:solidFill>
              <a:srgbClr val="DCE2E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219200" y="6736438"/>
            <a:ext cx="685800" cy="61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0E7C86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43094" y="6803113"/>
            <a:ext cx="4317035" cy="40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IT-Sicherheit &amp; Datenschutz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43094" y="7187828"/>
            <a:ext cx="4317035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Verschlüsselung, Identitäten und DSGVO</a:t>
            </a:r>
          </a:p>
        </p:txBody>
      </p:sp>
      <p:sp>
        <p:nvSpPr>
          <p:cNvPr name="AutoShape 24" id="24"/>
          <p:cNvSpPr/>
          <p:nvPr/>
        </p:nvSpPr>
        <p:spPr>
          <a:xfrm>
            <a:off x="1204894" y="6650698"/>
            <a:ext cx="7934329" cy="9555"/>
          </a:xfrm>
          <a:prstGeom prst="line">
            <a:avLst/>
          </a:prstGeom>
          <a:ln cap="rnd" w="9525">
            <a:solidFill>
              <a:srgbClr val="DCE2E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204889" y="7669766"/>
            <a:ext cx="685800" cy="61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0E7C86"/>
                </a:solidFill>
                <a:latin typeface="Arimo Bold"/>
                <a:ea typeface="Arimo Bold"/>
                <a:cs typeface="Arimo Bold"/>
                <a:sym typeface="Arimo Bold"/>
              </a:rPr>
              <a:t>06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43089" y="7812641"/>
            <a:ext cx="3519449" cy="40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Umsetzung &amp; Steuerung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43089" y="8197355"/>
            <a:ext cx="3519449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Tests, Projektplan und Fazit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9200" y="9319317"/>
            <a:ext cx="3207039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97A4"/>
                </a:solidFill>
                <a:latin typeface="IBM Plex Sans"/>
                <a:ea typeface="IBM Plex Sans"/>
                <a:cs typeface="IBM Plex Sans"/>
                <a:sym typeface="IBM Plex Sans"/>
              </a:rPr>
              <a:t>Cloud-Migration IoT-Telematik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324659" y="9319317"/>
            <a:ext cx="820341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97A4"/>
                </a:solidFill>
                <a:latin typeface="IBM Plex Sans"/>
                <a:ea typeface="IBM Plex Sans"/>
                <a:cs typeface="IBM Plex Sans"/>
                <a:sym typeface="IBM Plex Sans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62050"/>
            <a:ext cx="163250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0E7C86"/>
                </a:solidFill>
                <a:latin typeface="Arimo Bold"/>
                <a:ea typeface="Arimo Bold"/>
                <a:cs typeface="Arimo Bold"/>
                <a:sym typeface="Arimo Bold"/>
              </a:rPr>
              <a:t>AUSGANGSSITUATION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10633"/>
            <a:ext cx="13735050" cy="605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172A3F"/>
                </a:solidFill>
                <a:latin typeface="Arimo Bold"/>
                <a:ea typeface="Arimo Bold"/>
                <a:cs typeface="Arimo Bold"/>
                <a:sym typeface="Arimo Bold"/>
              </a:rPr>
              <a:t>Der bestehende Dienst stößt an Grenzen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2649741"/>
            <a:ext cx="13342620" cy="120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4A5561"/>
                </a:solidFill>
                <a:latin typeface="IBM Plex Sans"/>
                <a:ea typeface="IBM Plex Sans"/>
                <a:cs typeface="IBM Plex Sans"/>
                <a:sym typeface="IBM Plex Sans"/>
              </a:rPr>
              <a:t>Eine wachsende Fahrzeugflotte sendet rund um die Uhr </a:t>
            </a:r>
            <a:r>
              <a:rPr lang="en-US" sz="2250" b="true">
                <a:solidFill>
                  <a:srgbClr val="4A556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Telematik-</a:t>
            </a:r>
            <a:r>
              <a:rPr lang="en-US" sz="2250">
                <a:solidFill>
                  <a:srgbClr val="4A5561"/>
                </a:solidFill>
                <a:latin typeface="IBM Plex Sans"/>
                <a:ea typeface="IBM Plex Sans"/>
                <a:cs typeface="IBM Plex Sans"/>
                <a:sym typeface="IBM Plex Sans"/>
              </a:rPr>
              <a:t> und </a:t>
            </a:r>
            <a:r>
              <a:rPr lang="en-US" sz="2250" b="true">
                <a:solidFill>
                  <a:srgbClr val="4A556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Sensordaten</a:t>
            </a:r>
            <a:r>
              <a:rPr lang="en-US" sz="2250">
                <a:solidFill>
                  <a:srgbClr val="4A5561"/>
                </a:solidFill>
                <a:latin typeface="IBM Plex Sans"/>
                <a:ea typeface="IBM Plex Sans"/>
                <a:cs typeface="IBM Plex Sans"/>
                <a:sym typeface="IBM Plex Sans"/>
              </a:rPr>
              <a:t>. Der </a:t>
            </a:r>
            <a:r>
              <a:rPr lang="en-US" sz="2250" b="true">
                <a:solidFill>
                  <a:srgbClr val="4A556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zentrale On-Premise-Dienst</a:t>
            </a:r>
            <a:r>
              <a:rPr lang="en-US" sz="2250">
                <a:solidFill>
                  <a:srgbClr val="4A5561"/>
                </a:solidFill>
                <a:latin typeface="IBM Plex Sans"/>
                <a:ea typeface="IBM Plex Sans"/>
                <a:cs typeface="IBM Plex Sans"/>
                <a:sym typeface="IBM Plex Sans"/>
              </a:rPr>
              <a:t> erfasst und verarbeitet sie – mit </a:t>
            </a:r>
            <a:r>
              <a:rPr lang="en-US" sz="2250" b="true">
                <a:solidFill>
                  <a:srgbClr val="4A556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steigendem Datenvolumen</a:t>
            </a:r>
            <a:r>
              <a:rPr lang="en-US" sz="2250">
                <a:solidFill>
                  <a:srgbClr val="4A5561"/>
                </a:solidFill>
                <a:latin typeface="IBM Plex Sans"/>
                <a:ea typeface="IBM Plex Sans"/>
                <a:cs typeface="IBM Plex Sans"/>
                <a:sym typeface="IBM Plex Sans"/>
              </a:rPr>
              <a:t> geraten </a:t>
            </a:r>
            <a:r>
              <a:rPr lang="en-US" sz="2250" b="true">
                <a:solidFill>
                  <a:srgbClr val="4A556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Kapazität</a:t>
            </a:r>
            <a:r>
              <a:rPr lang="en-US" sz="2250">
                <a:solidFill>
                  <a:srgbClr val="4A5561"/>
                </a:solidFill>
                <a:latin typeface="IBM Plex Sans"/>
                <a:ea typeface="IBM Plex Sans"/>
                <a:cs typeface="IBM Plex Sans"/>
                <a:sym typeface="IBM Plex Sans"/>
              </a:rPr>
              <a:t> und </a:t>
            </a:r>
            <a:r>
              <a:rPr lang="en-US" sz="2250" b="true">
                <a:solidFill>
                  <a:srgbClr val="4A556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Verfügbarkeit</a:t>
            </a:r>
            <a:r>
              <a:rPr lang="en-US" sz="2250">
                <a:solidFill>
                  <a:srgbClr val="4A5561"/>
                </a:solidFill>
                <a:latin typeface="IBM Plex Sans"/>
                <a:ea typeface="IBM Plex Sans"/>
                <a:cs typeface="IBM Plex Sans"/>
                <a:sym typeface="IBM Plex Sans"/>
              </a:rPr>
              <a:t> unter Druck.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19200" y="4359478"/>
            <a:ext cx="5105400" cy="2373516"/>
            <a:chOff x="0" y="0"/>
            <a:chExt cx="6807200" cy="31646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07200" cy="3164713"/>
            </a:xfrm>
            <a:custGeom>
              <a:avLst/>
              <a:gdLst/>
              <a:ahLst/>
              <a:cxnLst/>
              <a:rect r="r" b="b" t="t" l="l"/>
              <a:pathLst>
                <a:path h="3164713" w="680720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6609588" y="0"/>
                  </a:lnTo>
                  <a:cubicBezTo>
                    <a:pt x="6718681" y="0"/>
                    <a:pt x="6807200" y="88519"/>
                    <a:pt x="6807200" y="197612"/>
                  </a:cubicBezTo>
                  <a:lnTo>
                    <a:pt x="6807200" y="2967101"/>
                  </a:lnTo>
                  <a:cubicBezTo>
                    <a:pt x="6807200" y="3076194"/>
                    <a:pt x="6718681" y="3164713"/>
                    <a:pt x="6609588" y="3164713"/>
                  </a:cubicBezTo>
                  <a:lnTo>
                    <a:pt x="197612" y="3164713"/>
                  </a:lnTo>
                  <a:cubicBezTo>
                    <a:pt x="88519" y="3164713"/>
                    <a:pt x="0" y="3076194"/>
                    <a:pt x="0" y="296710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CE2E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71625" y="4711903"/>
            <a:ext cx="419100" cy="419100"/>
            <a:chOff x="0" y="0"/>
            <a:chExt cx="558800" cy="558800"/>
          </a:xfrm>
        </p:grpSpPr>
        <p:sp>
          <p:nvSpPr>
            <p:cNvPr name="Freeform 8" id="8" descr="Chart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71625" y="5264353"/>
            <a:ext cx="453256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Skalierung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1625" y="5702503"/>
            <a:ext cx="4532566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Lastspitzen der Flotte lassen sich nur mit teurer Hardware-Vorhaltung abfangen.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91300" y="4359478"/>
            <a:ext cx="5105400" cy="2373516"/>
            <a:chOff x="0" y="0"/>
            <a:chExt cx="6807200" cy="31646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07200" cy="3164713"/>
            </a:xfrm>
            <a:custGeom>
              <a:avLst/>
              <a:gdLst/>
              <a:ahLst/>
              <a:cxnLst/>
              <a:rect r="r" b="b" t="t" l="l"/>
              <a:pathLst>
                <a:path h="3164713" w="680720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6609588" y="0"/>
                  </a:lnTo>
                  <a:cubicBezTo>
                    <a:pt x="6718681" y="0"/>
                    <a:pt x="6807200" y="88519"/>
                    <a:pt x="6807200" y="197612"/>
                  </a:cubicBezTo>
                  <a:lnTo>
                    <a:pt x="6807200" y="2967101"/>
                  </a:lnTo>
                  <a:cubicBezTo>
                    <a:pt x="6807200" y="3076194"/>
                    <a:pt x="6718681" y="3164713"/>
                    <a:pt x="6609588" y="3164713"/>
                  </a:cubicBezTo>
                  <a:lnTo>
                    <a:pt x="197612" y="3164713"/>
                  </a:lnTo>
                  <a:cubicBezTo>
                    <a:pt x="88519" y="3164713"/>
                    <a:pt x="0" y="3076194"/>
                    <a:pt x="0" y="296710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CE2E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943725" y="4711903"/>
            <a:ext cx="419100" cy="419100"/>
            <a:chOff x="0" y="0"/>
            <a:chExt cx="558800" cy="558800"/>
          </a:xfrm>
        </p:grpSpPr>
        <p:sp>
          <p:nvSpPr>
            <p:cNvPr name="Freeform 14" id="14" descr="Warning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943725" y="5264353"/>
            <a:ext cx="453256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Verfügbarkeit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43725" y="5702503"/>
            <a:ext cx="4532566" cy="716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Ohne Redundanz führt ein Ausfall der Erfassung direkt zu Datenlücken.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963400" y="4359478"/>
            <a:ext cx="5105400" cy="2373516"/>
            <a:chOff x="0" y="0"/>
            <a:chExt cx="6807200" cy="31646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07200" cy="3164713"/>
            </a:xfrm>
            <a:custGeom>
              <a:avLst/>
              <a:gdLst/>
              <a:ahLst/>
              <a:cxnLst/>
              <a:rect r="r" b="b" t="t" l="l"/>
              <a:pathLst>
                <a:path h="3164713" w="680720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6609588" y="0"/>
                  </a:lnTo>
                  <a:cubicBezTo>
                    <a:pt x="6718681" y="0"/>
                    <a:pt x="6807200" y="88519"/>
                    <a:pt x="6807200" y="197612"/>
                  </a:cubicBezTo>
                  <a:lnTo>
                    <a:pt x="6807200" y="2967101"/>
                  </a:lnTo>
                  <a:cubicBezTo>
                    <a:pt x="6807200" y="3076194"/>
                    <a:pt x="6718681" y="3164713"/>
                    <a:pt x="6609588" y="3164713"/>
                  </a:cubicBezTo>
                  <a:lnTo>
                    <a:pt x="197612" y="3164713"/>
                  </a:lnTo>
                  <a:cubicBezTo>
                    <a:pt x="88519" y="3164713"/>
                    <a:pt x="0" y="3076194"/>
                    <a:pt x="0" y="296710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CE2E7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315825" y="4711903"/>
            <a:ext cx="419100" cy="419100"/>
            <a:chOff x="0" y="0"/>
            <a:chExt cx="558800" cy="558800"/>
          </a:xfrm>
        </p:grpSpPr>
        <p:sp>
          <p:nvSpPr>
            <p:cNvPr name="Freeform 20" id="20" descr="Wrench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315825" y="5264353"/>
            <a:ext cx="453256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Wartungsaufwand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15825" y="5702503"/>
            <a:ext cx="4532566" cy="716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Hardware, Updates und Betrieb binden dauerhaft interne Ressourcen.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19200" y="7152084"/>
            <a:ext cx="15849600" cy="841924"/>
            <a:chOff x="0" y="0"/>
            <a:chExt cx="21132800" cy="11225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132800" cy="1122553"/>
            </a:xfrm>
            <a:custGeom>
              <a:avLst/>
              <a:gdLst/>
              <a:ahLst/>
              <a:cxnLst/>
              <a:rect r="r" b="b" t="t" l="l"/>
              <a:pathLst>
                <a:path h="1122553" w="211328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20955000" y="0"/>
                  </a:lnTo>
                  <a:cubicBezTo>
                    <a:pt x="21053171" y="0"/>
                    <a:pt x="21132800" y="79629"/>
                    <a:pt x="21132800" y="177800"/>
                  </a:cubicBezTo>
                  <a:lnTo>
                    <a:pt x="21132800" y="944753"/>
                  </a:lnTo>
                  <a:cubicBezTo>
                    <a:pt x="21132800" y="1042924"/>
                    <a:pt x="21053171" y="1122553"/>
                    <a:pt x="20955000" y="1122553"/>
                  </a:cubicBezTo>
                  <a:lnTo>
                    <a:pt x="177800" y="1122553"/>
                  </a:lnTo>
                  <a:cubicBezTo>
                    <a:pt x="79629" y="1122553"/>
                    <a:pt x="0" y="1042924"/>
                    <a:pt x="0" y="944753"/>
                  </a:cubicBezTo>
                  <a:close/>
                </a:path>
              </a:pathLst>
            </a:custGeom>
            <a:solidFill>
              <a:srgbClr val="DFF1F2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562100" y="7361634"/>
            <a:ext cx="15618714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13203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Ziel: Skalierbarkeit und Hochverfügbarkeit aus der Cloud – bei voller Kontrolle über die sensiblen Standortdaten.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9200" y="9319317"/>
            <a:ext cx="3207039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97A4"/>
                </a:solidFill>
                <a:latin typeface="IBM Plex Sans"/>
                <a:ea typeface="IBM Plex Sans"/>
                <a:cs typeface="IBM Plex Sans"/>
                <a:sym typeface="IBM Plex Sans"/>
              </a:rPr>
              <a:t>Cloud-Migration IoT-Telematik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324659" y="9319317"/>
            <a:ext cx="820341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97A4"/>
                </a:solidFill>
                <a:latin typeface="IBM Plex Sans"/>
                <a:ea typeface="IBM Plex Sans"/>
                <a:cs typeface="IBM Plex Sans"/>
                <a:sym typeface="IBM Plex Sans"/>
              </a:rPr>
              <a:t>03 / 12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94460" y="5118735"/>
            <a:ext cx="1765935" cy="616268"/>
            <a:chOff x="0" y="0"/>
            <a:chExt cx="2354580" cy="8216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50800" y="47058"/>
              <a:ext cx="2254529" cy="728539"/>
            </a:xfrm>
            <a:custGeom>
              <a:avLst/>
              <a:gdLst/>
              <a:ahLst/>
              <a:cxnLst/>
              <a:rect r="r" b="b" t="t" l="l"/>
              <a:pathLst>
                <a:path h="728539" w="2254529">
                  <a:moveTo>
                    <a:pt x="944880" y="119312"/>
                  </a:moveTo>
                  <a:cubicBezTo>
                    <a:pt x="464820" y="49462"/>
                    <a:pt x="405130" y="52002"/>
                    <a:pt x="351790" y="53272"/>
                  </a:cubicBezTo>
                  <a:cubicBezTo>
                    <a:pt x="312420" y="55812"/>
                    <a:pt x="285750" y="54542"/>
                    <a:pt x="250190" y="63432"/>
                  </a:cubicBezTo>
                  <a:cubicBezTo>
                    <a:pt x="208280" y="74862"/>
                    <a:pt x="143510" y="102802"/>
                    <a:pt x="118110" y="120582"/>
                  </a:cubicBezTo>
                  <a:cubicBezTo>
                    <a:pt x="105410" y="129472"/>
                    <a:pt x="100330" y="134552"/>
                    <a:pt x="93980" y="148522"/>
                  </a:cubicBezTo>
                  <a:cubicBezTo>
                    <a:pt x="81280" y="170112"/>
                    <a:pt x="72390" y="209482"/>
                    <a:pt x="66040" y="252662"/>
                  </a:cubicBezTo>
                  <a:cubicBezTo>
                    <a:pt x="55880" y="316162"/>
                    <a:pt x="49530" y="431732"/>
                    <a:pt x="50800" y="499042"/>
                  </a:cubicBezTo>
                  <a:cubicBezTo>
                    <a:pt x="50800" y="544762"/>
                    <a:pt x="46990" y="596832"/>
                    <a:pt x="59690" y="614612"/>
                  </a:cubicBezTo>
                  <a:cubicBezTo>
                    <a:pt x="66040" y="623502"/>
                    <a:pt x="71120" y="622232"/>
                    <a:pt x="85090" y="626042"/>
                  </a:cubicBezTo>
                  <a:cubicBezTo>
                    <a:pt x="129540" y="640012"/>
                    <a:pt x="266700" y="659062"/>
                    <a:pt x="381000" y="667952"/>
                  </a:cubicBezTo>
                  <a:cubicBezTo>
                    <a:pt x="537210" y="679382"/>
                    <a:pt x="712470" y="681922"/>
                    <a:pt x="934720" y="671762"/>
                  </a:cubicBezTo>
                  <a:cubicBezTo>
                    <a:pt x="1270000" y="656522"/>
                    <a:pt x="2129790" y="653982"/>
                    <a:pt x="2199640" y="548572"/>
                  </a:cubicBezTo>
                  <a:cubicBezTo>
                    <a:pt x="2221230" y="516822"/>
                    <a:pt x="2174240" y="481262"/>
                    <a:pt x="2164080" y="433002"/>
                  </a:cubicBezTo>
                  <a:cubicBezTo>
                    <a:pt x="2148840" y="360612"/>
                    <a:pt x="2161540" y="199322"/>
                    <a:pt x="2129790" y="149792"/>
                  </a:cubicBezTo>
                  <a:cubicBezTo>
                    <a:pt x="2114550" y="124392"/>
                    <a:pt x="2091690" y="118042"/>
                    <a:pt x="2065020" y="109152"/>
                  </a:cubicBezTo>
                  <a:cubicBezTo>
                    <a:pt x="2030730" y="97722"/>
                    <a:pt x="1995170" y="98992"/>
                    <a:pt x="1938020" y="95182"/>
                  </a:cubicBezTo>
                  <a:cubicBezTo>
                    <a:pt x="1819910" y="88832"/>
                    <a:pt x="1584960" y="87562"/>
                    <a:pt x="1398270" y="93912"/>
                  </a:cubicBezTo>
                  <a:cubicBezTo>
                    <a:pt x="1195070" y="100262"/>
                    <a:pt x="819150" y="161222"/>
                    <a:pt x="767080" y="134552"/>
                  </a:cubicBezTo>
                  <a:cubicBezTo>
                    <a:pt x="756920" y="129472"/>
                    <a:pt x="754380" y="121852"/>
                    <a:pt x="754380" y="114232"/>
                  </a:cubicBezTo>
                  <a:cubicBezTo>
                    <a:pt x="753110" y="107882"/>
                    <a:pt x="756920" y="96452"/>
                    <a:pt x="763270" y="92642"/>
                  </a:cubicBezTo>
                  <a:cubicBezTo>
                    <a:pt x="769620" y="87562"/>
                    <a:pt x="786130" y="87562"/>
                    <a:pt x="793750" y="91372"/>
                  </a:cubicBezTo>
                  <a:cubicBezTo>
                    <a:pt x="800100" y="95182"/>
                    <a:pt x="805180" y="105342"/>
                    <a:pt x="803910" y="112962"/>
                  </a:cubicBezTo>
                  <a:cubicBezTo>
                    <a:pt x="803910" y="119312"/>
                    <a:pt x="798830" y="129472"/>
                    <a:pt x="792480" y="133282"/>
                  </a:cubicBezTo>
                  <a:cubicBezTo>
                    <a:pt x="787400" y="137092"/>
                    <a:pt x="775970" y="138362"/>
                    <a:pt x="769620" y="135822"/>
                  </a:cubicBezTo>
                  <a:cubicBezTo>
                    <a:pt x="763270" y="133282"/>
                    <a:pt x="755650" y="124392"/>
                    <a:pt x="754380" y="116772"/>
                  </a:cubicBezTo>
                  <a:cubicBezTo>
                    <a:pt x="753110" y="110422"/>
                    <a:pt x="754380" y="100262"/>
                    <a:pt x="760730" y="93912"/>
                  </a:cubicBezTo>
                  <a:cubicBezTo>
                    <a:pt x="770890" y="85022"/>
                    <a:pt x="791210" y="85022"/>
                    <a:pt x="821690" y="79942"/>
                  </a:cubicBezTo>
                  <a:cubicBezTo>
                    <a:pt x="915670" y="65972"/>
                    <a:pt x="1203960" y="48192"/>
                    <a:pt x="1398270" y="43112"/>
                  </a:cubicBezTo>
                  <a:cubicBezTo>
                    <a:pt x="1593850" y="36762"/>
                    <a:pt x="1860550" y="29142"/>
                    <a:pt x="1990090" y="48192"/>
                  </a:cubicBezTo>
                  <a:cubicBezTo>
                    <a:pt x="2054860" y="57082"/>
                    <a:pt x="2099310" y="67242"/>
                    <a:pt x="2132330" y="86292"/>
                  </a:cubicBezTo>
                  <a:cubicBezTo>
                    <a:pt x="2155190" y="100262"/>
                    <a:pt x="2167890" y="110422"/>
                    <a:pt x="2179320" y="137092"/>
                  </a:cubicBezTo>
                  <a:cubicBezTo>
                    <a:pt x="2204720" y="190432"/>
                    <a:pt x="2198370" y="336482"/>
                    <a:pt x="2212340" y="416492"/>
                  </a:cubicBezTo>
                  <a:cubicBezTo>
                    <a:pt x="2223770" y="477452"/>
                    <a:pt x="2265680" y="547302"/>
                    <a:pt x="2251710" y="575242"/>
                  </a:cubicBezTo>
                  <a:cubicBezTo>
                    <a:pt x="2244090" y="591752"/>
                    <a:pt x="2231390" y="591752"/>
                    <a:pt x="2203450" y="599372"/>
                  </a:cubicBezTo>
                  <a:cubicBezTo>
                    <a:pt x="2065020" y="637472"/>
                    <a:pt x="1271270" y="707322"/>
                    <a:pt x="934720" y="722562"/>
                  </a:cubicBezTo>
                  <a:cubicBezTo>
                    <a:pt x="711200" y="732722"/>
                    <a:pt x="530860" y="728912"/>
                    <a:pt x="377190" y="718752"/>
                  </a:cubicBezTo>
                  <a:cubicBezTo>
                    <a:pt x="265430" y="711132"/>
                    <a:pt x="152400" y="702242"/>
                    <a:pt x="91440" y="681922"/>
                  </a:cubicBezTo>
                  <a:cubicBezTo>
                    <a:pt x="59690" y="671762"/>
                    <a:pt x="35560" y="659062"/>
                    <a:pt x="22860" y="646362"/>
                  </a:cubicBezTo>
                  <a:cubicBezTo>
                    <a:pt x="15240" y="638742"/>
                    <a:pt x="12700" y="633662"/>
                    <a:pt x="10160" y="622232"/>
                  </a:cubicBezTo>
                  <a:cubicBezTo>
                    <a:pt x="2540" y="596832"/>
                    <a:pt x="0" y="540952"/>
                    <a:pt x="0" y="491422"/>
                  </a:cubicBezTo>
                  <a:cubicBezTo>
                    <a:pt x="0" y="426652"/>
                    <a:pt x="3810" y="327592"/>
                    <a:pt x="12700" y="261552"/>
                  </a:cubicBezTo>
                  <a:cubicBezTo>
                    <a:pt x="20320" y="212022"/>
                    <a:pt x="26670" y="163762"/>
                    <a:pt x="44450" y="130742"/>
                  </a:cubicBezTo>
                  <a:cubicBezTo>
                    <a:pt x="55880" y="107882"/>
                    <a:pt x="68580" y="93912"/>
                    <a:pt x="91440" y="77402"/>
                  </a:cubicBezTo>
                  <a:cubicBezTo>
                    <a:pt x="125730" y="53272"/>
                    <a:pt x="185420" y="26602"/>
                    <a:pt x="245110" y="13902"/>
                  </a:cubicBezTo>
                  <a:cubicBezTo>
                    <a:pt x="320040" y="-3878"/>
                    <a:pt x="411480" y="-1338"/>
                    <a:pt x="510540" y="3742"/>
                  </a:cubicBezTo>
                  <a:cubicBezTo>
                    <a:pt x="640080" y="11362"/>
                    <a:pt x="901700" y="39302"/>
                    <a:pt x="953770" y="68512"/>
                  </a:cubicBezTo>
                  <a:cubicBezTo>
                    <a:pt x="967740" y="77402"/>
                    <a:pt x="975360" y="87562"/>
                    <a:pt x="974090" y="95182"/>
                  </a:cubicBezTo>
                  <a:cubicBezTo>
                    <a:pt x="972820" y="104072"/>
                    <a:pt x="944880" y="119312"/>
                    <a:pt x="944880" y="119312"/>
                  </a:cubicBezTo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618922" y="5034915"/>
            <a:ext cx="2381250" cy="746760"/>
            <a:chOff x="0" y="0"/>
            <a:chExt cx="3175000" cy="9956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50488" y="50074"/>
              <a:ext cx="3072678" cy="900501"/>
            </a:xfrm>
            <a:custGeom>
              <a:avLst/>
              <a:gdLst/>
              <a:ahLst/>
              <a:cxnLst/>
              <a:rect r="r" b="b" t="t" l="l"/>
              <a:pathLst>
                <a:path h="900501" w="3072678">
                  <a:moveTo>
                    <a:pt x="1185222" y="162016"/>
                  </a:moveTo>
                  <a:cubicBezTo>
                    <a:pt x="-13658" y="426176"/>
                    <a:pt x="148902" y="714466"/>
                    <a:pt x="179382" y="770346"/>
                  </a:cubicBezTo>
                  <a:cubicBezTo>
                    <a:pt x="187002" y="784316"/>
                    <a:pt x="189542" y="786856"/>
                    <a:pt x="199702" y="794476"/>
                  </a:cubicBezTo>
                  <a:cubicBezTo>
                    <a:pt x="218752" y="807176"/>
                    <a:pt x="241612" y="821146"/>
                    <a:pt x="287332" y="830036"/>
                  </a:cubicBezTo>
                  <a:cubicBezTo>
                    <a:pt x="430842" y="859246"/>
                    <a:pt x="992182" y="856706"/>
                    <a:pt x="1219512" y="844006"/>
                  </a:cubicBezTo>
                  <a:cubicBezTo>
                    <a:pt x="1351592" y="836386"/>
                    <a:pt x="1420172" y="814796"/>
                    <a:pt x="1530662" y="804636"/>
                  </a:cubicBezTo>
                  <a:cubicBezTo>
                    <a:pt x="1656392" y="794476"/>
                    <a:pt x="1794822" y="798286"/>
                    <a:pt x="1934522" y="784316"/>
                  </a:cubicBezTo>
                  <a:cubicBezTo>
                    <a:pt x="2085652" y="770346"/>
                    <a:pt x="2272342" y="729706"/>
                    <a:pt x="2403152" y="719546"/>
                  </a:cubicBezTo>
                  <a:cubicBezTo>
                    <a:pt x="2495862" y="711926"/>
                    <a:pt x="2553012" y="718276"/>
                    <a:pt x="2643182" y="713196"/>
                  </a:cubicBezTo>
                  <a:cubicBezTo>
                    <a:pt x="2757482" y="706846"/>
                    <a:pt x="2979732" y="677636"/>
                    <a:pt x="3033072" y="676366"/>
                  </a:cubicBezTo>
                  <a:cubicBezTo>
                    <a:pt x="3045772" y="676366"/>
                    <a:pt x="3052122" y="675096"/>
                    <a:pt x="3058472" y="678906"/>
                  </a:cubicBezTo>
                  <a:cubicBezTo>
                    <a:pt x="3064822" y="682716"/>
                    <a:pt x="3072442" y="691606"/>
                    <a:pt x="3072442" y="697956"/>
                  </a:cubicBezTo>
                  <a:cubicBezTo>
                    <a:pt x="3072442" y="706846"/>
                    <a:pt x="3055932" y="727166"/>
                    <a:pt x="3048312" y="727166"/>
                  </a:cubicBezTo>
                  <a:cubicBezTo>
                    <a:pt x="3038152" y="727166"/>
                    <a:pt x="3026722" y="709386"/>
                    <a:pt x="3017832" y="690336"/>
                  </a:cubicBezTo>
                  <a:cubicBezTo>
                    <a:pt x="2996242" y="647156"/>
                    <a:pt x="2974652" y="520156"/>
                    <a:pt x="2963222" y="447766"/>
                  </a:cubicBezTo>
                  <a:cubicBezTo>
                    <a:pt x="2955602" y="390616"/>
                    <a:pt x="2951792" y="347436"/>
                    <a:pt x="2951792" y="290286"/>
                  </a:cubicBezTo>
                  <a:cubicBezTo>
                    <a:pt x="2950522" y="220436"/>
                    <a:pt x="2997512" y="98516"/>
                    <a:pt x="2964492" y="61686"/>
                  </a:cubicBezTo>
                  <a:cubicBezTo>
                    <a:pt x="2936552" y="29936"/>
                    <a:pt x="2865432" y="51526"/>
                    <a:pt x="2801932" y="50256"/>
                  </a:cubicBezTo>
                  <a:cubicBezTo>
                    <a:pt x="2710492" y="50256"/>
                    <a:pt x="2594922" y="55336"/>
                    <a:pt x="2470462" y="68036"/>
                  </a:cubicBezTo>
                  <a:cubicBezTo>
                    <a:pt x="2306632" y="83276"/>
                    <a:pt x="2100892" y="122646"/>
                    <a:pt x="1906582" y="146776"/>
                  </a:cubicBezTo>
                  <a:cubicBezTo>
                    <a:pt x="1697032" y="170906"/>
                    <a:pt x="1376992" y="207736"/>
                    <a:pt x="1255072" y="210276"/>
                  </a:cubicBezTo>
                  <a:cubicBezTo>
                    <a:pt x="1208082" y="211546"/>
                    <a:pt x="1172522" y="216626"/>
                    <a:pt x="1156012" y="206466"/>
                  </a:cubicBezTo>
                  <a:cubicBezTo>
                    <a:pt x="1149662" y="201386"/>
                    <a:pt x="1145852" y="191226"/>
                    <a:pt x="1147122" y="184876"/>
                  </a:cubicBezTo>
                  <a:cubicBezTo>
                    <a:pt x="1147122" y="177256"/>
                    <a:pt x="1158552" y="163286"/>
                    <a:pt x="1166172" y="160746"/>
                  </a:cubicBezTo>
                  <a:cubicBezTo>
                    <a:pt x="1173792" y="159476"/>
                    <a:pt x="1183952" y="163286"/>
                    <a:pt x="1189032" y="167096"/>
                  </a:cubicBezTo>
                  <a:cubicBezTo>
                    <a:pt x="1194112" y="172176"/>
                    <a:pt x="1199192" y="183606"/>
                    <a:pt x="1196652" y="189956"/>
                  </a:cubicBezTo>
                  <a:cubicBezTo>
                    <a:pt x="1195382" y="197576"/>
                    <a:pt x="1182682" y="210276"/>
                    <a:pt x="1175062" y="211546"/>
                  </a:cubicBezTo>
                  <a:cubicBezTo>
                    <a:pt x="1167442" y="212816"/>
                    <a:pt x="1157282" y="207736"/>
                    <a:pt x="1152202" y="202656"/>
                  </a:cubicBezTo>
                  <a:cubicBezTo>
                    <a:pt x="1148392" y="197576"/>
                    <a:pt x="1144582" y="186146"/>
                    <a:pt x="1147122" y="179796"/>
                  </a:cubicBezTo>
                  <a:cubicBezTo>
                    <a:pt x="1149662" y="172176"/>
                    <a:pt x="1157282" y="165826"/>
                    <a:pt x="1172522" y="160746"/>
                  </a:cubicBezTo>
                  <a:cubicBezTo>
                    <a:pt x="1227132" y="140426"/>
                    <a:pt x="1436682" y="146776"/>
                    <a:pt x="1605592" y="130266"/>
                  </a:cubicBezTo>
                  <a:cubicBezTo>
                    <a:pt x="1844352" y="106136"/>
                    <a:pt x="2220272" y="37556"/>
                    <a:pt x="2467922" y="17236"/>
                  </a:cubicBezTo>
                  <a:cubicBezTo>
                    <a:pt x="2652072" y="1996"/>
                    <a:pt x="2889562" y="-1814"/>
                    <a:pt x="2953062" y="726"/>
                  </a:cubicBezTo>
                  <a:cubicBezTo>
                    <a:pt x="2968302" y="726"/>
                    <a:pt x="2973382" y="-544"/>
                    <a:pt x="2982272" y="3266"/>
                  </a:cubicBezTo>
                  <a:cubicBezTo>
                    <a:pt x="2992432" y="8346"/>
                    <a:pt x="3001322" y="13426"/>
                    <a:pt x="3007672" y="28666"/>
                  </a:cubicBezTo>
                  <a:cubicBezTo>
                    <a:pt x="3026722" y="75656"/>
                    <a:pt x="2996242" y="266156"/>
                    <a:pt x="3006402" y="369026"/>
                  </a:cubicBezTo>
                  <a:cubicBezTo>
                    <a:pt x="3012752" y="452846"/>
                    <a:pt x="3043232" y="544286"/>
                    <a:pt x="3048312" y="600166"/>
                  </a:cubicBezTo>
                  <a:cubicBezTo>
                    <a:pt x="3050852" y="631916"/>
                    <a:pt x="3038152" y="659856"/>
                    <a:pt x="3045772" y="676366"/>
                  </a:cubicBezTo>
                  <a:cubicBezTo>
                    <a:pt x="3050852" y="687796"/>
                    <a:pt x="3069902" y="690336"/>
                    <a:pt x="3072442" y="697956"/>
                  </a:cubicBezTo>
                  <a:cubicBezTo>
                    <a:pt x="3073712" y="705576"/>
                    <a:pt x="3069902" y="717006"/>
                    <a:pt x="3059742" y="724626"/>
                  </a:cubicBezTo>
                  <a:cubicBezTo>
                    <a:pt x="3017832" y="752566"/>
                    <a:pt x="2762562" y="756376"/>
                    <a:pt x="2643182" y="763996"/>
                  </a:cubicBezTo>
                  <a:cubicBezTo>
                    <a:pt x="2554282" y="769076"/>
                    <a:pt x="2499672" y="762726"/>
                    <a:pt x="2409502" y="769076"/>
                  </a:cubicBezTo>
                  <a:cubicBezTo>
                    <a:pt x="2278692" y="780506"/>
                    <a:pt x="2089462" y="821146"/>
                    <a:pt x="1939602" y="835116"/>
                  </a:cubicBezTo>
                  <a:cubicBezTo>
                    <a:pt x="1799902" y="847816"/>
                    <a:pt x="1662742" y="844006"/>
                    <a:pt x="1535742" y="855436"/>
                  </a:cubicBezTo>
                  <a:cubicBezTo>
                    <a:pt x="1423982" y="865596"/>
                    <a:pt x="1350322" y="887186"/>
                    <a:pt x="1219512" y="894806"/>
                  </a:cubicBezTo>
                  <a:cubicBezTo>
                    <a:pt x="1004882" y="907506"/>
                    <a:pt x="513392" y="896076"/>
                    <a:pt x="369882" y="888456"/>
                  </a:cubicBezTo>
                  <a:cubicBezTo>
                    <a:pt x="320352" y="885916"/>
                    <a:pt x="298762" y="884646"/>
                    <a:pt x="270822" y="878296"/>
                  </a:cubicBezTo>
                  <a:cubicBezTo>
                    <a:pt x="246692" y="873216"/>
                    <a:pt x="227642" y="864326"/>
                    <a:pt x="208592" y="855436"/>
                  </a:cubicBezTo>
                  <a:cubicBezTo>
                    <a:pt x="192082" y="847816"/>
                    <a:pt x="175572" y="842736"/>
                    <a:pt x="161602" y="827496"/>
                  </a:cubicBezTo>
                  <a:cubicBezTo>
                    <a:pt x="142552" y="807176"/>
                    <a:pt x="128582" y="779236"/>
                    <a:pt x="110802" y="736056"/>
                  </a:cubicBezTo>
                  <a:cubicBezTo>
                    <a:pt x="76512" y="652236"/>
                    <a:pt x="1582" y="403316"/>
                    <a:pt x="312" y="336006"/>
                  </a:cubicBezTo>
                  <a:cubicBezTo>
                    <a:pt x="-958" y="313146"/>
                    <a:pt x="1582" y="301716"/>
                    <a:pt x="9202" y="291556"/>
                  </a:cubicBezTo>
                  <a:cubicBezTo>
                    <a:pt x="18092" y="281396"/>
                    <a:pt x="28252" y="277586"/>
                    <a:pt x="47302" y="271236"/>
                  </a:cubicBezTo>
                  <a:cubicBezTo>
                    <a:pt x="96832" y="255996"/>
                    <a:pt x="240342" y="236946"/>
                    <a:pt x="324162" y="226786"/>
                  </a:cubicBezTo>
                  <a:cubicBezTo>
                    <a:pt x="394012" y="219166"/>
                    <a:pt x="435922" y="222976"/>
                    <a:pt x="517202" y="212816"/>
                  </a:cubicBezTo>
                  <a:cubicBezTo>
                    <a:pt x="659442" y="196306"/>
                    <a:pt x="995992" y="125186"/>
                    <a:pt x="1106482" y="115026"/>
                  </a:cubicBezTo>
                  <a:cubicBezTo>
                    <a:pt x="1148392" y="111216"/>
                    <a:pt x="1178872" y="103596"/>
                    <a:pt x="1194112" y="113756"/>
                  </a:cubicBezTo>
                  <a:cubicBezTo>
                    <a:pt x="1204272" y="120106"/>
                    <a:pt x="1209352" y="136616"/>
                    <a:pt x="1208082" y="145506"/>
                  </a:cubicBezTo>
                  <a:cubicBezTo>
                    <a:pt x="1205542" y="153126"/>
                    <a:pt x="1185222" y="162016"/>
                    <a:pt x="1185222" y="162016"/>
                  </a:cubicBezTo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180570" y="5080635"/>
            <a:ext cx="2871788" cy="717232"/>
            <a:chOff x="0" y="0"/>
            <a:chExt cx="3829050" cy="95631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46143" y="48677"/>
              <a:ext cx="3733612" cy="870221"/>
            </a:xfrm>
            <a:custGeom>
              <a:avLst/>
              <a:gdLst/>
              <a:ahLst/>
              <a:cxnLst/>
              <a:rect r="r" b="b" t="t" l="l"/>
              <a:pathLst>
                <a:path h="870221" w="3733612">
                  <a:moveTo>
                    <a:pt x="1766147" y="79593"/>
                  </a:moveTo>
                  <a:cubicBezTo>
                    <a:pt x="1556597" y="52923"/>
                    <a:pt x="1331807" y="46573"/>
                    <a:pt x="1146387" y="58003"/>
                  </a:cubicBezTo>
                  <a:cubicBezTo>
                    <a:pt x="929217" y="70703"/>
                    <a:pt x="638387" y="132933"/>
                    <a:pt x="441537" y="146903"/>
                  </a:cubicBezTo>
                  <a:cubicBezTo>
                    <a:pt x="301837" y="158333"/>
                    <a:pt x="131657" y="145633"/>
                    <a:pt x="79587" y="157063"/>
                  </a:cubicBezTo>
                  <a:cubicBezTo>
                    <a:pt x="64347" y="160873"/>
                    <a:pt x="57997" y="158333"/>
                    <a:pt x="51647" y="169763"/>
                  </a:cubicBezTo>
                  <a:cubicBezTo>
                    <a:pt x="27517" y="206593"/>
                    <a:pt x="44027" y="408523"/>
                    <a:pt x="55457" y="508853"/>
                  </a:cubicBezTo>
                  <a:cubicBezTo>
                    <a:pt x="64347" y="591403"/>
                    <a:pt x="71967" y="708243"/>
                    <a:pt x="102447" y="729833"/>
                  </a:cubicBezTo>
                  <a:cubicBezTo>
                    <a:pt x="117687" y="741263"/>
                    <a:pt x="134197" y="722213"/>
                    <a:pt x="159597" y="723483"/>
                  </a:cubicBezTo>
                  <a:cubicBezTo>
                    <a:pt x="210397" y="724753"/>
                    <a:pt x="308187" y="755233"/>
                    <a:pt x="388197" y="767933"/>
                  </a:cubicBezTo>
                  <a:cubicBezTo>
                    <a:pt x="478367" y="781903"/>
                    <a:pt x="545677" y="792063"/>
                    <a:pt x="675217" y="799683"/>
                  </a:cubicBezTo>
                  <a:cubicBezTo>
                    <a:pt x="949537" y="816193"/>
                    <a:pt x="1645497" y="823813"/>
                    <a:pt x="1959187" y="804763"/>
                  </a:cubicBezTo>
                  <a:cubicBezTo>
                    <a:pt x="2142067" y="793333"/>
                    <a:pt x="2219537" y="762853"/>
                    <a:pt x="2390987" y="750153"/>
                  </a:cubicBezTo>
                  <a:cubicBezTo>
                    <a:pt x="2644987" y="731103"/>
                    <a:pt x="3099647" y="745073"/>
                    <a:pt x="3333327" y="728563"/>
                  </a:cubicBezTo>
                  <a:cubicBezTo>
                    <a:pt x="3471757" y="719673"/>
                    <a:pt x="3610187" y="743803"/>
                    <a:pt x="3663527" y="689193"/>
                  </a:cubicBezTo>
                  <a:cubicBezTo>
                    <a:pt x="3705437" y="646013"/>
                    <a:pt x="3687657" y="559653"/>
                    <a:pt x="3681307" y="480913"/>
                  </a:cubicBezTo>
                  <a:cubicBezTo>
                    <a:pt x="3672417" y="372963"/>
                    <a:pt x="3692737" y="187543"/>
                    <a:pt x="3583517" y="101183"/>
                  </a:cubicBezTo>
                  <a:cubicBezTo>
                    <a:pt x="3362537" y="-72807"/>
                    <a:pt x="2247477" y="88483"/>
                    <a:pt x="1974427" y="70703"/>
                  </a:cubicBezTo>
                  <a:cubicBezTo>
                    <a:pt x="1880447" y="64353"/>
                    <a:pt x="1811867" y="68163"/>
                    <a:pt x="1785197" y="50383"/>
                  </a:cubicBezTo>
                  <a:cubicBezTo>
                    <a:pt x="1775037" y="42763"/>
                    <a:pt x="1771227" y="30063"/>
                    <a:pt x="1772497" y="22443"/>
                  </a:cubicBezTo>
                  <a:cubicBezTo>
                    <a:pt x="1773767" y="14823"/>
                    <a:pt x="1787737" y="2123"/>
                    <a:pt x="1795357" y="2123"/>
                  </a:cubicBezTo>
                  <a:cubicBezTo>
                    <a:pt x="1804247" y="2123"/>
                    <a:pt x="1823297" y="18633"/>
                    <a:pt x="1823297" y="27523"/>
                  </a:cubicBezTo>
                  <a:cubicBezTo>
                    <a:pt x="1823297" y="35143"/>
                    <a:pt x="1804247" y="52923"/>
                    <a:pt x="1796627" y="52923"/>
                  </a:cubicBezTo>
                  <a:cubicBezTo>
                    <a:pt x="1787737" y="52923"/>
                    <a:pt x="1771227" y="33873"/>
                    <a:pt x="1772497" y="24983"/>
                  </a:cubicBezTo>
                  <a:cubicBezTo>
                    <a:pt x="1772497" y="16093"/>
                    <a:pt x="1786467" y="7203"/>
                    <a:pt x="1801707" y="2123"/>
                  </a:cubicBezTo>
                  <a:cubicBezTo>
                    <a:pt x="1833457" y="-6767"/>
                    <a:pt x="1886797" y="14823"/>
                    <a:pt x="1974427" y="19903"/>
                  </a:cubicBezTo>
                  <a:cubicBezTo>
                    <a:pt x="2239857" y="36413"/>
                    <a:pt x="3476837" y="13553"/>
                    <a:pt x="3598757" y="52923"/>
                  </a:cubicBezTo>
                  <a:cubicBezTo>
                    <a:pt x="3615267" y="59273"/>
                    <a:pt x="3617807" y="63083"/>
                    <a:pt x="3624157" y="71973"/>
                  </a:cubicBezTo>
                  <a:cubicBezTo>
                    <a:pt x="3634317" y="84673"/>
                    <a:pt x="3639397" y="99913"/>
                    <a:pt x="3648287" y="126583"/>
                  </a:cubicBezTo>
                  <a:cubicBezTo>
                    <a:pt x="3669877" y="192623"/>
                    <a:pt x="3723217" y="383123"/>
                    <a:pt x="3732107" y="480913"/>
                  </a:cubicBezTo>
                  <a:cubicBezTo>
                    <a:pt x="3737187" y="550763"/>
                    <a:pt x="3728297" y="615533"/>
                    <a:pt x="3721947" y="659983"/>
                  </a:cubicBezTo>
                  <a:cubicBezTo>
                    <a:pt x="3719407" y="685383"/>
                    <a:pt x="3718137" y="708243"/>
                    <a:pt x="3707977" y="720943"/>
                  </a:cubicBezTo>
                  <a:cubicBezTo>
                    <a:pt x="3699087" y="732373"/>
                    <a:pt x="3691467" y="733643"/>
                    <a:pt x="3672417" y="739993"/>
                  </a:cubicBezTo>
                  <a:cubicBezTo>
                    <a:pt x="3619077" y="756503"/>
                    <a:pt x="3476837" y="769203"/>
                    <a:pt x="3333327" y="779363"/>
                  </a:cubicBezTo>
                  <a:cubicBezTo>
                    <a:pt x="3086947" y="797143"/>
                    <a:pt x="2582757" y="784443"/>
                    <a:pt x="2330027" y="804763"/>
                  </a:cubicBezTo>
                  <a:cubicBezTo>
                    <a:pt x="2176357" y="817463"/>
                    <a:pt x="2120477" y="845403"/>
                    <a:pt x="1959187" y="855563"/>
                  </a:cubicBezTo>
                  <a:cubicBezTo>
                    <a:pt x="1659467" y="875883"/>
                    <a:pt x="1018117" y="875883"/>
                    <a:pt x="671407" y="850483"/>
                  </a:cubicBezTo>
                  <a:cubicBezTo>
                    <a:pt x="435187" y="833973"/>
                    <a:pt x="141817" y="799683"/>
                    <a:pt x="77047" y="766663"/>
                  </a:cubicBezTo>
                  <a:cubicBezTo>
                    <a:pt x="61807" y="759043"/>
                    <a:pt x="60537" y="756503"/>
                    <a:pt x="54187" y="742533"/>
                  </a:cubicBezTo>
                  <a:cubicBezTo>
                    <a:pt x="33867" y="705703"/>
                    <a:pt x="12277" y="592673"/>
                    <a:pt x="4657" y="507583"/>
                  </a:cubicBezTo>
                  <a:cubicBezTo>
                    <a:pt x="-5503" y="409793"/>
                    <a:pt x="3387" y="251043"/>
                    <a:pt x="8467" y="188813"/>
                  </a:cubicBezTo>
                  <a:cubicBezTo>
                    <a:pt x="11007" y="163413"/>
                    <a:pt x="9737" y="146903"/>
                    <a:pt x="17357" y="134203"/>
                  </a:cubicBezTo>
                  <a:cubicBezTo>
                    <a:pt x="23707" y="125313"/>
                    <a:pt x="32597" y="121503"/>
                    <a:pt x="44027" y="116423"/>
                  </a:cubicBezTo>
                  <a:cubicBezTo>
                    <a:pt x="59267" y="108803"/>
                    <a:pt x="77047" y="106263"/>
                    <a:pt x="106257" y="102453"/>
                  </a:cubicBezTo>
                  <a:cubicBezTo>
                    <a:pt x="171027" y="94833"/>
                    <a:pt x="303107" y="106263"/>
                    <a:pt x="432647" y="97373"/>
                  </a:cubicBezTo>
                  <a:cubicBezTo>
                    <a:pt x="624417" y="83403"/>
                    <a:pt x="920327" y="19903"/>
                    <a:pt x="1146387" y="7203"/>
                  </a:cubicBezTo>
                  <a:cubicBezTo>
                    <a:pt x="1350857" y="-4227"/>
                    <a:pt x="1637877" y="-417"/>
                    <a:pt x="1731857" y="17363"/>
                  </a:cubicBezTo>
                  <a:cubicBezTo>
                    <a:pt x="1764877" y="23713"/>
                    <a:pt x="1786467" y="30063"/>
                    <a:pt x="1794087" y="41493"/>
                  </a:cubicBezTo>
                  <a:cubicBezTo>
                    <a:pt x="1799167" y="50383"/>
                    <a:pt x="1797897" y="64353"/>
                    <a:pt x="1792817" y="70703"/>
                  </a:cubicBezTo>
                  <a:cubicBezTo>
                    <a:pt x="1789007" y="77053"/>
                    <a:pt x="1766147" y="79593"/>
                    <a:pt x="1766147" y="79593"/>
                  </a:cubicBezTo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62050"/>
            <a:ext cx="163250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0E7C86"/>
                </a:solidFill>
                <a:latin typeface="Arimo Bold"/>
                <a:ea typeface="Arimo Bold"/>
                <a:cs typeface="Arimo Bold"/>
                <a:sym typeface="Arimo Bold"/>
              </a:rPr>
              <a:t>ZIELSETZUNG &amp; ANFORDERUNGEN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10633"/>
            <a:ext cx="13735050" cy="605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172A3F"/>
                </a:solidFill>
                <a:latin typeface="Arimo Bold"/>
                <a:ea typeface="Arimo Bold"/>
                <a:cs typeface="Arimo Bold"/>
                <a:sym typeface="Arimo Bold"/>
              </a:rPr>
              <a:t>Ziele messbar machen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697366"/>
            <a:ext cx="5105400" cy="2445839"/>
            <a:chOff x="0" y="0"/>
            <a:chExt cx="6807200" cy="32611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07200" cy="3261106"/>
            </a:xfrm>
            <a:custGeom>
              <a:avLst/>
              <a:gdLst/>
              <a:ahLst/>
              <a:cxnLst/>
              <a:rect r="r" b="b" t="t" l="l"/>
              <a:pathLst>
                <a:path h="3261106" w="68072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3057906"/>
                  </a:lnTo>
                  <a:cubicBezTo>
                    <a:pt x="6807200" y="3170174"/>
                    <a:pt x="6716268" y="3261106"/>
                    <a:pt x="6604000" y="3261106"/>
                  </a:cubicBezTo>
                  <a:lnTo>
                    <a:pt x="203200" y="3261106"/>
                  </a:lnTo>
                  <a:cubicBezTo>
                    <a:pt x="90932" y="3261106"/>
                    <a:pt x="0" y="3170174"/>
                    <a:pt x="0" y="3057906"/>
                  </a:cubicBezTo>
                  <a:close/>
                </a:path>
              </a:pathLst>
            </a:custGeom>
            <a:solidFill>
              <a:srgbClr val="1320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00200" y="3183141"/>
            <a:ext cx="447370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99,9</a:t>
            </a:r>
            <a:r>
              <a:rPr lang="en-US" sz="7200" b="true">
                <a:solidFill>
                  <a:srgbClr val="4FB6C0"/>
                </a:solidFill>
                <a:latin typeface="Arimo Bold"/>
                <a:ea typeface="Arimo Bold"/>
                <a:cs typeface="Arimo Bold"/>
                <a:sym typeface="Arimo Bold"/>
              </a:rPr>
              <a:t>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0200" y="4030866"/>
            <a:ext cx="4473702" cy="422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AFC0D2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Verfügbarkeit des Datendienstes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91300" y="2697366"/>
            <a:ext cx="5105400" cy="2445839"/>
            <a:chOff x="0" y="0"/>
            <a:chExt cx="6807200" cy="32611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07200" cy="3261106"/>
            </a:xfrm>
            <a:custGeom>
              <a:avLst/>
              <a:gdLst/>
              <a:ahLst/>
              <a:cxnLst/>
              <a:rect r="r" b="b" t="t" l="l"/>
              <a:pathLst>
                <a:path h="3261106" w="68072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3057906"/>
                  </a:lnTo>
                  <a:cubicBezTo>
                    <a:pt x="6807200" y="3170174"/>
                    <a:pt x="6716268" y="3261106"/>
                    <a:pt x="6604000" y="3261106"/>
                  </a:cubicBezTo>
                  <a:lnTo>
                    <a:pt x="203200" y="3261106"/>
                  </a:lnTo>
                  <a:cubicBezTo>
                    <a:pt x="90932" y="3261106"/>
                    <a:pt x="0" y="3170174"/>
                    <a:pt x="0" y="3057906"/>
                  </a:cubicBezTo>
                  <a:close/>
                </a:path>
              </a:pathLst>
            </a:custGeom>
            <a:solidFill>
              <a:srgbClr val="13203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972300" y="3183141"/>
            <a:ext cx="447370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≤ 2</a:t>
            </a:r>
            <a:r>
              <a:rPr lang="en-US" sz="7200" b="true">
                <a:solidFill>
                  <a:srgbClr val="4FB6C0"/>
                </a:solidFill>
                <a:latin typeface="Arimo Bold"/>
                <a:ea typeface="Arimo Bold"/>
                <a:cs typeface="Arimo Bold"/>
                <a:sym typeface="Arimo Bold"/>
              </a:rPr>
              <a:t> 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72300" y="4030866"/>
            <a:ext cx="4473702" cy="422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AFC0D2"/>
                </a:solidFill>
                <a:latin typeface="IBM Plex Sans"/>
                <a:ea typeface="IBM Plex Sans"/>
                <a:cs typeface="IBM Plex Sans"/>
                <a:sym typeface="IBM Plex Sans"/>
              </a:rPr>
              <a:t>RTO – maximale Wiederanlaufzeit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963400" y="2697366"/>
            <a:ext cx="5105400" cy="2445839"/>
            <a:chOff x="0" y="0"/>
            <a:chExt cx="6807200" cy="32611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07200" cy="3261106"/>
            </a:xfrm>
            <a:custGeom>
              <a:avLst/>
              <a:gdLst/>
              <a:ahLst/>
              <a:cxnLst/>
              <a:rect r="r" b="b" t="t" l="l"/>
              <a:pathLst>
                <a:path h="3261106" w="68072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6604000" y="0"/>
                  </a:lnTo>
                  <a:cubicBezTo>
                    <a:pt x="6716268" y="0"/>
                    <a:pt x="6807200" y="90932"/>
                    <a:pt x="6807200" y="203200"/>
                  </a:cubicBezTo>
                  <a:lnTo>
                    <a:pt x="6807200" y="3057906"/>
                  </a:lnTo>
                  <a:cubicBezTo>
                    <a:pt x="6807200" y="3170174"/>
                    <a:pt x="6716268" y="3261106"/>
                    <a:pt x="6604000" y="3261106"/>
                  </a:cubicBezTo>
                  <a:lnTo>
                    <a:pt x="203200" y="3261106"/>
                  </a:lnTo>
                  <a:cubicBezTo>
                    <a:pt x="90932" y="3261106"/>
                    <a:pt x="0" y="3170174"/>
                    <a:pt x="0" y="3057906"/>
                  </a:cubicBezTo>
                  <a:close/>
                </a:path>
              </a:pathLst>
            </a:custGeom>
            <a:solidFill>
              <a:srgbClr val="13203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344400" y="3183141"/>
            <a:ext cx="447370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≤ 15</a:t>
            </a:r>
            <a:r>
              <a:rPr lang="en-US" sz="7200" b="true">
                <a:solidFill>
                  <a:srgbClr val="4FB6C0"/>
                </a:solidFill>
                <a:latin typeface="Arimo Bold"/>
                <a:ea typeface="Arimo Bold"/>
                <a:cs typeface="Arimo Bold"/>
                <a:sym typeface="Arimo Bold"/>
              </a:rPr>
              <a:t> min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44400" y="4030866"/>
            <a:ext cx="4473702" cy="76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AFC0D2"/>
                </a:solidFill>
                <a:latin typeface="IBM Plex Sans"/>
                <a:ea typeface="IBM Plex Sans"/>
                <a:cs typeface="IBM Plex Sans"/>
                <a:sym typeface="IBM Plex Sans"/>
              </a:rPr>
              <a:t>RPO – maximal tolerierter Datenverlust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19200" y="5562305"/>
            <a:ext cx="5105400" cy="1207589"/>
            <a:chOff x="0" y="0"/>
            <a:chExt cx="6807200" cy="16101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07200" cy="1610233"/>
            </a:xfrm>
            <a:custGeom>
              <a:avLst/>
              <a:gdLst/>
              <a:ahLst/>
              <a:cxnLst/>
              <a:rect r="r" b="b" t="t" l="l"/>
              <a:pathLst>
                <a:path h="1610233" w="6807200">
                  <a:moveTo>
                    <a:pt x="0" y="172847"/>
                  </a:moveTo>
                  <a:cubicBezTo>
                    <a:pt x="0" y="77343"/>
                    <a:pt x="77343" y="0"/>
                    <a:pt x="172847" y="0"/>
                  </a:cubicBezTo>
                  <a:lnTo>
                    <a:pt x="6634353" y="0"/>
                  </a:lnTo>
                  <a:cubicBezTo>
                    <a:pt x="6729857" y="0"/>
                    <a:pt x="6807200" y="77343"/>
                    <a:pt x="6807200" y="172847"/>
                  </a:cubicBezTo>
                  <a:lnTo>
                    <a:pt x="6807200" y="1437386"/>
                  </a:lnTo>
                  <a:cubicBezTo>
                    <a:pt x="6807200" y="1532890"/>
                    <a:pt x="6729857" y="1610233"/>
                    <a:pt x="6634353" y="1610233"/>
                  </a:cubicBezTo>
                  <a:lnTo>
                    <a:pt x="172847" y="1610233"/>
                  </a:lnTo>
                  <a:cubicBezTo>
                    <a:pt x="77343" y="1610106"/>
                    <a:pt x="0" y="1532763"/>
                    <a:pt x="0" y="143725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CE2E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533525" y="5994644"/>
            <a:ext cx="322812" cy="342900"/>
            <a:chOff x="0" y="0"/>
            <a:chExt cx="430416" cy="457200"/>
          </a:xfrm>
        </p:grpSpPr>
        <p:sp>
          <p:nvSpPr>
            <p:cNvPr name="Freeform 19" id="19" descr="Lightning"/>
            <p:cNvSpPr/>
            <p:nvPr/>
          </p:nvSpPr>
          <p:spPr>
            <a:xfrm flipH="false" flipV="false" rot="0">
              <a:off x="0" y="0"/>
              <a:ext cx="430403" cy="457200"/>
            </a:xfrm>
            <a:custGeom>
              <a:avLst/>
              <a:gdLst/>
              <a:ahLst/>
              <a:cxnLst/>
              <a:rect r="r" b="b" t="t" l="l"/>
              <a:pathLst>
                <a:path h="457200" w="430403">
                  <a:moveTo>
                    <a:pt x="0" y="0"/>
                  </a:moveTo>
                  <a:lnTo>
                    <a:pt x="430403" y="0"/>
                  </a:lnTo>
                  <a:lnTo>
                    <a:pt x="430403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161" r="-2" b="161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027787" y="5781380"/>
            <a:ext cx="4101970" cy="76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C475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Elastische Skalierung</a:t>
            </a:r>
            <a:r>
              <a:rPr lang="en-US" sz="1950">
                <a:solidFill>
                  <a:srgbClr val="3C47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bei Lastspitzen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591300" y="5562305"/>
            <a:ext cx="5105400" cy="1207589"/>
            <a:chOff x="0" y="0"/>
            <a:chExt cx="6807200" cy="16101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07200" cy="1610233"/>
            </a:xfrm>
            <a:custGeom>
              <a:avLst/>
              <a:gdLst/>
              <a:ahLst/>
              <a:cxnLst/>
              <a:rect r="r" b="b" t="t" l="l"/>
              <a:pathLst>
                <a:path h="1610233" w="6807200">
                  <a:moveTo>
                    <a:pt x="0" y="172847"/>
                  </a:moveTo>
                  <a:cubicBezTo>
                    <a:pt x="0" y="77343"/>
                    <a:pt x="77343" y="0"/>
                    <a:pt x="172847" y="0"/>
                  </a:cubicBezTo>
                  <a:lnTo>
                    <a:pt x="6634353" y="0"/>
                  </a:lnTo>
                  <a:cubicBezTo>
                    <a:pt x="6729857" y="0"/>
                    <a:pt x="6807200" y="77343"/>
                    <a:pt x="6807200" y="172847"/>
                  </a:cubicBezTo>
                  <a:lnTo>
                    <a:pt x="6807200" y="1437386"/>
                  </a:lnTo>
                  <a:cubicBezTo>
                    <a:pt x="6807200" y="1532890"/>
                    <a:pt x="6729857" y="1610233"/>
                    <a:pt x="6634353" y="1610233"/>
                  </a:cubicBezTo>
                  <a:lnTo>
                    <a:pt x="172847" y="1610233"/>
                  </a:lnTo>
                  <a:cubicBezTo>
                    <a:pt x="77343" y="1610106"/>
                    <a:pt x="0" y="1532763"/>
                    <a:pt x="0" y="143725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CE2E7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905625" y="5994644"/>
            <a:ext cx="309715" cy="342900"/>
            <a:chOff x="0" y="0"/>
            <a:chExt cx="412953" cy="457200"/>
          </a:xfrm>
        </p:grpSpPr>
        <p:sp>
          <p:nvSpPr>
            <p:cNvPr name="Freeform 24" id="24" descr="Lock"/>
            <p:cNvSpPr/>
            <p:nvPr/>
          </p:nvSpPr>
          <p:spPr>
            <a:xfrm flipH="false" flipV="false" rot="0">
              <a:off x="0" y="0"/>
              <a:ext cx="413004" cy="457200"/>
            </a:xfrm>
            <a:custGeom>
              <a:avLst/>
              <a:gdLst/>
              <a:ahLst/>
              <a:cxnLst/>
              <a:rect r="r" b="b" t="t" l="l"/>
              <a:pathLst>
                <a:path h="457200" w="413004">
                  <a:moveTo>
                    <a:pt x="0" y="0"/>
                  </a:moveTo>
                  <a:lnTo>
                    <a:pt x="413004" y="0"/>
                  </a:lnTo>
                  <a:lnTo>
                    <a:pt x="413004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733" r="12" b="733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386790" y="5781380"/>
            <a:ext cx="4115457" cy="76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C475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DSGVO-Konformität</a:t>
            </a:r>
            <a:r>
              <a:rPr lang="en-US" sz="1950">
                <a:solidFill>
                  <a:srgbClr val="3C47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der Standortdaten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963400" y="5562305"/>
            <a:ext cx="5105400" cy="1207589"/>
            <a:chOff x="0" y="0"/>
            <a:chExt cx="6807200" cy="16101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07200" cy="1610233"/>
            </a:xfrm>
            <a:custGeom>
              <a:avLst/>
              <a:gdLst/>
              <a:ahLst/>
              <a:cxnLst/>
              <a:rect r="r" b="b" t="t" l="l"/>
              <a:pathLst>
                <a:path h="1610233" w="6807200">
                  <a:moveTo>
                    <a:pt x="0" y="172847"/>
                  </a:moveTo>
                  <a:cubicBezTo>
                    <a:pt x="0" y="77343"/>
                    <a:pt x="77343" y="0"/>
                    <a:pt x="172847" y="0"/>
                  </a:cubicBezTo>
                  <a:lnTo>
                    <a:pt x="6634353" y="0"/>
                  </a:lnTo>
                  <a:cubicBezTo>
                    <a:pt x="6729857" y="0"/>
                    <a:pt x="6807200" y="77343"/>
                    <a:pt x="6807200" y="172847"/>
                  </a:cubicBezTo>
                  <a:lnTo>
                    <a:pt x="6807200" y="1437386"/>
                  </a:lnTo>
                  <a:cubicBezTo>
                    <a:pt x="6807200" y="1532890"/>
                    <a:pt x="6729857" y="1610233"/>
                    <a:pt x="6634353" y="1610233"/>
                  </a:cubicBezTo>
                  <a:lnTo>
                    <a:pt x="172847" y="1610233"/>
                  </a:lnTo>
                  <a:cubicBezTo>
                    <a:pt x="77343" y="1610106"/>
                    <a:pt x="0" y="1532763"/>
                    <a:pt x="0" y="143725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CE2E7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277725" y="5994644"/>
            <a:ext cx="335461" cy="342900"/>
            <a:chOff x="0" y="0"/>
            <a:chExt cx="447281" cy="457200"/>
          </a:xfrm>
        </p:grpSpPr>
        <p:sp>
          <p:nvSpPr>
            <p:cNvPr name="Freeform 29" id="29" descr="Chart"/>
            <p:cNvSpPr/>
            <p:nvPr/>
          </p:nvSpPr>
          <p:spPr>
            <a:xfrm flipH="false" flipV="false" rot="0">
              <a:off x="0" y="0"/>
              <a:ext cx="447294" cy="457200"/>
            </a:xfrm>
            <a:custGeom>
              <a:avLst/>
              <a:gdLst/>
              <a:ahLst/>
              <a:cxnLst/>
              <a:rect r="r" b="b" t="t" l="l"/>
              <a:pathLst>
                <a:path h="457200" w="447294">
                  <a:moveTo>
                    <a:pt x="0" y="0"/>
                  </a:moveTo>
                  <a:lnTo>
                    <a:pt x="447294" y="0"/>
                  </a:lnTo>
                  <a:lnTo>
                    <a:pt x="447294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312" t="0" r="312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784636" y="5956544"/>
            <a:ext cx="4088940" cy="76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C475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Kostentransparenz</a:t>
            </a:r>
            <a:r>
              <a:rPr lang="en-US" sz="1950">
                <a:solidFill>
                  <a:srgbClr val="3C4753"/>
                </a:solidFill>
                <a:latin typeface="IBM Plex Sans"/>
                <a:ea typeface="IBM Plex Sans"/>
                <a:cs typeface="IBM Plex Sans"/>
                <a:sym typeface="IBM Plex Sans"/>
              </a:rPr>
              <a:t> statt Vorhaltung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9200" y="9319317"/>
            <a:ext cx="3207039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97A4"/>
                </a:solidFill>
                <a:latin typeface="IBM Plex Sans"/>
                <a:ea typeface="IBM Plex Sans"/>
                <a:cs typeface="IBM Plex Sans"/>
                <a:sym typeface="IBM Plex Sans"/>
              </a:rPr>
              <a:t>Cloud-Migration IoT-Telematik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324659" y="9319317"/>
            <a:ext cx="820341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97A4"/>
                </a:solidFill>
                <a:latin typeface="IBM Plex Sans"/>
                <a:ea typeface="IBM Plex Sans"/>
                <a:cs typeface="IBM Plex Sans"/>
                <a:sym typeface="IBM Plex Sans"/>
              </a:rPr>
              <a:t>04 / 12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66838" y="2896552"/>
            <a:ext cx="3200400" cy="1265873"/>
            <a:chOff x="0" y="0"/>
            <a:chExt cx="4267200" cy="168783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42903" y="37735"/>
              <a:ext cx="4176742" cy="1612598"/>
            </a:xfrm>
            <a:custGeom>
              <a:avLst/>
              <a:gdLst/>
              <a:ahLst/>
              <a:cxnLst/>
              <a:rect r="r" b="b" t="t" l="l"/>
              <a:pathLst>
                <a:path h="1612598" w="4176742">
                  <a:moveTo>
                    <a:pt x="1902737" y="249285"/>
                  </a:moveTo>
                  <a:cubicBezTo>
                    <a:pt x="1503957" y="157845"/>
                    <a:pt x="1234717" y="126095"/>
                    <a:pt x="1065807" y="113395"/>
                  </a:cubicBezTo>
                  <a:cubicBezTo>
                    <a:pt x="938807" y="103235"/>
                    <a:pt x="842287" y="112125"/>
                    <a:pt x="730527" y="104505"/>
                  </a:cubicBezTo>
                  <a:cubicBezTo>
                    <a:pt x="620037" y="95615"/>
                    <a:pt x="496847" y="71485"/>
                    <a:pt x="397787" y="63865"/>
                  </a:cubicBezTo>
                  <a:cubicBezTo>
                    <a:pt x="317777" y="58785"/>
                    <a:pt x="227607" y="21955"/>
                    <a:pt x="179347" y="58785"/>
                  </a:cubicBezTo>
                  <a:cubicBezTo>
                    <a:pt x="122197" y="101965"/>
                    <a:pt x="122197" y="244205"/>
                    <a:pt x="104417" y="348345"/>
                  </a:cubicBezTo>
                  <a:cubicBezTo>
                    <a:pt x="85367" y="463915"/>
                    <a:pt x="80287" y="578215"/>
                    <a:pt x="72667" y="722995"/>
                  </a:cubicBezTo>
                  <a:cubicBezTo>
                    <a:pt x="62507" y="919845"/>
                    <a:pt x="16787" y="1350375"/>
                    <a:pt x="57427" y="1422765"/>
                  </a:cubicBezTo>
                  <a:cubicBezTo>
                    <a:pt x="67587" y="1441815"/>
                    <a:pt x="81557" y="1438005"/>
                    <a:pt x="99337" y="1445625"/>
                  </a:cubicBezTo>
                  <a:cubicBezTo>
                    <a:pt x="123467" y="1457055"/>
                    <a:pt x="147597" y="1465945"/>
                    <a:pt x="189507" y="1474835"/>
                  </a:cubicBezTo>
                  <a:cubicBezTo>
                    <a:pt x="278407" y="1495155"/>
                    <a:pt x="491767" y="1519285"/>
                    <a:pt x="617497" y="1530715"/>
                  </a:cubicBezTo>
                  <a:cubicBezTo>
                    <a:pt x="715287" y="1539605"/>
                    <a:pt x="754657" y="1539605"/>
                    <a:pt x="880387" y="1543415"/>
                  </a:cubicBezTo>
                  <a:cubicBezTo>
                    <a:pt x="1199157" y="1551035"/>
                    <a:pt x="2169437" y="1577705"/>
                    <a:pt x="2575837" y="1547225"/>
                  </a:cubicBezTo>
                  <a:cubicBezTo>
                    <a:pt x="2804437" y="1529445"/>
                    <a:pt x="2903497" y="1490075"/>
                    <a:pt x="3110507" y="1464675"/>
                  </a:cubicBezTo>
                  <a:cubicBezTo>
                    <a:pt x="3394987" y="1427845"/>
                    <a:pt x="4023637" y="1514205"/>
                    <a:pt x="4129047" y="1364345"/>
                  </a:cubicBezTo>
                  <a:cubicBezTo>
                    <a:pt x="4202707" y="1257665"/>
                    <a:pt x="4031257" y="1010015"/>
                    <a:pt x="4000777" y="870315"/>
                  </a:cubicBezTo>
                  <a:cubicBezTo>
                    <a:pt x="3976647" y="767445"/>
                    <a:pt x="3957597" y="676005"/>
                    <a:pt x="3949977" y="602345"/>
                  </a:cubicBezTo>
                  <a:cubicBezTo>
                    <a:pt x="3943627" y="551545"/>
                    <a:pt x="3949977" y="522335"/>
                    <a:pt x="3943627" y="472805"/>
                  </a:cubicBezTo>
                  <a:cubicBezTo>
                    <a:pt x="3933467" y="404225"/>
                    <a:pt x="3924577" y="277225"/>
                    <a:pt x="3890287" y="230235"/>
                  </a:cubicBezTo>
                  <a:cubicBezTo>
                    <a:pt x="3869967" y="199755"/>
                    <a:pt x="3840757" y="195945"/>
                    <a:pt x="3810277" y="179435"/>
                  </a:cubicBezTo>
                  <a:cubicBezTo>
                    <a:pt x="3770907" y="157845"/>
                    <a:pt x="3728997" y="131175"/>
                    <a:pt x="3675657" y="117205"/>
                  </a:cubicBezTo>
                  <a:cubicBezTo>
                    <a:pt x="3607077" y="100695"/>
                    <a:pt x="3544847" y="104505"/>
                    <a:pt x="3428007" y="100695"/>
                  </a:cubicBezTo>
                  <a:cubicBezTo>
                    <a:pt x="3137177" y="90535"/>
                    <a:pt x="2177057" y="75295"/>
                    <a:pt x="1919247" y="99425"/>
                  </a:cubicBezTo>
                  <a:cubicBezTo>
                    <a:pt x="1827807" y="107045"/>
                    <a:pt x="1770657" y="141335"/>
                    <a:pt x="1736367" y="133715"/>
                  </a:cubicBezTo>
                  <a:cubicBezTo>
                    <a:pt x="1722397" y="129905"/>
                    <a:pt x="1708427" y="118475"/>
                    <a:pt x="1708427" y="109585"/>
                  </a:cubicBezTo>
                  <a:cubicBezTo>
                    <a:pt x="1707157" y="101965"/>
                    <a:pt x="1724937" y="82915"/>
                    <a:pt x="1732557" y="82915"/>
                  </a:cubicBezTo>
                  <a:cubicBezTo>
                    <a:pt x="1741447" y="82915"/>
                    <a:pt x="1759227" y="100695"/>
                    <a:pt x="1759227" y="109585"/>
                  </a:cubicBezTo>
                  <a:cubicBezTo>
                    <a:pt x="1757957" y="117205"/>
                    <a:pt x="1740177" y="133715"/>
                    <a:pt x="1731287" y="133715"/>
                  </a:cubicBezTo>
                  <a:cubicBezTo>
                    <a:pt x="1723667" y="133715"/>
                    <a:pt x="1709697" y="121015"/>
                    <a:pt x="1708427" y="113395"/>
                  </a:cubicBezTo>
                  <a:cubicBezTo>
                    <a:pt x="1707157" y="104505"/>
                    <a:pt x="1712237" y="93075"/>
                    <a:pt x="1722397" y="85455"/>
                  </a:cubicBezTo>
                  <a:cubicBezTo>
                    <a:pt x="1749067" y="65135"/>
                    <a:pt x="1821457" y="57515"/>
                    <a:pt x="1919247" y="48625"/>
                  </a:cubicBezTo>
                  <a:cubicBezTo>
                    <a:pt x="2194837" y="21955"/>
                    <a:pt x="3254017" y="37195"/>
                    <a:pt x="3518177" y="51165"/>
                  </a:cubicBezTo>
                  <a:cubicBezTo>
                    <a:pt x="3605807" y="56245"/>
                    <a:pt x="3638827" y="54975"/>
                    <a:pt x="3693437" y="70215"/>
                  </a:cubicBezTo>
                  <a:cubicBezTo>
                    <a:pt x="3745507" y="84185"/>
                    <a:pt x="3797577" y="114665"/>
                    <a:pt x="3838217" y="137525"/>
                  </a:cubicBezTo>
                  <a:cubicBezTo>
                    <a:pt x="3869967" y="154035"/>
                    <a:pt x="3901717" y="169275"/>
                    <a:pt x="3919497" y="185785"/>
                  </a:cubicBezTo>
                  <a:cubicBezTo>
                    <a:pt x="3929657" y="195945"/>
                    <a:pt x="3932197" y="199755"/>
                    <a:pt x="3938547" y="216265"/>
                  </a:cubicBezTo>
                  <a:cubicBezTo>
                    <a:pt x="3957597" y="258175"/>
                    <a:pt x="3981727" y="391525"/>
                    <a:pt x="3994427" y="471535"/>
                  </a:cubicBezTo>
                  <a:cubicBezTo>
                    <a:pt x="4003317" y="540115"/>
                    <a:pt x="3996967" y="579485"/>
                    <a:pt x="4009667" y="663305"/>
                  </a:cubicBezTo>
                  <a:cubicBezTo>
                    <a:pt x="4035067" y="828405"/>
                    <a:pt x="4206517" y="1324975"/>
                    <a:pt x="4172227" y="1394825"/>
                  </a:cubicBezTo>
                  <a:cubicBezTo>
                    <a:pt x="4163337" y="1412605"/>
                    <a:pt x="4154447" y="1407525"/>
                    <a:pt x="4130317" y="1415145"/>
                  </a:cubicBezTo>
                  <a:cubicBezTo>
                    <a:pt x="4016017" y="1445625"/>
                    <a:pt x="3402607" y="1478645"/>
                    <a:pt x="3116857" y="1514205"/>
                  </a:cubicBezTo>
                  <a:cubicBezTo>
                    <a:pt x="2908577" y="1540875"/>
                    <a:pt x="2806977" y="1580245"/>
                    <a:pt x="2575837" y="1598025"/>
                  </a:cubicBezTo>
                  <a:cubicBezTo>
                    <a:pt x="2168167" y="1628505"/>
                    <a:pt x="1199157" y="1603105"/>
                    <a:pt x="876577" y="1594215"/>
                  </a:cubicBezTo>
                  <a:cubicBezTo>
                    <a:pt x="748307" y="1590405"/>
                    <a:pt x="703857" y="1589135"/>
                    <a:pt x="608607" y="1580245"/>
                  </a:cubicBezTo>
                  <a:cubicBezTo>
                    <a:pt x="498117" y="1570085"/>
                    <a:pt x="350797" y="1553575"/>
                    <a:pt x="253007" y="1535795"/>
                  </a:cubicBezTo>
                  <a:cubicBezTo>
                    <a:pt x="183157" y="1523095"/>
                    <a:pt x="114577" y="1507855"/>
                    <a:pt x="75207" y="1490075"/>
                  </a:cubicBezTo>
                  <a:cubicBezTo>
                    <a:pt x="52347" y="1481185"/>
                    <a:pt x="37107" y="1472295"/>
                    <a:pt x="25677" y="1460865"/>
                  </a:cubicBezTo>
                  <a:cubicBezTo>
                    <a:pt x="16787" y="1450705"/>
                    <a:pt x="11707" y="1445625"/>
                    <a:pt x="7897" y="1426575"/>
                  </a:cubicBezTo>
                  <a:cubicBezTo>
                    <a:pt x="-12423" y="1342755"/>
                    <a:pt x="11707" y="918575"/>
                    <a:pt x="21867" y="719185"/>
                  </a:cubicBezTo>
                  <a:cubicBezTo>
                    <a:pt x="30757" y="570595"/>
                    <a:pt x="37107" y="449945"/>
                    <a:pt x="56157" y="334375"/>
                  </a:cubicBezTo>
                  <a:cubicBezTo>
                    <a:pt x="71397" y="237855"/>
                    <a:pt x="100607" y="127365"/>
                    <a:pt x="120927" y="71485"/>
                  </a:cubicBezTo>
                  <a:cubicBezTo>
                    <a:pt x="129817" y="43545"/>
                    <a:pt x="127277" y="25765"/>
                    <a:pt x="148867" y="13065"/>
                  </a:cubicBezTo>
                  <a:cubicBezTo>
                    <a:pt x="189507" y="-13605"/>
                    <a:pt x="312697" y="7985"/>
                    <a:pt x="402867" y="13065"/>
                  </a:cubicBezTo>
                  <a:cubicBezTo>
                    <a:pt x="505737" y="20685"/>
                    <a:pt x="621307" y="44815"/>
                    <a:pt x="731797" y="53705"/>
                  </a:cubicBezTo>
                  <a:cubicBezTo>
                    <a:pt x="843557" y="61325"/>
                    <a:pt x="946427" y="53705"/>
                    <a:pt x="1072157" y="62595"/>
                  </a:cubicBezTo>
                  <a:cubicBezTo>
                    <a:pt x="1230907" y="75295"/>
                    <a:pt x="1455697" y="101965"/>
                    <a:pt x="1606827" y="128635"/>
                  </a:cubicBezTo>
                  <a:cubicBezTo>
                    <a:pt x="1721127" y="147685"/>
                    <a:pt x="1855747" y="166735"/>
                    <a:pt x="1904007" y="194675"/>
                  </a:cubicBezTo>
                  <a:cubicBezTo>
                    <a:pt x="1924327" y="204835"/>
                    <a:pt x="1938297" y="218805"/>
                    <a:pt x="1938297" y="228965"/>
                  </a:cubicBezTo>
                  <a:cubicBezTo>
                    <a:pt x="1939567" y="236585"/>
                    <a:pt x="1931947" y="245475"/>
                    <a:pt x="1925597" y="248015"/>
                  </a:cubicBezTo>
                  <a:cubicBezTo>
                    <a:pt x="1920517" y="251825"/>
                    <a:pt x="1902737" y="249285"/>
                    <a:pt x="1902737" y="249285"/>
                  </a:cubicBezTo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2220789" y="393424"/>
            <a:ext cx="4563513" cy="2646841"/>
            <a:chOff x="0" y="0"/>
            <a:chExt cx="6084684" cy="352912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84684" cy="3427522"/>
            </a:xfrm>
            <a:custGeom>
              <a:avLst/>
              <a:gdLst/>
              <a:ahLst/>
              <a:cxnLst/>
              <a:rect r="r" b="b" t="t" l="l"/>
              <a:pathLst>
                <a:path h="3427522" w="6084684">
                  <a:moveTo>
                    <a:pt x="0" y="0"/>
                  </a:moveTo>
                  <a:lnTo>
                    <a:pt x="6084684" y="0"/>
                  </a:lnTo>
                  <a:lnTo>
                    <a:pt x="6084684" y="3427522"/>
                  </a:lnTo>
                  <a:lnTo>
                    <a:pt x="0" y="34275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84684" cy="3529122"/>
            </a:xfrm>
            <a:custGeom>
              <a:avLst/>
              <a:gdLst/>
              <a:ahLst/>
              <a:cxnLst/>
              <a:rect r="r" b="b" t="t" l="l"/>
              <a:pathLst>
                <a:path h="3529122" w="6084684">
                  <a:moveTo>
                    <a:pt x="0" y="3427522"/>
                  </a:moveTo>
                  <a:lnTo>
                    <a:pt x="6084684" y="3427522"/>
                  </a:lnTo>
                  <a:lnTo>
                    <a:pt x="5957684" y="3529122"/>
                  </a:lnTo>
                  <a:cubicBezTo>
                    <a:pt x="5957684" y="3529122"/>
                    <a:pt x="4967084" y="3452922"/>
                    <a:pt x="4865484" y="3452922"/>
                  </a:cubicBezTo>
                  <a:lnTo>
                    <a:pt x="1219200" y="3452922"/>
                  </a:lnTo>
                  <a:cubicBezTo>
                    <a:pt x="1117600" y="3452922"/>
                    <a:pt x="127000" y="3529122"/>
                    <a:pt x="127000" y="3529122"/>
                  </a:cubicBezTo>
                  <a:lnTo>
                    <a:pt x="0" y="3427522"/>
                  </a:lnTo>
                  <a:lnTo>
                    <a:pt x="0" y="0"/>
                  </a:lnTo>
                  <a:lnTo>
                    <a:pt x="6084684" y="0"/>
                  </a:lnTo>
                  <a:lnTo>
                    <a:pt x="6084684" y="3427522"/>
                  </a:lnTo>
                  <a:lnTo>
                    <a:pt x="12700" y="3427522"/>
                  </a:lnTo>
                  <a:lnTo>
                    <a:pt x="12700" y="3414822"/>
                  </a:lnTo>
                  <a:lnTo>
                    <a:pt x="6071984" y="3414822"/>
                  </a:lnTo>
                  <a:lnTo>
                    <a:pt x="6071984" y="12700"/>
                  </a:lnTo>
                  <a:lnTo>
                    <a:pt x="12700" y="12700"/>
                  </a:lnTo>
                  <a:lnTo>
                    <a:pt x="12700" y="34275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6084684" cy="2998897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Was bedeutet das überhaupt 99.9 % Verfügbarkeit für mein System? Eine Minute? Eine Woche? Auf den Monat oder auf das Jahr gerechnet?</a:t>
              </a: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⟶ Aufs Jahr knapp über 8 Stunden maximal tolerierbare Ausfallzeit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958965" y="4323397"/>
            <a:ext cx="649605" cy="169545"/>
            <a:chOff x="0" y="0"/>
            <a:chExt cx="866140" cy="2260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50703" y="50622"/>
              <a:ext cx="763555" cy="124713"/>
            </a:xfrm>
            <a:custGeom>
              <a:avLst/>
              <a:gdLst/>
              <a:ahLst/>
              <a:cxnLst/>
              <a:rect r="r" b="b" t="t" l="l"/>
              <a:pathLst>
                <a:path h="124713" w="763555">
                  <a:moveTo>
                    <a:pt x="24227" y="26848"/>
                  </a:moveTo>
                  <a:cubicBezTo>
                    <a:pt x="250287" y="23038"/>
                    <a:pt x="315057" y="-2362"/>
                    <a:pt x="393797" y="178"/>
                  </a:cubicBezTo>
                  <a:cubicBezTo>
                    <a:pt x="495397" y="3988"/>
                    <a:pt x="703677" y="42088"/>
                    <a:pt x="745587" y="73838"/>
                  </a:cubicBezTo>
                  <a:cubicBezTo>
                    <a:pt x="759557" y="83998"/>
                    <a:pt x="764637" y="97968"/>
                    <a:pt x="763367" y="106858"/>
                  </a:cubicBezTo>
                  <a:cubicBezTo>
                    <a:pt x="760827" y="114478"/>
                    <a:pt x="745587" y="124638"/>
                    <a:pt x="737967" y="123368"/>
                  </a:cubicBezTo>
                  <a:cubicBezTo>
                    <a:pt x="729077" y="122098"/>
                    <a:pt x="712567" y="104318"/>
                    <a:pt x="713837" y="95428"/>
                  </a:cubicBezTo>
                  <a:cubicBezTo>
                    <a:pt x="715107" y="87808"/>
                    <a:pt x="734157" y="72568"/>
                    <a:pt x="743047" y="73838"/>
                  </a:cubicBezTo>
                  <a:cubicBezTo>
                    <a:pt x="750667" y="75108"/>
                    <a:pt x="764637" y="95428"/>
                    <a:pt x="763367" y="103048"/>
                  </a:cubicBezTo>
                  <a:cubicBezTo>
                    <a:pt x="763367" y="111938"/>
                    <a:pt x="754477" y="120828"/>
                    <a:pt x="740507" y="123368"/>
                  </a:cubicBezTo>
                  <a:cubicBezTo>
                    <a:pt x="694787" y="136068"/>
                    <a:pt x="501747" y="54788"/>
                    <a:pt x="401417" y="49708"/>
                  </a:cubicBezTo>
                  <a:cubicBezTo>
                    <a:pt x="321407" y="47168"/>
                    <a:pt x="252827" y="73838"/>
                    <a:pt x="185517" y="77648"/>
                  </a:cubicBezTo>
                  <a:cubicBezTo>
                    <a:pt x="128367" y="81458"/>
                    <a:pt x="53437" y="90348"/>
                    <a:pt x="24227" y="77648"/>
                  </a:cubicBezTo>
                  <a:cubicBezTo>
                    <a:pt x="10257" y="71298"/>
                    <a:pt x="-1173" y="57328"/>
                    <a:pt x="97" y="48438"/>
                  </a:cubicBezTo>
                  <a:cubicBezTo>
                    <a:pt x="97" y="40818"/>
                    <a:pt x="24227" y="26848"/>
                    <a:pt x="24227" y="26848"/>
                  </a:cubicBezTo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402502" y="4326255"/>
            <a:ext cx="534352" cy="128588"/>
            <a:chOff x="0" y="0"/>
            <a:chExt cx="712470" cy="1714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50641" y="47371"/>
              <a:ext cx="609919" cy="80262"/>
            </a:xfrm>
            <a:custGeom>
              <a:avLst/>
              <a:gdLst/>
              <a:ahLst/>
              <a:cxnLst/>
              <a:rect r="r" b="b" t="t" l="l"/>
              <a:pathLst>
                <a:path h="80262" w="609919">
                  <a:moveTo>
                    <a:pt x="24289" y="17399"/>
                  </a:moveTo>
                  <a:cubicBezTo>
                    <a:pt x="461169" y="17399"/>
                    <a:pt x="550069" y="-9271"/>
                    <a:pt x="584359" y="3429"/>
                  </a:cubicBezTo>
                  <a:cubicBezTo>
                    <a:pt x="598329" y="8509"/>
                    <a:pt x="611029" y="21209"/>
                    <a:pt x="609759" y="28829"/>
                  </a:cubicBezTo>
                  <a:cubicBezTo>
                    <a:pt x="609759" y="37719"/>
                    <a:pt x="590709" y="54229"/>
                    <a:pt x="581819" y="54229"/>
                  </a:cubicBezTo>
                  <a:cubicBezTo>
                    <a:pt x="574199" y="52959"/>
                    <a:pt x="558959" y="32639"/>
                    <a:pt x="558959" y="25019"/>
                  </a:cubicBezTo>
                  <a:cubicBezTo>
                    <a:pt x="560229" y="16129"/>
                    <a:pt x="580549" y="2159"/>
                    <a:pt x="589439" y="3429"/>
                  </a:cubicBezTo>
                  <a:cubicBezTo>
                    <a:pt x="597059" y="4699"/>
                    <a:pt x="609759" y="18669"/>
                    <a:pt x="609759" y="26289"/>
                  </a:cubicBezTo>
                  <a:cubicBezTo>
                    <a:pt x="611029" y="35179"/>
                    <a:pt x="604679" y="45339"/>
                    <a:pt x="593249" y="52959"/>
                  </a:cubicBezTo>
                  <a:cubicBezTo>
                    <a:pt x="562769" y="70739"/>
                    <a:pt x="463709" y="68199"/>
                    <a:pt x="383699" y="72009"/>
                  </a:cubicBezTo>
                  <a:cubicBezTo>
                    <a:pt x="279559" y="75819"/>
                    <a:pt x="64929" y="91059"/>
                    <a:pt x="19209" y="66929"/>
                  </a:cubicBezTo>
                  <a:cubicBezTo>
                    <a:pt x="5239" y="60579"/>
                    <a:pt x="-1111" y="47879"/>
                    <a:pt x="159" y="40259"/>
                  </a:cubicBezTo>
                  <a:cubicBezTo>
                    <a:pt x="159" y="31369"/>
                    <a:pt x="24289" y="17399"/>
                    <a:pt x="24289" y="17399"/>
                  </a:cubicBezTo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8003353" y="238926"/>
            <a:ext cx="3693347" cy="2905314"/>
            <a:chOff x="0" y="0"/>
            <a:chExt cx="6084684" cy="478642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084684" cy="4684822"/>
            </a:xfrm>
            <a:custGeom>
              <a:avLst/>
              <a:gdLst/>
              <a:ahLst/>
              <a:cxnLst/>
              <a:rect r="r" b="b" t="t" l="l"/>
              <a:pathLst>
                <a:path h="4684822" w="6084684">
                  <a:moveTo>
                    <a:pt x="0" y="0"/>
                  </a:moveTo>
                  <a:lnTo>
                    <a:pt x="6084684" y="0"/>
                  </a:lnTo>
                  <a:lnTo>
                    <a:pt x="6084684" y="4684822"/>
                  </a:lnTo>
                  <a:lnTo>
                    <a:pt x="0" y="46848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84684" cy="4786422"/>
            </a:xfrm>
            <a:custGeom>
              <a:avLst/>
              <a:gdLst/>
              <a:ahLst/>
              <a:cxnLst/>
              <a:rect r="r" b="b" t="t" l="l"/>
              <a:pathLst>
                <a:path h="4786422" w="6084684">
                  <a:moveTo>
                    <a:pt x="0" y="4684822"/>
                  </a:moveTo>
                  <a:lnTo>
                    <a:pt x="6084684" y="4684822"/>
                  </a:lnTo>
                  <a:lnTo>
                    <a:pt x="5957684" y="4786422"/>
                  </a:lnTo>
                  <a:cubicBezTo>
                    <a:pt x="5957684" y="4786422"/>
                    <a:pt x="4967084" y="4710222"/>
                    <a:pt x="4865484" y="4710222"/>
                  </a:cubicBezTo>
                  <a:lnTo>
                    <a:pt x="1219200" y="4710222"/>
                  </a:lnTo>
                  <a:cubicBezTo>
                    <a:pt x="1117600" y="4710222"/>
                    <a:pt x="127000" y="4786422"/>
                    <a:pt x="127000" y="4786422"/>
                  </a:cubicBezTo>
                  <a:lnTo>
                    <a:pt x="0" y="4684822"/>
                  </a:lnTo>
                  <a:lnTo>
                    <a:pt x="0" y="0"/>
                  </a:lnTo>
                  <a:lnTo>
                    <a:pt x="6084684" y="0"/>
                  </a:lnTo>
                  <a:lnTo>
                    <a:pt x="6084684" y="4684822"/>
                  </a:lnTo>
                  <a:lnTo>
                    <a:pt x="12700" y="4684822"/>
                  </a:lnTo>
                  <a:lnTo>
                    <a:pt x="12700" y="4672122"/>
                  </a:lnTo>
                  <a:lnTo>
                    <a:pt x="6071984" y="4672122"/>
                  </a:lnTo>
                  <a:lnTo>
                    <a:pt x="6071984" y="12700"/>
                  </a:lnTo>
                  <a:lnTo>
                    <a:pt x="12700" y="12700"/>
                  </a:lnTo>
                  <a:lnTo>
                    <a:pt x="12700" y="46848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6084684" cy="4256197"/>
            </a:xfrm>
            <a:prstGeom prst="rect">
              <a:avLst/>
            </a:prstGeom>
          </p:spPr>
          <p:txBody>
            <a:bodyPr anchor="t" rtlCol="false" tIns="164454" lIns="164454" bIns="164454" rIns="164454"/>
            <a:lstStyle/>
            <a:p>
              <a:pPr algn="l">
                <a:lnSpc>
                  <a:spcPts val="2039"/>
                </a:lnSpc>
              </a:pPr>
              <a:r>
                <a:rPr lang="en-US" sz="145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Passt der definierte RTO von max. 2h zu 99.9% Verfügbarkeit?</a:t>
              </a:r>
            </a:p>
            <a:p>
              <a:pPr algn="l">
                <a:lnSpc>
                  <a:spcPts val="2039"/>
                </a:lnSpc>
              </a:pPr>
            </a:p>
            <a:p>
              <a:pPr algn="l">
                <a:lnSpc>
                  <a:spcPts val="2039"/>
                </a:lnSpc>
              </a:pPr>
              <a:r>
                <a:rPr lang="en-US" sz="145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Ist das realistisch? Gab es schon Ausfälle?</a:t>
              </a:r>
            </a:p>
            <a:p>
              <a:pPr algn="l">
                <a:lnSpc>
                  <a:spcPts val="2039"/>
                </a:lnSpc>
              </a:pPr>
            </a:p>
            <a:p>
              <a:pPr algn="l">
                <a:lnSpc>
                  <a:spcPts val="2039"/>
                </a:lnSpc>
              </a:pPr>
              <a:r>
                <a:rPr lang="en-US" sz="145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Wenn wir 99.9% Verfügbarkeit haben, dann dürfen wir theoretisch 4 mal ausfallen?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368666" y="6810186"/>
            <a:ext cx="3693347" cy="2905314"/>
            <a:chOff x="0" y="0"/>
            <a:chExt cx="6084684" cy="478642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84684" cy="4684822"/>
            </a:xfrm>
            <a:custGeom>
              <a:avLst/>
              <a:gdLst/>
              <a:ahLst/>
              <a:cxnLst/>
              <a:rect r="r" b="b" t="t" l="l"/>
              <a:pathLst>
                <a:path h="4684822" w="6084684">
                  <a:moveTo>
                    <a:pt x="0" y="0"/>
                  </a:moveTo>
                  <a:lnTo>
                    <a:pt x="6084684" y="0"/>
                  </a:lnTo>
                  <a:lnTo>
                    <a:pt x="6084684" y="4684822"/>
                  </a:lnTo>
                  <a:lnTo>
                    <a:pt x="0" y="46848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084684" cy="4786422"/>
            </a:xfrm>
            <a:custGeom>
              <a:avLst/>
              <a:gdLst/>
              <a:ahLst/>
              <a:cxnLst/>
              <a:rect r="r" b="b" t="t" l="l"/>
              <a:pathLst>
                <a:path h="4786422" w="6084684">
                  <a:moveTo>
                    <a:pt x="0" y="4684822"/>
                  </a:moveTo>
                  <a:lnTo>
                    <a:pt x="6084684" y="4684822"/>
                  </a:lnTo>
                  <a:lnTo>
                    <a:pt x="5957684" y="4786422"/>
                  </a:lnTo>
                  <a:cubicBezTo>
                    <a:pt x="5957684" y="4786422"/>
                    <a:pt x="4967084" y="4710222"/>
                    <a:pt x="4865484" y="4710222"/>
                  </a:cubicBezTo>
                  <a:lnTo>
                    <a:pt x="1219200" y="4710222"/>
                  </a:lnTo>
                  <a:cubicBezTo>
                    <a:pt x="1117600" y="4710222"/>
                    <a:pt x="127000" y="4786422"/>
                    <a:pt x="127000" y="4786422"/>
                  </a:cubicBezTo>
                  <a:lnTo>
                    <a:pt x="0" y="4684822"/>
                  </a:lnTo>
                  <a:lnTo>
                    <a:pt x="0" y="0"/>
                  </a:lnTo>
                  <a:lnTo>
                    <a:pt x="6084684" y="0"/>
                  </a:lnTo>
                  <a:lnTo>
                    <a:pt x="6084684" y="4684822"/>
                  </a:lnTo>
                  <a:lnTo>
                    <a:pt x="12700" y="4684822"/>
                  </a:lnTo>
                  <a:lnTo>
                    <a:pt x="12700" y="4672122"/>
                  </a:lnTo>
                  <a:lnTo>
                    <a:pt x="6071984" y="4672122"/>
                  </a:lnTo>
                  <a:lnTo>
                    <a:pt x="6071984" y="12700"/>
                  </a:lnTo>
                  <a:lnTo>
                    <a:pt x="12700" y="12700"/>
                  </a:lnTo>
                  <a:lnTo>
                    <a:pt x="12700" y="46848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6084684" cy="4256197"/>
            </a:xfrm>
            <a:prstGeom prst="rect">
              <a:avLst/>
            </a:prstGeom>
          </p:spPr>
          <p:txBody>
            <a:bodyPr anchor="t" rtlCol="false" tIns="164454" lIns="164454" bIns="164454" rIns="164454"/>
            <a:lstStyle/>
            <a:p>
              <a:pPr algn="l">
                <a:lnSpc>
                  <a:spcPts val="2039"/>
                </a:lnSpc>
              </a:pPr>
              <a:r>
                <a:rPr lang="en-US" sz="145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Auf was bezieht sich denn die Verfügbarkeit? Auf RTO oder RPO?</a:t>
              </a:r>
            </a:p>
            <a:p>
              <a:pPr algn="l">
                <a:lnSpc>
                  <a:spcPts val="2039"/>
                </a:lnSpc>
              </a:pPr>
            </a:p>
            <a:p>
              <a:pPr algn="l">
                <a:lnSpc>
                  <a:spcPts val="2039"/>
                </a:lnSpc>
              </a:pPr>
              <a:r>
                <a:rPr lang="en-US" sz="145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⟶ Eher RTO? Wegen Wiederanlaufzeit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003715" y="173052"/>
            <a:ext cx="3693347" cy="2905314"/>
            <a:chOff x="0" y="0"/>
            <a:chExt cx="6084684" cy="478642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084684" cy="4684822"/>
            </a:xfrm>
            <a:custGeom>
              <a:avLst/>
              <a:gdLst/>
              <a:ahLst/>
              <a:cxnLst/>
              <a:rect r="r" b="b" t="t" l="l"/>
              <a:pathLst>
                <a:path h="4684822" w="6084684">
                  <a:moveTo>
                    <a:pt x="0" y="0"/>
                  </a:moveTo>
                  <a:lnTo>
                    <a:pt x="6084684" y="0"/>
                  </a:lnTo>
                  <a:lnTo>
                    <a:pt x="6084684" y="4684822"/>
                  </a:lnTo>
                  <a:lnTo>
                    <a:pt x="0" y="46848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084684" cy="4786422"/>
            </a:xfrm>
            <a:custGeom>
              <a:avLst/>
              <a:gdLst/>
              <a:ahLst/>
              <a:cxnLst/>
              <a:rect r="r" b="b" t="t" l="l"/>
              <a:pathLst>
                <a:path h="4786422" w="6084684">
                  <a:moveTo>
                    <a:pt x="0" y="4684822"/>
                  </a:moveTo>
                  <a:lnTo>
                    <a:pt x="6084684" y="4684822"/>
                  </a:lnTo>
                  <a:lnTo>
                    <a:pt x="5957684" y="4786422"/>
                  </a:lnTo>
                  <a:cubicBezTo>
                    <a:pt x="5957684" y="4786422"/>
                    <a:pt x="4967084" y="4710222"/>
                    <a:pt x="4865484" y="4710222"/>
                  </a:cubicBezTo>
                  <a:lnTo>
                    <a:pt x="1219200" y="4710222"/>
                  </a:lnTo>
                  <a:cubicBezTo>
                    <a:pt x="1117600" y="4710222"/>
                    <a:pt x="127000" y="4786422"/>
                    <a:pt x="127000" y="4786422"/>
                  </a:cubicBezTo>
                  <a:lnTo>
                    <a:pt x="0" y="4684822"/>
                  </a:lnTo>
                  <a:lnTo>
                    <a:pt x="0" y="0"/>
                  </a:lnTo>
                  <a:lnTo>
                    <a:pt x="6084684" y="0"/>
                  </a:lnTo>
                  <a:lnTo>
                    <a:pt x="6084684" y="4684822"/>
                  </a:lnTo>
                  <a:lnTo>
                    <a:pt x="12700" y="4684822"/>
                  </a:lnTo>
                  <a:lnTo>
                    <a:pt x="12700" y="4672122"/>
                  </a:lnTo>
                  <a:lnTo>
                    <a:pt x="6071984" y="4672122"/>
                  </a:lnTo>
                  <a:lnTo>
                    <a:pt x="6071984" y="12700"/>
                  </a:lnTo>
                  <a:lnTo>
                    <a:pt x="12700" y="12700"/>
                  </a:lnTo>
                  <a:lnTo>
                    <a:pt x="12700" y="46848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6084684" cy="4256197"/>
            </a:xfrm>
            <a:prstGeom prst="rect">
              <a:avLst/>
            </a:prstGeom>
          </p:spPr>
          <p:txBody>
            <a:bodyPr anchor="t" rtlCol="false" tIns="164454" lIns="164454" bIns="164454" rIns="164454"/>
            <a:lstStyle/>
            <a:p>
              <a:pPr algn="l">
                <a:lnSpc>
                  <a:spcPts val="2039"/>
                </a:lnSpc>
              </a:pPr>
              <a:r>
                <a:rPr lang="en-US" sz="145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Sind 15 Minuten hier wirklich tolerierbar in unserem Kontext von Telemetriedaten?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004988" y="7150894"/>
            <a:ext cx="3693347" cy="2905314"/>
            <a:chOff x="0" y="0"/>
            <a:chExt cx="6084684" cy="478642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084684" cy="4684822"/>
            </a:xfrm>
            <a:custGeom>
              <a:avLst/>
              <a:gdLst/>
              <a:ahLst/>
              <a:cxnLst/>
              <a:rect r="r" b="b" t="t" l="l"/>
              <a:pathLst>
                <a:path h="4684822" w="6084684">
                  <a:moveTo>
                    <a:pt x="0" y="0"/>
                  </a:moveTo>
                  <a:lnTo>
                    <a:pt x="6084684" y="0"/>
                  </a:lnTo>
                  <a:lnTo>
                    <a:pt x="6084684" y="4684822"/>
                  </a:lnTo>
                  <a:lnTo>
                    <a:pt x="0" y="46848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84684" cy="4786422"/>
            </a:xfrm>
            <a:custGeom>
              <a:avLst/>
              <a:gdLst/>
              <a:ahLst/>
              <a:cxnLst/>
              <a:rect r="r" b="b" t="t" l="l"/>
              <a:pathLst>
                <a:path h="4786422" w="6084684">
                  <a:moveTo>
                    <a:pt x="0" y="4684822"/>
                  </a:moveTo>
                  <a:lnTo>
                    <a:pt x="6084684" y="4684822"/>
                  </a:lnTo>
                  <a:lnTo>
                    <a:pt x="5957684" y="4786422"/>
                  </a:lnTo>
                  <a:cubicBezTo>
                    <a:pt x="5957684" y="4786422"/>
                    <a:pt x="4967084" y="4710222"/>
                    <a:pt x="4865484" y="4710222"/>
                  </a:cubicBezTo>
                  <a:lnTo>
                    <a:pt x="1219200" y="4710222"/>
                  </a:lnTo>
                  <a:cubicBezTo>
                    <a:pt x="1117600" y="4710222"/>
                    <a:pt x="127000" y="4786422"/>
                    <a:pt x="127000" y="4786422"/>
                  </a:cubicBezTo>
                  <a:lnTo>
                    <a:pt x="0" y="4684822"/>
                  </a:lnTo>
                  <a:lnTo>
                    <a:pt x="0" y="0"/>
                  </a:lnTo>
                  <a:lnTo>
                    <a:pt x="6084684" y="0"/>
                  </a:lnTo>
                  <a:lnTo>
                    <a:pt x="6084684" y="4684822"/>
                  </a:lnTo>
                  <a:lnTo>
                    <a:pt x="12700" y="4684822"/>
                  </a:lnTo>
                  <a:lnTo>
                    <a:pt x="12700" y="4672122"/>
                  </a:lnTo>
                  <a:lnTo>
                    <a:pt x="6071984" y="4672122"/>
                  </a:lnTo>
                  <a:lnTo>
                    <a:pt x="6071984" y="12700"/>
                  </a:lnTo>
                  <a:lnTo>
                    <a:pt x="12700" y="12700"/>
                  </a:lnTo>
                  <a:lnTo>
                    <a:pt x="12700" y="46848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6084684" cy="4256197"/>
            </a:xfrm>
            <a:prstGeom prst="rect">
              <a:avLst/>
            </a:prstGeom>
          </p:spPr>
          <p:txBody>
            <a:bodyPr anchor="t" rtlCol="false" tIns="164454" lIns="164454" bIns="164454" rIns="164454"/>
            <a:lstStyle/>
            <a:p>
              <a:pPr algn="l">
                <a:lnSpc>
                  <a:spcPts val="2039"/>
                </a:lnSpc>
              </a:pPr>
              <a:r>
                <a:rPr lang="en-US" sz="145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Wie hast du die Werte definiert? </a:t>
              </a:r>
            </a:p>
            <a:p>
              <a:pPr algn="l">
                <a:lnSpc>
                  <a:spcPts val="2039"/>
                </a:lnSpc>
              </a:pPr>
            </a:p>
            <a:p>
              <a:pPr algn="l">
                <a:lnSpc>
                  <a:spcPts val="2039"/>
                </a:lnSpc>
              </a:pPr>
              <a:r>
                <a:rPr lang="en-US" sz="145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⟶ Erfahrungswerte</a:t>
              </a:r>
            </a:p>
            <a:p>
              <a:pPr algn="l">
                <a:lnSpc>
                  <a:spcPts val="2039"/>
                </a:lnSpc>
              </a:pPr>
            </a:p>
            <a:p>
              <a:pPr algn="l">
                <a:lnSpc>
                  <a:spcPts val="2039"/>
                </a:lnSpc>
              </a:pPr>
              <a:r>
                <a:rPr lang="en-US" sz="145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⟶ Verantwortung abgeben (Geschäftsführung hat bestimmt, ...)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999595" y="5369242"/>
            <a:ext cx="5292090" cy="1503998"/>
            <a:chOff x="0" y="0"/>
            <a:chExt cx="7056120" cy="200533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49582" y="42385"/>
              <a:ext cx="6955915" cy="1920711"/>
            </a:xfrm>
            <a:custGeom>
              <a:avLst/>
              <a:gdLst/>
              <a:ahLst/>
              <a:cxnLst/>
              <a:rect r="r" b="b" t="t" l="l"/>
              <a:pathLst>
                <a:path h="1920711" w="6955915">
                  <a:moveTo>
                    <a:pt x="2353258" y="118905"/>
                  </a:moveTo>
                  <a:cubicBezTo>
                    <a:pt x="577798" y="131605"/>
                    <a:pt x="565098" y="136685"/>
                    <a:pt x="502868" y="150655"/>
                  </a:cubicBezTo>
                  <a:cubicBezTo>
                    <a:pt x="407618" y="173515"/>
                    <a:pt x="203148" y="200185"/>
                    <a:pt x="145998" y="256065"/>
                  </a:cubicBezTo>
                  <a:cubicBezTo>
                    <a:pt x="111708" y="289085"/>
                    <a:pt x="118058" y="323375"/>
                    <a:pt x="106628" y="377985"/>
                  </a:cubicBezTo>
                  <a:cubicBezTo>
                    <a:pt x="83768" y="484665"/>
                    <a:pt x="43128" y="723425"/>
                    <a:pt x="52018" y="863125"/>
                  </a:cubicBezTo>
                  <a:cubicBezTo>
                    <a:pt x="59638" y="971075"/>
                    <a:pt x="107898" y="1042195"/>
                    <a:pt x="123138" y="1146335"/>
                  </a:cubicBezTo>
                  <a:cubicBezTo>
                    <a:pt x="140918" y="1269525"/>
                    <a:pt x="123138" y="1452405"/>
                    <a:pt x="140918" y="1556545"/>
                  </a:cubicBezTo>
                  <a:cubicBezTo>
                    <a:pt x="151078" y="1622585"/>
                    <a:pt x="165048" y="1668305"/>
                    <a:pt x="185368" y="1714025"/>
                  </a:cubicBezTo>
                  <a:cubicBezTo>
                    <a:pt x="203148" y="1754665"/>
                    <a:pt x="214578" y="1797845"/>
                    <a:pt x="250138" y="1820705"/>
                  </a:cubicBezTo>
                  <a:cubicBezTo>
                    <a:pt x="300938" y="1852455"/>
                    <a:pt x="366978" y="1837215"/>
                    <a:pt x="483818" y="1843565"/>
                  </a:cubicBezTo>
                  <a:cubicBezTo>
                    <a:pt x="834338" y="1861345"/>
                    <a:pt x="1786838" y="1857535"/>
                    <a:pt x="2578048" y="1861345"/>
                  </a:cubicBezTo>
                  <a:cubicBezTo>
                    <a:pt x="3614368" y="1865155"/>
                    <a:pt x="5445708" y="1874045"/>
                    <a:pt x="6163258" y="1861345"/>
                  </a:cubicBezTo>
                  <a:cubicBezTo>
                    <a:pt x="6471868" y="1854995"/>
                    <a:pt x="6711898" y="1848645"/>
                    <a:pt x="6823657" y="1835945"/>
                  </a:cubicBezTo>
                  <a:cubicBezTo>
                    <a:pt x="6863028" y="1832135"/>
                    <a:pt x="6883348" y="1844835"/>
                    <a:pt x="6902398" y="1821975"/>
                  </a:cubicBezTo>
                  <a:cubicBezTo>
                    <a:pt x="6954468" y="1759745"/>
                    <a:pt x="6910018" y="1376205"/>
                    <a:pt x="6904938" y="1230155"/>
                  </a:cubicBezTo>
                  <a:cubicBezTo>
                    <a:pt x="6901128" y="1142525"/>
                    <a:pt x="6899857" y="1112045"/>
                    <a:pt x="6889698" y="1023145"/>
                  </a:cubicBezTo>
                  <a:cubicBezTo>
                    <a:pt x="6868107" y="855505"/>
                    <a:pt x="6802068" y="454185"/>
                    <a:pt x="6765238" y="305595"/>
                  </a:cubicBezTo>
                  <a:cubicBezTo>
                    <a:pt x="6748728" y="237015"/>
                    <a:pt x="6730948" y="188755"/>
                    <a:pt x="6718248" y="158275"/>
                  </a:cubicBezTo>
                  <a:cubicBezTo>
                    <a:pt x="6711898" y="144305"/>
                    <a:pt x="6710628" y="136685"/>
                    <a:pt x="6701738" y="127795"/>
                  </a:cubicBezTo>
                  <a:cubicBezTo>
                    <a:pt x="6692848" y="117635"/>
                    <a:pt x="6683957" y="111285"/>
                    <a:pt x="6659828" y="103665"/>
                  </a:cubicBezTo>
                  <a:cubicBezTo>
                    <a:pt x="6562038" y="74455"/>
                    <a:pt x="6146748" y="68105"/>
                    <a:pt x="5864808" y="60485"/>
                  </a:cubicBezTo>
                  <a:cubicBezTo>
                    <a:pt x="5547308" y="51595"/>
                    <a:pt x="5093918" y="41435"/>
                    <a:pt x="4850078" y="59215"/>
                  </a:cubicBezTo>
                  <a:cubicBezTo>
                    <a:pt x="4711648" y="69375"/>
                    <a:pt x="4632908" y="93505"/>
                    <a:pt x="4527498" y="104935"/>
                  </a:cubicBezTo>
                  <a:cubicBezTo>
                    <a:pt x="4424628" y="116365"/>
                    <a:pt x="4361128" y="120175"/>
                    <a:pt x="4225238" y="125255"/>
                  </a:cubicBezTo>
                  <a:cubicBezTo>
                    <a:pt x="3938218" y="136685"/>
                    <a:pt x="3239718" y="143035"/>
                    <a:pt x="2893008" y="146845"/>
                  </a:cubicBezTo>
                  <a:cubicBezTo>
                    <a:pt x="2670758" y="148115"/>
                    <a:pt x="2443428" y="154465"/>
                    <a:pt x="2345638" y="146845"/>
                  </a:cubicBezTo>
                  <a:cubicBezTo>
                    <a:pt x="2310078" y="143035"/>
                    <a:pt x="2282138" y="144305"/>
                    <a:pt x="2271978" y="134145"/>
                  </a:cubicBezTo>
                  <a:cubicBezTo>
                    <a:pt x="2266898" y="127795"/>
                    <a:pt x="2265628" y="116365"/>
                    <a:pt x="2268168" y="110015"/>
                  </a:cubicBezTo>
                  <a:cubicBezTo>
                    <a:pt x="2271978" y="102395"/>
                    <a:pt x="2285948" y="93505"/>
                    <a:pt x="2294838" y="93505"/>
                  </a:cubicBezTo>
                  <a:cubicBezTo>
                    <a:pt x="2301188" y="93505"/>
                    <a:pt x="2311348" y="99855"/>
                    <a:pt x="2313888" y="106205"/>
                  </a:cubicBezTo>
                  <a:cubicBezTo>
                    <a:pt x="2317698" y="111285"/>
                    <a:pt x="2318968" y="122715"/>
                    <a:pt x="2315158" y="129065"/>
                  </a:cubicBezTo>
                  <a:cubicBezTo>
                    <a:pt x="2312618" y="135415"/>
                    <a:pt x="2303728" y="143035"/>
                    <a:pt x="2296108" y="143035"/>
                  </a:cubicBezTo>
                  <a:cubicBezTo>
                    <a:pt x="2288488" y="144305"/>
                    <a:pt x="2273248" y="135415"/>
                    <a:pt x="2269438" y="129065"/>
                  </a:cubicBezTo>
                  <a:cubicBezTo>
                    <a:pt x="2265628" y="122715"/>
                    <a:pt x="2266898" y="111285"/>
                    <a:pt x="2270708" y="104935"/>
                  </a:cubicBezTo>
                  <a:cubicBezTo>
                    <a:pt x="2274518" y="98585"/>
                    <a:pt x="2278328" y="97315"/>
                    <a:pt x="2291028" y="93505"/>
                  </a:cubicBezTo>
                  <a:cubicBezTo>
                    <a:pt x="2392628" y="65565"/>
                    <a:pt x="3346398" y="92235"/>
                    <a:pt x="3718508" y="87155"/>
                  </a:cubicBezTo>
                  <a:cubicBezTo>
                    <a:pt x="3957268" y="83345"/>
                    <a:pt x="4117288" y="85885"/>
                    <a:pt x="4309058" y="71915"/>
                  </a:cubicBezTo>
                  <a:cubicBezTo>
                    <a:pt x="4493208" y="59215"/>
                    <a:pt x="4646878" y="19845"/>
                    <a:pt x="4850078" y="8415"/>
                  </a:cubicBezTo>
                  <a:cubicBezTo>
                    <a:pt x="5110428" y="-6825"/>
                    <a:pt x="5449518" y="2065"/>
                    <a:pt x="5742888" y="8415"/>
                  </a:cubicBezTo>
                  <a:cubicBezTo>
                    <a:pt x="6032448" y="14765"/>
                    <a:pt x="6465518" y="38895"/>
                    <a:pt x="6598868" y="47785"/>
                  </a:cubicBezTo>
                  <a:cubicBezTo>
                    <a:pt x="6639508" y="51595"/>
                    <a:pt x="6654748" y="47785"/>
                    <a:pt x="6678878" y="56675"/>
                  </a:cubicBezTo>
                  <a:cubicBezTo>
                    <a:pt x="6704278" y="65565"/>
                    <a:pt x="6727138" y="78265"/>
                    <a:pt x="6746188" y="103665"/>
                  </a:cubicBezTo>
                  <a:cubicBezTo>
                    <a:pt x="6779208" y="146845"/>
                    <a:pt x="6795718" y="220505"/>
                    <a:pt x="6819848" y="311945"/>
                  </a:cubicBezTo>
                  <a:cubicBezTo>
                    <a:pt x="6861758" y="477045"/>
                    <a:pt x="6917638" y="800895"/>
                    <a:pt x="6939228" y="1019335"/>
                  </a:cubicBezTo>
                  <a:cubicBezTo>
                    <a:pt x="6958278" y="1207295"/>
                    <a:pt x="6954468" y="1401605"/>
                    <a:pt x="6954468" y="1547655"/>
                  </a:cubicBezTo>
                  <a:cubicBezTo>
                    <a:pt x="6955738" y="1650525"/>
                    <a:pt x="6958278" y="1759745"/>
                    <a:pt x="6950658" y="1809275"/>
                  </a:cubicBezTo>
                  <a:cubicBezTo>
                    <a:pt x="6946848" y="1830865"/>
                    <a:pt x="6948118" y="1842295"/>
                    <a:pt x="6936688" y="1853725"/>
                  </a:cubicBezTo>
                  <a:cubicBezTo>
                    <a:pt x="6917638" y="1872775"/>
                    <a:pt x="6879538" y="1877855"/>
                    <a:pt x="6826198" y="1886745"/>
                  </a:cubicBezTo>
                  <a:cubicBezTo>
                    <a:pt x="6699198" y="1908335"/>
                    <a:pt x="6478218" y="1905795"/>
                    <a:pt x="6163258" y="1912145"/>
                  </a:cubicBezTo>
                  <a:cubicBezTo>
                    <a:pt x="5389828" y="1926115"/>
                    <a:pt x="2849828" y="1921035"/>
                    <a:pt x="2144978" y="1910875"/>
                  </a:cubicBezTo>
                  <a:cubicBezTo>
                    <a:pt x="1893518" y="1907065"/>
                    <a:pt x="1837638" y="1899445"/>
                    <a:pt x="1633168" y="1896905"/>
                  </a:cubicBezTo>
                  <a:cubicBezTo>
                    <a:pt x="1327098" y="1891825"/>
                    <a:pt x="709878" y="1900715"/>
                    <a:pt x="482548" y="1894365"/>
                  </a:cubicBezTo>
                  <a:cubicBezTo>
                    <a:pt x="387298" y="1890555"/>
                    <a:pt x="326338" y="1891825"/>
                    <a:pt x="279348" y="1881665"/>
                  </a:cubicBezTo>
                  <a:cubicBezTo>
                    <a:pt x="251408" y="1875315"/>
                    <a:pt x="234898" y="1872775"/>
                    <a:pt x="215848" y="1856265"/>
                  </a:cubicBezTo>
                  <a:cubicBezTo>
                    <a:pt x="186638" y="1832135"/>
                    <a:pt x="158698" y="1778795"/>
                    <a:pt x="138378" y="1731805"/>
                  </a:cubicBezTo>
                  <a:cubicBezTo>
                    <a:pt x="115518" y="1681005"/>
                    <a:pt x="100278" y="1631475"/>
                    <a:pt x="90118" y="1561625"/>
                  </a:cubicBezTo>
                  <a:cubicBezTo>
                    <a:pt x="73608" y="1454945"/>
                    <a:pt x="91388" y="1279685"/>
                    <a:pt x="73608" y="1155225"/>
                  </a:cubicBezTo>
                  <a:cubicBezTo>
                    <a:pt x="58368" y="1048545"/>
                    <a:pt x="8838" y="973615"/>
                    <a:pt x="1218" y="861855"/>
                  </a:cubicBezTo>
                  <a:cubicBezTo>
                    <a:pt x="-7672" y="719615"/>
                    <a:pt x="34238" y="475775"/>
                    <a:pt x="57098" y="367825"/>
                  </a:cubicBezTo>
                  <a:cubicBezTo>
                    <a:pt x="68528" y="313215"/>
                    <a:pt x="78688" y="273845"/>
                    <a:pt x="93928" y="245905"/>
                  </a:cubicBezTo>
                  <a:cubicBezTo>
                    <a:pt x="102818" y="229395"/>
                    <a:pt x="105358" y="221775"/>
                    <a:pt x="124408" y="209075"/>
                  </a:cubicBezTo>
                  <a:cubicBezTo>
                    <a:pt x="177748" y="173515"/>
                    <a:pt x="394918" y="123985"/>
                    <a:pt x="493978" y="101125"/>
                  </a:cubicBezTo>
                  <a:cubicBezTo>
                    <a:pt x="558748" y="85885"/>
                    <a:pt x="572718" y="80805"/>
                    <a:pt x="656538" y="74455"/>
                  </a:cubicBezTo>
                  <a:cubicBezTo>
                    <a:pt x="923238" y="51595"/>
                    <a:pt x="2233878" y="12225"/>
                    <a:pt x="2354528" y="68105"/>
                  </a:cubicBezTo>
                  <a:cubicBezTo>
                    <a:pt x="2373578" y="76995"/>
                    <a:pt x="2379928" y="88425"/>
                    <a:pt x="2379928" y="97315"/>
                  </a:cubicBezTo>
                  <a:cubicBezTo>
                    <a:pt x="2378658" y="106205"/>
                    <a:pt x="2353258" y="118905"/>
                    <a:pt x="2353258" y="118905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4483715" y="6930390"/>
            <a:ext cx="173355" cy="519112"/>
            <a:chOff x="0" y="0"/>
            <a:chExt cx="231140" cy="69215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46977" y="50027"/>
              <a:ext cx="136145" cy="590053"/>
            </a:xfrm>
            <a:custGeom>
              <a:avLst/>
              <a:gdLst/>
              <a:ahLst/>
              <a:cxnLst/>
              <a:rect r="r" b="b" t="t" l="l"/>
              <a:pathLst>
                <a:path h="590053" w="136145">
                  <a:moveTo>
                    <a:pt x="50813" y="22363"/>
                  </a:moveTo>
                  <a:cubicBezTo>
                    <a:pt x="127013" y="582433"/>
                    <a:pt x="116853" y="590053"/>
                    <a:pt x="107963" y="590053"/>
                  </a:cubicBezTo>
                  <a:cubicBezTo>
                    <a:pt x="99073" y="590053"/>
                    <a:pt x="90183" y="582433"/>
                    <a:pt x="82563" y="568463"/>
                  </a:cubicBezTo>
                  <a:cubicBezTo>
                    <a:pt x="52083" y="511313"/>
                    <a:pt x="8903" y="123963"/>
                    <a:pt x="20333" y="63003"/>
                  </a:cubicBezTo>
                  <a:cubicBezTo>
                    <a:pt x="22873" y="47763"/>
                    <a:pt x="27953" y="40143"/>
                    <a:pt x="34303" y="37603"/>
                  </a:cubicBezTo>
                  <a:cubicBezTo>
                    <a:pt x="41923" y="33793"/>
                    <a:pt x="55893" y="32523"/>
                    <a:pt x="63513" y="40143"/>
                  </a:cubicBezTo>
                  <a:cubicBezTo>
                    <a:pt x="92723" y="74433"/>
                    <a:pt x="90183" y="423683"/>
                    <a:pt x="69863" y="479563"/>
                  </a:cubicBezTo>
                  <a:cubicBezTo>
                    <a:pt x="64783" y="494803"/>
                    <a:pt x="55893" y="503693"/>
                    <a:pt x="47003" y="503693"/>
                  </a:cubicBezTo>
                  <a:cubicBezTo>
                    <a:pt x="39383" y="504963"/>
                    <a:pt x="26683" y="498613"/>
                    <a:pt x="20333" y="484643"/>
                  </a:cubicBezTo>
                  <a:cubicBezTo>
                    <a:pt x="-5067" y="437653"/>
                    <a:pt x="6363" y="130313"/>
                    <a:pt x="19063" y="80783"/>
                  </a:cubicBezTo>
                  <a:cubicBezTo>
                    <a:pt x="21603" y="69353"/>
                    <a:pt x="24143" y="64273"/>
                    <a:pt x="30493" y="60463"/>
                  </a:cubicBezTo>
                  <a:cubicBezTo>
                    <a:pt x="35573" y="56653"/>
                    <a:pt x="47003" y="52843"/>
                    <a:pt x="53353" y="57923"/>
                  </a:cubicBezTo>
                  <a:cubicBezTo>
                    <a:pt x="66053" y="65543"/>
                    <a:pt x="76213" y="94753"/>
                    <a:pt x="85103" y="130313"/>
                  </a:cubicBezTo>
                  <a:cubicBezTo>
                    <a:pt x="105423" y="207783"/>
                    <a:pt x="139713" y="473213"/>
                    <a:pt x="125743" y="527823"/>
                  </a:cubicBezTo>
                  <a:cubicBezTo>
                    <a:pt x="121933" y="543063"/>
                    <a:pt x="114313" y="554493"/>
                    <a:pt x="106693" y="555763"/>
                  </a:cubicBezTo>
                  <a:cubicBezTo>
                    <a:pt x="97803" y="557033"/>
                    <a:pt x="81293" y="545603"/>
                    <a:pt x="74943" y="534173"/>
                  </a:cubicBezTo>
                  <a:cubicBezTo>
                    <a:pt x="67323" y="516393"/>
                    <a:pt x="71133" y="464323"/>
                    <a:pt x="82563" y="451623"/>
                  </a:cubicBezTo>
                  <a:cubicBezTo>
                    <a:pt x="88913" y="444003"/>
                    <a:pt x="105423" y="441463"/>
                    <a:pt x="113043" y="444003"/>
                  </a:cubicBezTo>
                  <a:cubicBezTo>
                    <a:pt x="120663" y="447813"/>
                    <a:pt x="128283" y="463053"/>
                    <a:pt x="127013" y="470673"/>
                  </a:cubicBezTo>
                  <a:cubicBezTo>
                    <a:pt x="127013" y="479563"/>
                    <a:pt x="113043" y="490993"/>
                    <a:pt x="105423" y="492263"/>
                  </a:cubicBezTo>
                  <a:cubicBezTo>
                    <a:pt x="99073" y="494803"/>
                    <a:pt x="87643" y="489723"/>
                    <a:pt x="83833" y="484643"/>
                  </a:cubicBezTo>
                  <a:cubicBezTo>
                    <a:pt x="78753" y="479563"/>
                    <a:pt x="74943" y="468133"/>
                    <a:pt x="77483" y="461783"/>
                  </a:cubicBezTo>
                  <a:cubicBezTo>
                    <a:pt x="80023" y="454163"/>
                    <a:pt x="93993" y="442733"/>
                    <a:pt x="101613" y="442733"/>
                  </a:cubicBezTo>
                  <a:cubicBezTo>
                    <a:pt x="110503" y="441463"/>
                    <a:pt x="121933" y="450353"/>
                    <a:pt x="127013" y="460513"/>
                  </a:cubicBezTo>
                  <a:cubicBezTo>
                    <a:pt x="134633" y="475753"/>
                    <a:pt x="134633" y="517663"/>
                    <a:pt x="125743" y="534173"/>
                  </a:cubicBezTo>
                  <a:cubicBezTo>
                    <a:pt x="119393" y="545603"/>
                    <a:pt x="102883" y="557033"/>
                    <a:pt x="93993" y="555763"/>
                  </a:cubicBezTo>
                  <a:cubicBezTo>
                    <a:pt x="85103" y="554493"/>
                    <a:pt x="78753" y="541793"/>
                    <a:pt x="72403" y="524013"/>
                  </a:cubicBezTo>
                  <a:cubicBezTo>
                    <a:pt x="48273" y="463053"/>
                    <a:pt x="8903" y="134123"/>
                    <a:pt x="19063" y="80783"/>
                  </a:cubicBezTo>
                  <a:cubicBezTo>
                    <a:pt x="21603" y="69353"/>
                    <a:pt x="24143" y="64273"/>
                    <a:pt x="30493" y="60463"/>
                  </a:cubicBezTo>
                  <a:cubicBezTo>
                    <a:pt x="35573" y="56653"/>
                    <a:pt x="47003" y="54113"/>
                    <a:pt x="53353" y="57923"/>
                  </a:cubicBezTo>
                  <a:cubicBezTo>
                    <a:pt x="60973" y="60463"/>
                    <a:pt x="66053" y="68083"/>
                    <a:pt x="69863" y="80783"/>
                  </a:cubicBezTo>
                  <a:cubicBezTo>
                    <a:pt x="86373" y="132853"/>
                    <a:pt x="90183" y="426223"/>
                    <a:pt x="69863" y="479563"/>
                  </a:cubicBezTo>
                  <a:cubicBezTo>
                    <a:pt x="64783" y="494803"/>
                    <a:pt x="55893" y="503693"/>
                    <a:pt x="47003" y="503693"/>
                  </a:cubicBezTo>
                  <a:cubicBezTo>
                    <a:pt x="39383" y="504963"/>
                    <a:pt x="26683" y="498613"/>
                    <a:pt x="20333" y="484643"/>
                  </a:cubicBezTo>
                  <a:cubicBezTo>
                    <a:pt x="-6337" y="436383"/>
                    <a:pt x="1283" y="107453"/>
                    <a:pt x="20333" y="56653"/>
                  </a:cubicBezTo>
                  <a:cubicBezTo>
                    <a:pt x="25413" y="42683"/>
                    <a:pt x="33033" y="37603"/>
                    <a:pt x="40653" y="35063"/>
                  </a:cubicBezTo>
                  <a:cubicBezTo>
                    <a:pt x="47003" y="32523"/>
                    <a:pt x="55893" y="33793"/>
                    <a:pt x="63513" y="40143"/>
                  </a:cubicBezTo>
                  <a:cubicBezTo>
                    <a:pt x="85103" y="65543"/>
                    <a:pt x="93993" y="203973"/>
                    <a:pt x="105423" y="289063"/>
                  </a:cubicBezTo>
                  <a:cubicBezTo>
                    <a:pt x="118123" y="379233"/>
                    <a:pt x="144793" y="527823"/>
                    <a:pt x="133363" y="567193"/>
                  </a:cubicBezTo>
                  <a:cubicBezTo>
                    <a:pt x="128283" y="579893"/>
                    <a:pt x="121933" y="587513"/>
                    <a:pt x="114313" y="588783"/>
                  </a:cubicBezTo>
                  <a:cubicBezTo>
                    <a:pt x="105423" y="591323"/>
                    <a:pt x="92723" y="586243"/>
                    <a:pt x="83833" y="573543"/>
                  </a:cubicBezTo>
                  <a:cubicBezTo>
                    <a:pt x="48273" y="525283"/>
                    <a:pt x="17793" y="188733"/>
                    <a:pt x="7633" y="94753"/>
                  </a:cubicBezTo>
                  <a:cubicBezTo>
                    <a:pt x="3823" y="55383"/>
                    <a:pt x="-5067" y="24903"/>
                    <a:pt x="3823" y="10933"/>
                  </a:cubicBezTo>
                  <a:cubicBezTo>
                    <a:pt x="10173" y="2043"/>
                    <a:pt x="24143" y="-1767"/>
                    <a:pt x="31763" y="773"/>
                  </a:cubicBezTo>
                  <a:cubicBezTo>
                    <a:pt x="39383" y="2043"/>
                    <a:pt x="50813" y="22363"/>
                    <a:pt x="50813" y="22363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4487525" y="7482840"/>
            <a:ext cx="272415" cy="283845"/>
            <a:chOff x="0" y="0"/>
            <a:chExt cx="363220" cy="3784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47537" y="46714"/>
              <a:ext cx="264883" cy="279993"/>
            </a:xfrm>
            <a:custGeom>
              <a:avLst/>
              <a:gdLst/>
              <a:ahLst/>
              <a:cxnLst/>
              <a:rect r="r" b="b" t="t" l="l"/>
              <a:pathLst>
                <a:path h="279993" w="264883">
                  <a:moveTo>
                    <a:pt x="259803" y="209826"/>
                  </a:moveTo>
                  <a:cubicBezTo>
                    <a:pt x="248373" y="270786"/>
                    <a:pt x="239483" y="279676"/>
                    <a:pt x="230593" y="279676"/>
                  </a:cubicBezTo>
                  <a:cubicBezTo>
                    <a:pt x="224243" y="280946"/>
                    <a:pt x="215353" y="275866"/>
                    <a:pt x="210273" y="269516"/>
                  </a:cubicBezTo>
                  <a:cubicBezTo>
                    <a:pt x="200113" y="260626"/>
                    <a:pt x="187413" y="236496"/>
                    <a:pt x="188683" y="221256"/>
                  </a:cubicBezTo>
                  <a:cubicBezTo>
                    <a:pt x="189953" y="204746"/>
                    <a:pt x="203923" y="178076"/>
                    <a:pt x="214083" y="172996"/>
                  </a:cubicBezTo>
                  <a:cubicBezTo>
                    <a:pt x="221703" y="170456"/>
                    <a:pt x="231863" y="175536"/>
                    <a:pt x="238213" y="180616"/>
                  </a:cubicBezTo>
                  <a:cubicBezTo>
                    <a:pt x="245833" y="188236"/>
                    <a:pt x="253453" y="207286"/>
                    <a:pt x="253453" y="218716"/>
                  </a:cubicBezTo>
                  <a:cubicBezTo>
                    <a:pt x="252183" y="227606"/>
                    <a:pt x="247103" y="236496"/>
                    <a:pt x="240753" y="242846"/>
                  </a:cubicBezTo>
                  <a:cubicBezTo>
                    <a:pt x="234403" y="247926"/>
                    <a:pt x="222973" y="253006"/>
                    <a:pt x="212813" y="253006"/>
                  </a:cubicBezTo>
                  <a:cubicBezTo>
                    <a:pt x="203923" y="253006"/>
                    <a:pt x="191223" y="247926"/>
                    <a:pt x="183603" y="241576"/>
                  </a:cubicBezTo>
                  <a:cubicBezTo>
                    <a:pt x="177253" y="235226"/>
                    <a:pt x="172173" y="226336"/>
                    <a:pt x="169633" y="216176"/>
                  </a:cubicBezTo>
                  <a:cubicBezTo>
                    <a:pt x="165823" y="204746"/>
                    <a:pt x="164553" y="183156"/>
                    <a:pt x="170903" y="174266"/>
                  </a:cubicBezTo>
                  <a:cubicBezTo>
                    <a:pt x="175983" y="166646"/>
                    <a:pt x="195033" y="161566"/>
                    <a:pt x="202653" y="165376"/>
                  </a:cubicBezTo>
                  <a:cubicBezTo>
                    <a:pt x="210273" y="167916"/>
                    <a:pt x="217893" y="181886"/>
                    <a:pt x="216623" y="190776"/>
                  </a:cubicBezTo>
                  <a:cubicBezTo>
                    <a:pt x="216623" y="198396"/>
                    <a:pt x="205193" y="211096"/>
                    <a:pt x="196303" y="214906"/>
                  </a:cubicBezTo>
                  <a:cubicBezTo>
                    <a:pt x="188683" y="217446"/>
                    <a:pt x="173443" y="213636"/>
                    <a:pt x="167093" y="208556"/>
                  </a:cubicBezTo>
                  <a:cubicBezTo>
                    <a:pt x="159473" y="202206"/>
                    <a:pt x="155663" y="186966"/>
                    <a:pt x="156933" y="179346"/>
                  </a:cubicBezTo>
                  <a:cubicBezTo>
                    <a:pt x="158203" y="172996"/>
                    <a:pt x="167093" y="164106"/>
                    <a:pt x="173443" y="162836"/>
                  </a:cubicBezTo>
                  <a:cubicBezTo>
                    <a:pt x="179793" y="160296"/>
                    <a:pt x="191223" y="161566"/>
                    <a:pt x="196303" y="166646"/>
                  </a:cubicBezTo>
                  <a:cubicBezTo>
                    <a:pt x="202653" y="171726"/>
                    <a:pt x="206463" y="184426"/>
                    <a:pt x="205193" y="193316"/>
                  </a:cubicBezTo>
                  <a:cubicBezTo>
                    <a:pt x="205193" y="203476"/>
                    <a:pt x="196303" y="216176"/>
                    <a:pt x="188683" y="223796"/>
                  </a:cubicBezTo>
                  <a:cubicBezTo>
                    <a:pt x="179793" y="230146"/>
                    <a:pt x="169633" y="233956"/>
                    <a:pt x="156933" y="235226"/>
                  </a:cubicBezTo>
                  <a:cubicBezTo>
                    <a:pt x="140423" y="236496"/>
                    <a:pt x="112483" y="231416"/>
                    <a:pt x="92163" y="223796"/>
                  </a:cubicBezTo>
                  <a:cubicBezTo>
                    <a:pt x="71843" y="214906"/>
                    <a:pt x="50253" y="197126"/>
                    <a:pt x="35013" y="183156"/>
                  </a:cubicBezTo>
                  <a:cubicBezTo>
                    <a:pt x="22313" y="170456"/>
                    <a:pt x="12153" y="157756"/>
                    <a:pt x="7073" y="141246"/>
                  </a:cubicBezTo>
                  <a:cubicBezTo>
                    <a:pt x="723" y="126006"/>
                    <a:pt x="-3087" y="101876"/>
                    <a:pt x="3263" y="86636"/>
                  </a:cubicBezTo>
                  <a:cubicBezTo>
                    <a:pt x="8343" y="72666"/>
                    <a:pt x="24853" y="61236"/>
                    <a:pt x="37553" y="52346"/>
                  </a:cubicBezTo>
                  <a:cubicBezTo>
                    <a:pt x="50253" y="44726"/>
                    <a:pt x="66763" y="39646"/>
                    <a:pt x="80733" y="38376"/>
                  </a:cubicBezTo>
                  <a:cubicBezTo>
                    <a:pt x="94703" y="37106"/>
                    <a:pt x="111213" y="37106"/>
                    <a:pt x="123913" y="43456"/>
                  </a:cubicBezTo>
                  <a:cubicBezTo>
                    <a:pt x="135343" y="48536"/>
                    <a:pt x="145503" y="58696"/>
                    <a:pt x="153123" y="70126"/>
                  </a:cubicBezTo>
                  <a:cubicBezTo>
                    <a:pt x="159473" y="80286"/>
                    <a:pt x="165823" y="94256"/>
                    <a:pt x="164553" y="108226"/>
                  </a:cubicBezTo>
                  <a:cubicBezTo>
                    <a:pt x="163283" y="129816"/>
                    <a:pt x="142963" y="167916"/>
                    <a:pt x="128993" y="180616"/>
                  </a:cubicBezTo>
                  <a:cubicBezTo>
                    <a:pt x="121373" y="188236"/>
                    <a:pt x="113753" y="192046"/>
                    <a:pt x="104863" y="193316"/>
                  </a:cubicBezTo>
                  <a:cubicBezTo>
                    <a:pt x="95973" y="193316"/>
                    <a:pt x="82003" y="189506"/>
                    <a:pt x="75653" y="181886"/>
                  </a:cubicBezTo>
                  <a:cubicBezTo>
                    <a:pt x="66763" y="171726"/>
                    <a:pt x="60413" y="141246"/>
                    <a:pt x="65493" y="128546"/>
                  </a:cubicBezTo>
                  <a:cubicBezTo>
                    <a:pt x="69303" y="119656"/>
                    <a:pt x="80733" y="112036"/>
                    <a:pt x="89623" y="112036"/>
                  </a:cubicBezTo>
                  <a:cubicBezTo>
                    <a:pt x="97243" y="112036"/>
                    <a:pt x="108673" y="119656"/>
                    <a:pt x="113753" y="128546"/>
                  </a:cubicBezTo>
                  <a:cubicBezTo>
                    <a:pt x="118833" y="138706"/>
                    <a:pt x="121373" y="159026"/>
                    <a:pt x="117563" y="172996"/>
                  </a:cubicBezTo>
                  <a:cubicBezTo>
                    <a:pt x="115023" y="186966"/>
                    <a:pt x="103593" y="208556"/>
                    <a:pt x="92163" y="213636"/>
                  </a:cubicBezTo>
                  <a:cubicBezTo>
                    <a:pt x="83273" y="217446"/>
                    <a:pt x="66763" y="214906"/>
                    <a:pt x="59143" y="207286"/>
                  </a:cubicBezTo>
                  <a:cubicBezTo>
                    <a:pt x="50253" y="198396"/>
                    <a:pt x="47713" y="178076"/>
                    <a:pt x="45173" y="157756"/>
                  </a:cubicBezTo>
                  <a:cubicBezTo>
                    <a:pt x="42633" y="128546"/>
                    <a:pt x="42633" y="75206"/>
                    <a:pt x="55333" y="48536"/>
                  </a:cubicBezTo>
                  <a:cubicBezTo>
                    <a:pt x="64223" y="28216"/>
                    <a:pt x="83273" y="10436"/>
                    <a:pt x="101053" y="4086"/>
                  </a:cubicBezTo>
                  <a:cubicBezTo>
                    <a:pt x="120103" y="-3534"/>
                    <a:pt x="146773" y="276"/>
                    <a:pt x="167093" y="9166"/>
                  </a:cubicBezTo>
                  <a:cubicBezTo>
                    <a:pt x="188683" y="16786"/>
                    <a:pt x="212813" y="37106"/>
                    <a:pt x="226783" y="56156"/>
                  </a:cubicBezTo>
                  <a:cubicBezTo>
                    <a:pt x="240753" y="73936"/>
                    <a:pt x="248373" y="99336"/>
                    <a:pt x="254723" y="118386"/>
                  </a:cubicBezTo>
                  <a:cubicBezTo>
                    <a:pt x="259803" y="133626"/>
                    <a:pt x="264883" y="146326"/>
                    <a:pt x="264883" y="160296"/>
                  </a:cubicBezTo>
                  <a:cubicBezTo>
                    <a:pt x="263613" y="174266"/>
                    <a:pt x="259803" y="192046"/>
                    <a:pt x="250913" y="200936"/>
                  </a:cubicBezTo>
                  <a:cubicBezTo>
                    <a:pt x="240753" y="209826"/>
                    <a:pt x="224243" y="216176"/>
                    <a:pt x="207733" y="214906"/>
                  </a:cubicBezTo>
                  <a:cubicBezTo>
                    <a:pt x="184873" y="212366"/>
                    <a:pt x="137883" y="184426"/>
                    <a:pt x="122643" y="165376"/>
                  </a:cubicBezTo>
                  <a:cubicBezTo>
                    <a:pt x="112483" y="152676"/>
                    <a:pt x="106133" y="134896"/>
                    <a:pt x="109943" y="123466"/>
                  </a:cubicBezTo>
                  <a:cubicBezTo>
                    <a:pt x="113753" y="112036"/>
                    <a:pt x="136613" y="99336"/>
                    <a:pt x="149313" y="99336"/>
                  </a:cubicBezTo>
                  <a:cubicBezTo>
                    <a:pt x="159473" y="99336"/>
                    <a:pt x="170903" y="108226"/>
                    <a:pt x="179793" y="117116"/>
                  </a:cubicBezTo>
                  <a:cubicBezTo>
                    <a:pt x="188683" y="127276"/>
                    <a:pt x="202653" y="142516"/>
                    <a:pt x="201383" y="157756"/>
                  </a:cubicBezTo>
                  <a:cubicBezTo>
                    <a:pt x="200113" y="176806"/>
                    <a:pt x="168363" y="216176"/>
                    <a:pt x="153123" y="221256"/>
                  </a:cubicBezTo>
                  <a:cubicBezTo>
                    <a:pt x="142963" y="225066"/>
                    <a:pt x="125183" y="212366"/>
                    <a:pt x="125183" y="213636"/>
                  </a:cubicBezTo>
                  <a:cubicBezTo>
                    <a:pt x="125183" y="214906"/>
                    <a:pt x="135343" y="222526"/>
                    <a:pt x="136613" y="221256"/>
                  </a:cubicBezTo>
                  <a:cubicBezTo>
                    <a:pt x="137883" y="219986"/>
                    <a:pt x="118833" y="195856"/>
                    <a:pt x="121373" y="188236"/>
                  </a:cubicBezTo>
                  <a:cubicBezTo>
                    <a:pt x="122643" y="180616"/>
                    <a:pt x="131533" y="172996"/>
                    <a:pt x="139153" y="172996"/>
                  </a:cubicBezTo>
                  <a:cubicBezTo>
                    <a:pt x="146773" y="171726"/>
                    <a:pt x="162013" y="179346"/>
                    <a:pt x="167093" y="185696"/>
                  </a:cubicBezTo>
                  <a:cubicBezTo>
                    <a:pt x="170903" y="192046"/>
                    <a:pt x="170903" y="203476"/>
                    <a:pt x="167093" y="209826"/>
                  </a:cubicBezTo>
                  <a:cubicBezTo>
                    <a:pt x="162013" y="216176"/>
                    <a:pt x="146773" y="223796"/>
                    <a:pt x="139153" y="222526"/>
                  </a:cubicBezTo>
                  <a:cubicBezTo>
                    <a:pt x="131533" y="221256"/>
                    <a:pt x="122643" y="213636"/>
                    <a:pt x="120103" y="207286"/>
                  </a:cubicBezTo>
                  <a:cubicBezTo>
                    <a:pt x="118833" y="199666"/>
                    <a:pt x="123913" y="183156"/>
                    <a:pt x="128993" y="176806"/>
                  </a:cubicBezTo>
                  <a:cubicBezTo>
                    <a:pt x="132803" y="172996"/>
                    <a:pt x="139153" y="170456"/>
                    <a:pt x="144233" y="171726"/>
                  </a:cubicBezTo>
                  <a:cubicBezTo>
                    <a:pt x="153123" y="174266"/>
                    <a:pt x="169633" y="189506"/>
                    <a:pt x="169633" y="198396"/>
                  </a:cubicBezTo>
                  <a:cubicBezTo>
                    <a:pt x="170903" y="206016"/>
                    <a:pt x="160743" y="218716"/>
                    <a:pt x="153123" y="221256"/>
                  </a:cubicBezTo>
                  <a:cubicBezTo>
                    <a:pt x="145503" y="223796"/>
                    <a:pt x="130263" y="218716"/>
                    <a:pt x="125183" y="213636"/>
                  </a:cubicBezTo>
                  <a:cubicBezTo>
                    <a:pt x="121373" y="211096"/>
                    <a:pt x="118833" y="206016"/>
                    <a:pt x="120103" y="203476"/>
                  </a:cubicBezTo>
                  <a:cubicBezTo>
                    <a:pt x="122643" y="197126"/>
                    <a:pt x="153123" y="199666"/>
                    <a:pt x="158203" y="190776"/>
                  </a:cubicBezTo>
                  <a:cubicBezTo>
                    <a:pt x="162013" y="183156"/>
                    <a:pt x="154393" y="165376"/>
                    <a:pt x="148043" y="156486"/>
                  </a:cubicBezTo>
                  <a:cubicBezTo>
                    <a:pt x="142963" y="148866"/>
                    <a:pt x="126453" y="143786"/>
                    <a:pt x="127723" y="139976"/>
                  </a:cubicBezTo>
                  <a:cubicBezTo>
                    <a:pt x="128993" y="136166"/>
                    <a:pt x="159473" y="136166"/>
                    <a:pt x="174713" y="139976"/>
                  </a:cubicBezTo>
                  <a:cubicBezTo>
                    <a:pt x="188683" y="145056"/>
                    <a:pt x="210273" y="174266"/>
                    <a:pt x="215353" y="170456"/>
                  </a:cubicBezTo>
                  <a:cubicBezTo>
                    <a:pt x="220433" y="166646"/>
                    <a:pt x="205193" y="112036"/>
                    <a:pt x="192493" y="92986"/>
                  </a:cubicBezTo>
                  <a:cubicBezTo>
                    <a:pt x="182333" y="76476"/>
                    <a:pt x="168363" y="65046"/>
                    <a:pt x="154393" y="57426"/>
                  </a:cubicBezTo>
                  <a:cubicBezTo>
                    <a:pt x="142963" y="51076"/>
                    <a:pt x="127723" y="40916"/>
                    <a:pt x="118833" y="45996"/>
                  </a:cubicBezTo>
                  <a:cubicBezTo>
                    <a:pt x="106133" y="51076"/>
                    <a:pt x="94703" y="77746"/>
                    <a:pt x="92163" y="98066"/>
                  </a:cubicBezTo>
                  <a:cubicBezTo>
                    <a:pt x="87083" y="126006"/>
                    <a:pt x="111213" y="180616"/>
                    <a:pt x="103593" y="199666"/>
                  </a:cubicBezTo>
                  <a:cubicBezTo>
                    <a:pt x="99783" y="209826"/>
                    <a:pt x="88353" y="217446"/>
                    <a:pt x="80733" y="217446"/>
                  </a:cubicBezTo>
                  <a:cubicBezTo>
                    <a:pt x="73113" y="217446"/>
                    <a:pt x="60413" y="211096"/>
                    <a:pt x="56603" y="202206"/>
                  </a:cubicBezTo>
                  <a:cubicBezTo>
                    <a:pt x="48983" y="185696"/>
                    <a:pt x="60413" y="129816"/>
                    <a:pt x="71843" y="118386"/>
                  </a:cubicBezTo>
                  <a:cubicBezTo>
                    <a:pt x="79463" y="112036"/>
                    <a:pt x="93433" y="112036"/>
                    <a:pt x="101053" y="114576"/>
                  </a:cubicBezTo>
                  <a:cubicBezTo>
                    <a:pt x="107403" y="117116"/>
                    <a:pt x="116293" y="128546"/>
                    <a:pt x="115023" y="133626"/>
                  </a:cubicBezTo>
                  <a:cubicBezTo>
                    <a:pt x="113753" y="138706"/>
                    <a:pt x="93433" y="147596"/>
                    <a:pt x="92163" y="146326"/>
                  </a:cubicBezTo>
                  <a:cubicBezTo>
                    <a:pt x="90893" y="143786"/>
                    <a:pt x="116293" y="124736"/>
                    <a:pt x="116293" y="115846"/>
                  </a:cubicBezTo>
                  <a:cubicBezTo>
                    <a:pt x="116293" y="105686"/>
                    <a:pt x="103593" y="89176"/>
                    <a:pt x="93433" y="87906"/>
                  </a:cubicBezTo>
                  <a:cubicBezTo>
                    <a:pt x="82003" y="85366"/>
                    <a:pt x="51523" y="103146"/>
                    <a:pt x="50253" y="115846"/>
                  </a:cubicBezTo>
                  <a:cubicBezTo>
                    <a:pt x="47713" y="131086"/>
                    <a:pt x="85813" y="164106"/>
                    <a:pt x="104863" y="174266"/>
                  </a:cubicBezTo>
                  <a:cubicBezTo>
                    <a:pt x="118833" y="183156"/>
                    <a:pt x="137883" y="178076"/>
                    <a:pt x="148043" y="185696"/>
                  </a:cubicBezTo>
                  <a:cubicBezTo>
                    <a:pt x="156933" y="190776"/>
                    <a:pt x="164553" y="207286"/>
                    <a:pt x="165823" y="207286"/>
                  </a:cubicBezTo>
                  <a:cubicBezTo>
                    <a:pt x="168363" y="206016"/>
                    <a:pt x="154393" y="180616"/>
                    <a:pt x="159473" y="174266"/>
                  </a:cubicBezTo>
                  <a:cubicBezTo>
                    <a:pt x="164553" y="166646"/>
                    <a:pt x="195033" y="164106"/>
                    <a:pt x="196303" y="166646"/>
                  </a:cubicBezTo>
                  <a:cubicBezTo>
                    <a:pt x="197573" y="167916"/>
                    <a:pt x="167093" y="186966"/>
                    <a:pt x="167093" y="185696"/>
                  </a:cubicBezTo>
                  <a:cubicBezTo>
                    <a:pt x="165823" y="185696"/>
                    <a:pt x="188683" y="162836"/>
                    <a:pt x="196303" y="162836"/>
                  </a:cubicBezTo>
                  <a:cubicBezTo>
                    <a:pt x="203923" y="162836"/>
                    <a:pt x="211543" y="170456"/>
                    <a:pt x="215353" y="178076"/>
                  </a:cubicBezTo>
                  <a:cubicBezTo>
                    <a:pt x="220433" y="186966"/>
                    <a:pt x="211543" y="214906"/>
                    <a:pt x="216623" y="217446"/>
                  </a:cubicBezTo>
                  <a:cubicBezTo>
                    <a:pt x="221703" y="219986"/>
                    <a:pt x="235673" y="200936"/>
                    <a:pt x="238213" y="202206"/>
                  </a:cubicBezTo>
                  <a:cubicBezTo>
                    <a:pt x="242023" y="204746"/>
                    <a:pt x="231863" y="226336"/>
                    <a:pt x="235673" y="236496"/>
                  </a:cubicBezTo>
                  <a:cubicBezTo>
                    <a:pt x="238213" y="245386"/>
                    <a:pt x="254723" y="254276"/>
                    <a:pt x="253453" y="261896"/>
                  </a:cubicBezTo>
                  <a:cubicBezTo>
                    <a:pt x="253453" y="268246"/>
                    <a:pt x="243293" y="277136"/>
                    <a:pt x="236943" y="278406"/>
                  </a:cubicBezTo>
                  <a:cubicBezTo>
                    <a:pt x="230593" y="280946"/>
                    <a:pt x="219163" y="280946"/>
                    <a:pt x="214083" y="274596"/>
                  </a:cubicBezTo>
                  <a:cubicBezTo>
                    <a:pt x="205193" y="263166"/>
                    <a:pt x="202653" y="208556"/>
                    <a:pt x="212813" y="194586"/>
                  </a:cubicBezTo>
                  <a:cubicBezTo>
                    <a:pt x="219163" y="185696"/>
                    <a:pt x="236943" y="181886"/>
                    <a:pt x="244563" y="184426"/>
                  </a:cubicBezTo>
                  <a:cubicBezTo>
                    <a:pt x="252183" y="188236"/>
                    <a:pt x="259803" y="209826"/>
                    <a:pt x="259803" y="209826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65" id="65"/>
          <p:cNvSpPr txBox="true"/>
          <p:nvPr/>
        </p:nvSpPr>
        <p:spPr>
          <a:xfrm rot="0">
            <a:off x="15147067" y="7073265"/>
            <a:ext cx="3140933" cy="2389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5"/>
              </a:lnSpc>
            </a:pPr>
            <a:r>
              <a:rPr lang="en-US" sz="154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Was heißt das überhaupt?</a:t>
            </a:r>
          </a:p>
          <a:p>
            <a:pPr algn="l">
              <a:lnSpc>
                <a:spcPts val="2165"/>
              </a:lnSpc>
            </a:pPr>
          </a:p>
          <a:p>
            <a:pPr algn="l">
              <a:lnSpc>
                <a:spcPts val="2165"/>
              </a:lnSpc>
            </a:pPr>
            <a:r>
              <a:rPr lang="en-US" sz="154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Etwas quatschig. Deswegen immer dran denken, alles zu verstehen, was auf den Folien stehen</a:t>
            </a:r>
          </a:p>
          <a:p>
            <a:pPr algn="l">
              <a:lnSpc>
                <a:spcPts val="2165"/>
              </a:lnSpc>
            </a:pPr>
          </a:p>
          <a:p>
            <a:pPr algn="l">
              <a:lnSpc>
                <a:spcPts val="2165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⟶ </a:t>
            </a:r>
            <a:r>
              <a:rPr lang="en-US" b="true" sz="1546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Kostenelastizität</a:t>
            </a:r>
            <a:r>
              <a:rPr lang="en-US" sz="154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: Wir zahlen nur für die Dienste die genutzt werden müssen bezahlt werden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62050"/>
            <a:ext cx="163250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0E7C86"/>
                </a:solidFill>
                <a:latin typeface="Arimo Bold"/>
                <a:ea typeface="Arimo Bold"/>
                <a:cs typeface="Arimo Bold"/>
                <a:sym typeface="Arimo Bold"/>
              </a:rPr>
              <a:t>RISIKOBEWERTUNG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10633"/>
            <a:ext cx="13735050" cy="605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172A3F"/>
                </a:solidFill>
                <a:latin typeface="Arimo Bold"/>
                <a:ea typeface="Arimo Bold"/>
                <a:cs typeface="Arimo Bold"/>
                <a:sym typeface="Arimo Bold"/>
              </a:rPr>
              <a:t>Risiken der Migration – und die Antwort darauf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219200" y="2659262"/>
          <a:ext cx="15792450" cy="5151967"/>
        </p:xfrm>
        <a:graphic>
          <a:graphicData uri="http://schemas.openxmlformats.org/drawingml/2006/table">
            <a:tbl>
              <a:tblPr/>
              <a:tblGrid>
                <a:gridCol w="4886635"/>
                <a:gridCol w="2383908"/>
                <a:gridCol w="2383908"/>
                <a:gridCol w="6137999"/>
              </a:tblGrid>
              <a:tr h="6785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Risiko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Eintritt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Auswirkung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Gegenmaßnahme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3"/>
                    </a:solidFill>
                  </a:tcPr>
                </a:tc>
              </a:tr>
              <a:tr h="10407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2E3A46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Datenverlust bei der Migration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Mittel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Hoch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Parallelbetrieb, Abgleich und Validierung vor Cutover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74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2E3A46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Ausfall der Datenerfassung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Mittel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Hoch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Georedundanz und automatisches Failover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6874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2E3A46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Fehlkonfiguration der Cloud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Mittel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Mittel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Infrastructure as Code und Vier-Augen-Reviews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68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2E3A46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Unbefugter Datenzugriff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Niedrig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Hoch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Verschlüsselung und striktes Rechtekonzept (IAM)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10407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2E3A46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DSGVO-Verstoß bei Standortdaten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Niedrig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Hoch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Datenschutzkonzept, Pseudonymisierung, EU-Region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219200" y="9319317"/>
            <a:ext cx="3207039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97A4"/>
                </a:solidFill>
                <a:latin typeface="IBM Plex Sans"/>
                <a:ea typeface="IBM Plex Sans"/>
                <a:cs typeface="IBM Plex Sans"/>
                <a:sym typeface="IBM Plex Sans"/>
              </a:rPr>
              <a:t>Cloud-Migration IoT-Telematik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24659" y="9319317"/>
            <a:ext cx="820341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97A4"/>
                </a:solidFill>
                <a:latin typeface="IBM Plex Sans"/>
                <a:ea typeface="IBM Plex Sans"/>
                <a:cs typeface="IBM Plex Sans"/>
                <a:sym typeface="IBM Plex Sans"/>
              </a:rPr>
              <a:t>05 / 12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84810" y="3729990"/>
            <a:ext cx="771525" cy="125730"/>
            <a:chOff x="0" y="0"/>
            <a:chExt cx="1028700" cy="167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0800" y="50800"/>
              <a:ext cx="928850" cy="77833"/>
            </a:xfrm>
            <a:custGeom>
              <a:avLst/>
              <a:gdLst/>
              <a:ahLst/>
              <a:cxnLst/>
              <a:rect r="r" b="b" t="t" l="l"/>
              <a:pathLst>
                <a:path h="77833" w="928850">
                  <a:moveTo>
                    <a:pt x="25400" y="0"/>
                  </a:moveTo>
                  <a:cubicBezTo>
                    <a:pt x="887730" y="8890"/>
                    <a:pt x="910590" y="8890"/>
                    <a:pt x="920750" y="20320"/>
                  </a:cubicBezTo>
                  <a:cubicBezTo>
                    <a:pt x="928370" y="27940"/>
                    <a:pt x="930910" y="43180"/>
                    <a:pt x="927100" y="50800"/>
                  </a:cubicBezTo>
                  <a:cubicBezTo>
                    <a:pt x="923290" y="57150"/>
                    <a:pt x="906780" y="64770"/>
                    <a:pt x="899160" y="63500"/>
                  </a:cubicBezTo>
                  <a:cubicBezTo>
                    <a:pt x="892810" y="63500"/>
                    <a:pt x="883920" y="55880"/>
                    <a:pt x="881380" y="48260"/>
                  </a:cubicBezTo>
                  <a:cubicBezTo>
                    <a:pt x="877570" y="41910"/>
                    <a:pt x="878840" y="30480"/>
                    <a:pt x="882650" y="25400"/>
                  </a:cubicBezTo>
                  <a:cubicBezTo>
                    <a:pt x="886460" y="19050"/>
                    <a:pt x="896620" y="13970"/>
                    <a:pt x="904240" y="13970"/>
                  </a:cubicBezTo>
                  <a:cubicBezTo>
                    <a:pt x="910590" y="13970"/>
                    <a:pt x="920750" y="17780"/>
                    <a:pt x="924560" y="24130"/>
                  </a:cubicBezTo>
                  <a:cubicBezTo>
                    <a:pt x="929640" y="31750"/>
                    <a:pt x="928370" y="48260"/>
                    <a:pt x="923290" y="54610"/>
                  </a:cubicBezTo>
                  <a:cubicBezTo>
                    <a:pt x="919480" y="60960"/>
                    <a:pt x="915670" y="62230"/>
                    <a:pt x="901700" y="64770"/>
                  </a:cubicBezTo>
                  <a:cubicBezTo>
                    <a:pt x="822960" y="80010"/>
                    <a:pt x="109220" y="88900"/>
                    <a:pt x="25400" y="50800"/>
                  </a:cubicBezTo>
                  <a:cubicBezTo>
                    <a:pt x="7620" y="41910"/>
                    <a:pt x="0" y="30480"/>
                    <a:pt x="0" y="21590"/>
                  </a:cubicBezTo>
                  <a:cubicBezTo>
                    <a:pt x="1270" y="13970"/>
                    <a:pt x="25400" y="0"/>
                    <a:pt x="25400" y="0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43915" y="3600450"/>
            <a:ext cx="291465" cy="523875"/>
            <a:chOff x="0" y="0"/>
            <a:chExt cx="388620" cy="698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0342" y="49733"/>
              <a:ext cx="287478" cy="600885"/>
            </a:xfrm>
            <a:custGeom>
              <a:avLst/>
              <a:gdLst/>
              <a:ahLst/>
              <a:cxnLst/>
              <a:rect r="r" b="b" t="t" l="l"/>
              <a:pathLst>
                <a:path h="600885" w="287478">
                  <a:moveTo>
                    <a:pt x="102058" y="4877"/>
                  </a:moveTo>
                  <a:cubicBezTo>
                    <a:pt x="283668" y="255067"/>
                    <a:pt x="287478" y="262687"/>
                    <a:pt x="287478" y="275387"/>
                  </a:cubicBezTo>
                  <a:cubicBezTo>
                    <a:pt x="286208" y="288087"/>
                    <a:pt x="281128" y="295707"/>
                    <a:pt x="269698" y="313487"/>
                  </a:cubicBezTo>
                  <a:cubicBezTo>
                    <a:pt x="237948" y="365557"/>
                    <a:pt x="88088" y="580187"/>
                    <a:pt x="39828" y="597967"/>
                  </a:cubicBezTo>
                  <a:cubicBezTo>
                    <a:pt x="25858" y="604317"/>
                    <a:pt x="9348" y="599237"/>
                    <a:pt x="4268" y="592887"/>
                  </a:cubicBezTo>
                  <a:cubicBezTo>
                    <a:pt x="-812" y="586537"/>
                    <a:pt x="458" y="567487"/>
                    <a:pt x="5538" y="562407"/>
                  </a:cubicBezTo>
                  <a:cubicBezTo>
                    <a:pt x="11888" y="556057"/>
                    <a:pt x="36018" y="553517"/>
                    <a:pt x="42368" y="559867"/>
                  </a:cubicBezTo>
                  <a:cubicBezTo>
                    <a:pt x="48718" y="564947"/>
                    <a:pt x="48718" y="590347"/>
                    <a:pt x="42368" y="596697"/>
                  </a:cubicBezTo>
                  <a:cubicBezTo>
                    <a:pt x="36018" y="601777"/>
                    <a:pt x="11888" y="600507"/>
                    <a:pt x="5538" y="594157"/>
                  </a:cubicBezTo>
                  <a:cubicBezTo>
                    <a:pt x="458" y="590347"/>
                    <a:pt x="-812" y="580187"/>
                    <a:pt x="458" y="571297"/>
                  </a:cubicBezTo>
                  <a:cubicBezTo>
                    <a:pt x="2998" y="557327"/>
                    <a:pt x="15698" y="544627"/>
                    <a:pt x="30938" y="523037"/>
                  </a:cubicBezTo>
                  <a:cubicBezTo>
                    <a:pt x="67768" y="473507"/>
                    <a:pt x="211278" y="329997"/>
                    <a:pt x="226518" y="288087"/>
                  </a:cubicBezTo>
                  <a:cubicBezTo>
                    <a:pt x="230328" y="275387"/>
                    <a:pt x="230328" y="272847"/>
                    <a:pt x="226518" y="260147"/>
                  </a:cubicBezTo>
                  <a:cubicBezTo>
                    <a:pt x="212548" y="219507"/>
                    <a:pt x="69038" y="77267"/>
                    <a:pt x="60148" y="34087"/>
                  </a:cubicBezTo>
                  <a:cubicBezTo>
                    <a:pt x="57608" y="20117"/>
                    <a:pt x="61418" y="6147"/>
                    <a:pt x="67768" y="1067"/>
                  </a:cubicBezTo>
                  <a:cubicBezTo>
                    <a:pt x="75388" y="-2743"/>
                    <a:pt x="102058" y="4877"/>
                    <a:pt x="102058" y="4877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930265" y="3327083"/>
            <a:ext cx="1207770" cy="1012507"/>
            <a:chOff x="0" y="0"/>
            <a:chExt cx="1610360" cy="13500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3790" y="46355"/>
              <a:ext cx="1516097" cy="1273706"/>
            </a:xfrm>
            <a:custGeom>
              <a:avLst/>
              <a:gdLst/>
              <a:ahLst/>
              <a:cxnLst/>
              <a:rect r="r" b="b" t="t" l="l"/>
              <a:pathLst>
                <a:path h="1273706" w="1516097">
                  <a:moveTo>
                    <a:pt x="1414170" y="88265"/>
                  </a:moveTo>
                  <a:cubicBezTo>
                    <a:pt x="592480" y="50165"/>
                    <a:pt x="423570" y="47625"/>
                    <a:pt x="295300" y="53975"/>
                  </a:cubicBezTo>
                  <a:cubicBezTo>
                    <a:pt x="203860" y="59055"/>
                    <a:pt x="99720" y="36195"/>
                    <a:pt x="61620" y="78105"/>
                  </a:cubicBezTo>
                  <a:cubicBezTo>
                    <a:pt x="26060" y="116205"/>
                    <a:pt x="56540" y="210185"/>
                    <a:pt x="59080" y="281305"/>
                  </a:cubicBezTo>
                  <a:cubicBezTo>
                    <a:pt x="62890" y="362585"/>
                    <a:pt x="81940" y="450215"/>
                    <a:pt x="87020" y="540385"/>
                  </a:cubicBezTo>
                  <a:cubicBezTo>
                    <a:pt x="93370" y="639445"/>
                    <a:pt x="95910" y="744855"/>
                    <a:pt x="93370" y="850265"/>
                  </a:cubicBezTo>
                  <a:cubicBezTo>
                    <a:pt x="89560" y="960755"/>
                    <a:pt x="22250" y="1137285"/>
                    <a:pt x="64160" y="1188085"/>
                  </a:cubicBezTo>
                  <a:cubicBezTo>
                    <a:pt x="92100" y="1222375"/>
                    <a:pt x="142900" y="1202055"/>
                    <a:pt x="219100" y="1205865"/>
                  </a:cubicBezTo>
                  <a:cubicBezTo>
                    <a:pt x="437540" y="1216025"/>
                    <a:pt x="1437030" y="1141095"/>
                    <a:pt x="1478940" y="1191895"/>
                  </a:cubicBezTo>
                  <a:cubicBezTo>
                    <a:pt x="1485290" y="1199515"/>
                    <a:pt x="1477670" y="1217295"/>
                    <a:pt x="1473860" y="1218565"/>
                  </a:cubicBezTo>
                  <a:cubicBezTo>
                    <a:pt x="1466240" y="1219835"/>
                    <a:pt x="1440840" y="1166495"/>
                    <a:pt x="1430680" y="1141095"/>
                  </a:cubicBezTo>
                  <a:cubicBezTo>
                    <a:pt x="1421790" y="1119505"/>
                    <a:pt x="1419250" y="1102995"/>
                    <a:pt x="1412900" y="1075055"/>
                  </a:cubicBezTo>
                  <a:cubicBezTo>
                    <a:pt x="1402740" y="1024255"/>
                    <a:pt x="1392580" y="958215"/>
                    <a:pt x="1384960" y="865505"/>
                  </a:cubicBezTo>
                  <a:cubicBezTo>
                    <a:pt x="1370990" y="685165"/>
                    <a:pt x="1335430" y="146685"/>
                    <a:pt x="1368450" y="66675"/>
                  </a:cubicBezTo>
                  <a:cubicBezTo>
                    <a:pt x="1376070" y="50165"/>
                    <a:pt x="1387500" y="42545"/>
                    <a:pt x="1395120" y="41275"/>
                  </a:cubicBezTo>
                  <a:cubicBezTo>
                    <a:pt x="1404010" y="41275"/>
                    <a:pt x="1416710" y="53975"/>
                    <a:pt x="1419250" y="61595"/>
                  </a:cubicBezTo>
                  <a:cubicBezTo>
                    <a:pt x="1421790" y="67945"/>
                    <a:pt x="1417980" y="79375"/>
                    <a:pt x="1412900" y="84455"/>
                  </a:cubicBezTo>
                  <a:cubicBezTo>
                    <a:pt x="1406550" y="89535"/>
                    <a:pt x="1390040" y="93345"/>
                    <a:pt x="1382420" y="89535"/>
                  </a:cubicBezTo>
                  <a:cubicBezTo>
                    <a:pt x="1376070" y="86995"/>
                    <a:pt x="1368450" y="76835"/>
                    <a:pt x="1369720" y="70485"/>
                  </a:cubicBezTo>
                  <a:cubicBezTo>
                    <a:pt x="1369720" y="61595"/>
                    <a:pt x="1384960" y="42545"/>
                    <a:pt x="1392580" y="41275"/>
                  </a:cubicBezTo>
                  <a:cubicBezTo>
                    <a:pt x="1401470" y="41275"/>
                    <a:pt x="1411630" y="50165"/>
                    <a:pt x="1419250" y="66675"/>
                  </a:cubicBezTo>
                  <a:cubicBezTo>
                    <a:pt x="1456080" y="149225"/>
                    <a:pt x="1420520" y="734695"/>
                    <a:pt x="1439570" y="920115"/>
                  </a:cubicBezTo>
                  <a:cubicBezTo>
                    <a:pt x="1448460" y="1011555"/>
                    <a:pt x="1461160" y="1068705"/>
                    <a:pt x="1477670" y="1122045"/>
                  </a:cubicBezTo>
                  <a:cubicBezTo>
                    <a:pt x="1489100" y="1157605"/>
                    <a:pt x="1519580" y="1188085"/>
                    <a:pt x="1515770" y="1209675"/>
                  </a:cubicBezTo>
                  <a:cubicBezTo>
                    <a:pt x="1511960" y="1224915"/>
                    <a:pt x="1503070" y="1233805"/>
                    <a:pt x="1478940" y="1242695"/>
                  </a:cubicBezTo>
                  <a:cubicBezTo>
                    <a:pt x="1350670" y="1293495"/>
                    <a:pt x="220370" y="1270635"/>
                    <a:pt x="76860" y="1252855"/>
                  </a:cubicBezTo>
                  <a:cubicBezTo>
                    <a:pt x="50190" y="1250315"/>
                    <a:pt x="40030" y="1251585"/>
                    <a:pt x="29870" y="1241425"/>
                  </a:cubicBezTo>
                  <a:cubicBezTo>
                    <a:pt x="18440" y="1229995"/>
                    <a:pt x="17170" y="1213485"/>
                    <a:pt x="13360" y="1185545"/>
                  </a:cubicBezTo>
                  <a:cubicBezTo>
                    <a:pt x="5740" y="1111885"/>
                    <a:pt x="40030" y="937895"/>
                    <a:pt x="41300" y="784225"/>
                  </a:cubicBezTo>
                  <a:cubicBezTo>
                    <a:pt x="43840" y="575945"/>
                    <a:pt x="-20930" y="113665"/>
                    <a:pt x="7010" y="48895"/>
                  </a:cubicBezTo>
                  <a:cubicBezTo>
                    <a:pt x="12090" y="37465"/>
                    <a:pt x="15900" y="37465"/>
                    <a:pt x="27330" y="32385"/>
                  </a:cubicBezTo>
                  <a:cubicBezTo>
                    <a:pt x="57810" y="18415"/>
                    <a:pt x="135280" y="12065"/>
                    <a:pt x="216560" y="6985"/>
                  </a:cubicBezTo>
                  <a:cubicBezTo>
                    <a:pt x="361340" y="-3175"/>
                    <a:pt x="619150" y="-635"/>
                    <a:pt x="819810" y="4445"/>
                  </a:cubicBezTo>
                  <a:cubicBezTo>
                    <a:pt x="1020470" y="9525"/>
                    <a:pt x="1354480" y="8255"/>
                    <a:pt x="1417980" y="37465"/>
                  </a:cubicBezTo>
                  <a:cubicBezTo>
                    <a:pt x="1433220" y="45085"/>
                    <a:pt x="1442110" y="53975"/>
                    <a:pt x="1442110" y="62865"/>
                  </a:cubicBezTo>
                  <a:cubicBezTo>
                    <a:pt x="1440840" y="71755"/>
                    <a:pt x="1414170" y="88265"/>
                    <a:pt x="1414170" y="88265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255318" y="3305175"/>
            <a:ext cx="1404938" cy="997268"/>
            <a:chOff x="0" y="0"/>
            <a:chExt cx="1873250" cy="13296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6625" y="48241"/>
              <a:ext cx="1776922" cy="1232475"/>
            </a:xfrm>
            <a:custGeom>
              <a:avLst/>
              <a:gdLst/>
              <a:ahLst/>
              <a:cxnLst/>
              <a:rect r="r" b="b" t="t" l="l"/>
              <a:pathLst>
                <a:path h="1232475" w="1776922">
                  <a:moveTo>
                    <a:pt x="1205595" y="78759"/>
                  </a:moveTo>
                  <a:cubicBezTo>
                    <a:pt x="-66945" y="201949"/>
                    <a:pt x="47355" y="560089"/>
                    <a:pt x="54975" y="758209"/>
                  </a:cubicBezTo>
                  <a:cubicBezTo>
                    <a:pt x="60055" y="909339"/>
                    <a:pt x="46085" y="1107459"/>
                    <a:pt x="89265" y="1159529"/>
                  </a:cubicBezTo>
                  <a:cubicBezTo>
                    <a:pt x="107045" y="1182389"/>
                    <a:pt x="122285" y="1174769"/>
                    <a:pt x="164195" y="1179849"/>
                  </a:cubicBezTo>
                  <a:cubicBezTo>
                    <a:pt x="350885" y="1201439"/>
                    <a:pt x="1633585" y="1275099"/>
                    <a:pt x="1723755" y="1140479"/>
                  </a:cubicBezTo>
                  <a:cubicBezTo>
                    <a:pt x="1758045" y="1089679"/>
                    <a:pt x="1658985" y="986809"/>
                    <a:pt x="1646285" y="938549"/>
                  </a:cubicBezTo>
                  <a:cubicBezTo>
                    <a:pt x="1639935" y="911879"/>
                    <a:pt x="1639935" y="905529"/>
                    <a:pt x="1637395" y="873779"/>
                  </a:cubicBezTo>
                  <a:cubicBezTo>
                    <a:pt x="1629775" y="784879"/>
                    <a:pt x="1637395" y="482619"/>
                    <a:pt x="1631045" y="359429"/>
                  </a:cubicBezTo>
                  <a:cubicBezTo>
                    <a:pt x="1627235" y="290849"/>
                    <a:pt x="1624695" y="247669"/>
                    <a:pt x="1617075" y="198139"/>
                  </a:cubicBezTo>
                  <a:cubicBezTo>
                    <a:pt x="1609455" y="153689"/>
                    <a:pt x="1617075" y="99079"/>
                    <a:pt x="1587865" y="73679"/>
                  </a:cubicBezTo>
                  <a:cubicBezTo>
                    <a:pt x="1548495" y="39389"/>
                    <a:pt x="1438005" y="55899"/>
                    <a:pt x="1366885" y="53359"/>
                  </a:cubicBezTo>
                  <a:cubicBezTo>
                    <a:pt x="1299575" y="50819"/>
                    <a:pt x="1200515" y="74949"/>
                    <a:pt x="1168765" y="59709"/>
                  </a:cubicBezTo>
                  <a:cubicBezTo>
                    <a:pt x="1156065" y="52089"/>
                    <a:pt x="1145905" y="38119"/>
                    <a:pt x="1147175" y="29229"/>
                  </a:cubicBezTo>
                  <a:cubicBezTo>
                    <a:pt x="1148445" y="21609"/>
                    <a:pt x="1162415" y="10179"/>
                    <a:pt x="1170035" y="8909"/>
                  </a:cubicBezTo>
                  <a:cubicBezTo>
                    <a:pt x="1176385" y="7639"/>
                    <a:pt x="1187815" y="12719"/>
                    <a:pt x="1191625" y="17799"/>
                  </a:cubicBezTo>
                  <a:cubicBezTo>
                    <a:pt x="1196705" y="22879"/>
                    <a:pt x="1199245" y="34309"/>
                    <a:pt x="1196705" y="40659"/>
                  </a:cubicBezTo>
                  <a:cubicBezTo>
                    <a:pt x="1192895" y="49549"/>
                    <a:pt x="1172575" y="59709"/>
                    <a:pt x="1163685" y="58439"/>
                  </a:cubicBezTo>
                  <a:cubicBezTo>
                    <a:pt x="1157335" y="57169"/>
                    <a:pt x="1148445" y="47009"/>
                    <a:pt x="1147175" y="40659"/>
                  </a:cubicBezTo>
                  <a:cubicBezTo>
                    <a:pt x="1145905" y="33039"/>
                    <a:pt x="1149715" y="19069"/>
                    <a:pt x="1159875" y="12719"/>
                  </a:cubicBezTo>
                  <a:cubicBezTo>
                    <a:pt x="1178925" y="-2521"/>
                    <a:pt x="1239885" y="1289"/>
                    <a:pt x="1293225" y="2559"/>
                  </a:cubicBezTo>
                  <a:cubicBezTo>
                    <a:pt x="1374505" y="2559"/>
                    <a:pt x="1552305" y="20339"/>
                    <a:pt x="1599295" y="31769"/>
                  </a:cubicBezTo>
                  <a:cubicBezTo>
                    <a:pt x="1613265" y="34309"/>
                    <a:pt x="1619615" y="36849"/>
                    <a:pt x="1625965" y="41929"/>
                  </a:cubicBezTo>
                  <a:cubicBezTo>
                    <a:pt x="1632315" y="48279"/>
                    <a:pt x="1634855" y="54629"/>
                    <a:pt x="1639935" y="68599"/>
                  </a:cubicBezTo>
                  <a:cubicBezTo>
                    <a:pt x="1653905" y="111779"/>
                    <a:pt x="1672955" y="248939"/>
                    <a:pt x="1681845" y="359429"/>
                  </a:cubicBezTo>
                  <a:cubicBezTo>
                    <a:pt x="1693275" y="505479"/>
                    <a:pt x="1665335" y="722649"/>
                    <a:pt x="1686925" y="867429"/>
                  </a:cubicBezTo>
                  <a:cubicBezTo>
                    <a:pt x="1704705" y="980459"/>
                    <a:pt x="1792335" y="1116349"/>
                    <a:pt x="1774555" y="1162069"/>
                  </a:cubicBezTo>
                  <a:cubicBezTo>
                    <a:pt x="1766935" y="1181119"/>
                    <a:pt x="1744075" y="1186199"/>
                    <a:pt x="1726295" y="1191279"/>
                  </a:cubicBezTo>
                  <a:cubicBezTo>
                    <a:pt x="1709785" y="1196359"/>
                    <a:pt x="1702165" y="1192549"/>
                    <a:pt x="1671685" y="1193819"/>
                  </a:cubicBezTo>
                  <a:cubicBezTo>
                    <a:pt x="1510395" y="1198899"/>
                    <a:pt x="353425" y="1244619"/>
                    <a:pt x="157845" y="1229379"/>
                  </a:cubicBezTo>
                  <a:cubicBezTo>
                    <a:pt x="110855" y="1226839"/>
                    <a:pt x="93075" y="1230649"/>
                    <a:pt x="71485" y="1215409"/>
                  </a:cubicBezTo>
                  <a:cubicBezTo>
                    <a:pt x="49895" y="1198899"/>
                    <a:pt x="41005" y="1173499"/>
                    <a:pt x="29575" y="1135399"/>
                  </a:cubicBezTo>
                  <a:cubicBezTo>
                    <a:pt x="7985" y="1056659"/>
                    <a:pt x="9255" y="899179"/>
                    <a:pt x="4175" y="758209"/>
                  </a:cubicBezTo>
                  <a:cubicBezTo>
                    <a:pt x="-2175" y="576599"/>
                    <a:pt x="-905" y="257829"/>
                    <a:pt x="5445" y="139719"/>
                  </a:cubicBezTo>
                  <a:cubicBezTo>
                    <a:pt x="7985" y="92729"/>
                    <a:pt x="2905" y="59709"/>
                    <a:pt x="16875" y="40659"/>
                  </a:cubicBezTo>
                  <a:cubicBezTo>
                    <a:pt x="27035" y="27959"/>
                    <a:pt x="37195" y="27959"/>
                    <a:pt x="63865" y="22879"/>
                  </a:cubicBezTo>
                  <a:cubicBezTo>
                    <a:pt x="192135" y="19"/>
                    <a:pt x="1107805" y="-16491"/>
                    <a:pt x="1205595" y="27959"/>
                  </a:cubicBezTo>
                  <a:cubicBezTo>
                    <a:pt x="1223375" y="35579"/>
                    <a:pt x="1230995" y="48279"/>
                    <a:pt x="1230995" y="55899"/>
                  </a:cubicBezTo>
                  <a:cubicBezTo>
                    <a:pt x="1230995" y="64789"/>
                    <a:pt x="1205595" y="78759"/>
                    <a:pt x="1205595" y="78759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177131" y="255241"/>
            <a:ext cx="3946457" cy="2011973"/>
            <a:chOff x="0" y="0"/>
            <a:chExt cx="7744383" cy="39482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44383" cy="3846622"/>
            </a:xfrm>
            <a:custGeom>
              <a:avLst/>
              <a:gdLst/>
              <a:ahLst/>
              <a:cxnLst/>
              <a:rect r="r" b="b" t="t" l="l"/>
              <a:pathLst>
                <a:path h="3846622" w="7744383">
                  <a:moveTo>
                    <a:pt x="0" y="0"/>
                  </a:moveTo>
                  <a:lnTo>
                    <a:pt x="7744383" y="0"/>
                  </a:lnTo>
                  <a:lnTo>
                    <a:pt x="7744383" y="3846622"/>
                  </a:lnTo>
                  <a:lnTo>
                    <a:pt x="0" y="38466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744383" cy="3948222"/>
            </a:xfrm>
            <a:custGeom>
              <a:avLst/>
              <a:gdLst/>
              <a:ahLst/>
              <a:cxnLst/>
              <a:rect r="r" b="b" t="t" l="l"/>
              <a:pathLst>
                <a:path h="3948222" w="7744383">
                  <a:moveTo>
                    <a:pt x="0" y="3846622"/>
                  </a:moveTo>
                  <a:lnTo>
                    <a:pt x="7744383" y="3846622"/>
                  </a:lnTo>
                  <a:lnTo>
                    <a:pt x="7617383" y="3948222"/>
                  </a:lnTo>
                  <a:cubicBezTo>
                    <a:pt x="7617383" y="3948222"/>
                    <a:pt x="6626783" y="3872022"/>
                    <a:pt x="6525183" y="3872022"/>
                  </a:cubicBezTo>
                  <a:lnTo>
                    <a:pt x="1219200" y="3872022"/>
                  </a:lnTo>
                  <a:cubicBezTo>
                    <a:pt x="1117600" y="3872022"/>
                    <a:pt x="127000" y="3948222"/>
                    <a:pt x="127000" y="3948222"/>
                  </a:cubicBezTo>
                  <a:lnTo>
                    <a:pt x="0" y="3846622"/>
                  </a:lnTo>
                  <a:lnTo>
                    <a:pt x="0" y="0"/>
                  </a:lnTo>
                  <a:lnTo>
                    <a:pt x="7744383" y="0"/>
                  </a:lnTo>
                  <a:lnTo>
                    <a:pt x="7744383" y="3846622"/>
                  </a:lnTo>
                  <a:lnTo>
                    <a:pt x="12700" y="3846622"/>
                  </a:lnTo>
                  <a:lnTo>
                    <a:pt x="12700" y="3833922"/>
                  </a:lnTo>
                  <a:lnTo>
                    <a:pt x="7731683" y="3833922"/>
                  </a:lnTo>
                  <a:lnTo>
                    <a:pt x="7731683" y="12700"/>
                  </a:lnTo>
                  <a:lnTo>
                    <a:pt x="12700" y="12700"/>
                  </a:lnTo>
                  <a:lnTo>
                    <a:pt x="12700" y="38466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7744383" cy="3408472"/>
            </a:xfrm>
            <a:prstGeom prst="rect">
              <a:avLst/>
            </a:prstGeom>
          </p:spPr>
          <p:txBody>
            <a:bodyPr anchor="t" rtlCol="false" tIns="138065" lIns="138065" bIns="138065" rIns="138065"/>
            <a:lstStyle/>
            <a:p>
              <a:pPr algn="l">
                <a:lnSpc>
                  <a:spcPts val="1712"/>
                </a:lnSpc>
              </a:pPr>
              <a:r>
                <a:rPr lang="en-US" sz="122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Wie kommst du auf die Eintrittswahrscheinlichkeit und die Schadenshöhe der Auswirkung?</a:t>
              </a:r>
            </a:p>
            <a:p>
              <a:pPr algn="l">
                <a:lnSpc>
                  <a:spcPts val="1712"/>
                </a:lnSpc>
              </a:pPr>
            </a:p>
            <a:p>
              <a:pPr algn="l">
                <a:lnSpc>
                  <a:spcPts val="1712"/>
                </a:lnSpc>
              </a:pPr>
              <a:r>
                <a:rPr lang="en-US" sz="122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⟶ Eintrittswahrscheinlichkeit im Mittel (überschaubar bei einer Migration)</a:t>
              </a:r>
            </a:p>
            <a:p>
              <a:pPr algn="l">
                <a:lnSpc>
                  <a:spcPts val="1712"/>
                </a:lnSpc>
              </a:pPr>
              <a:r>
                <a:rPr lang="en-US" sz="122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⟶ Eigene Risikoabschätzung (Datenverlust schlimm)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47522" y="2294572"/>
            <a:ext cx="312420" cy="975360"/>
            <a:chOff x="0" y="0"/>
            <a:chExt cx="416560" cy="13004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0800" y="50171"/>
              <a:ext cx="315493" cy="1198868"/>
            </a:xfrm>
            <a:custGeom>
              <a:avLst/>
              <a:gdLst/>
              <a:ahLst/>
              <a:cxnLst/>
              <a:rect r="r" b="b" t="t" l="l"/>
              <a:pathLst>
                <a:path h="1198868" w="315493">
                  <a:moveTo>
                    <a:pt x="0" y="1169029"/>
                  </a:moveTo>
                  <a:cubicBezTo>
                    <a:pt x="194310" y="405759"/>
                    <a:pt x="220980" y="74289"/>
                    <a:pt x="264160" y="17139"/>
                  </a:cubicBezTo>
                  <a:cubicBezTo>
                    <a:pt x="274320" y="3169"/>
                    <a:pt x="288290" y="-1911"/>
                    <a:pt x="295910" y="629"/>
                  </a:cubicBezTo>
                  <a:cubicBezTo>
                    <a:pt x="304800" y="3169"/>
                    <a:pt x="314960" y="18409"/>
                    <a:pt x="313690" y="27299"/>
                  </a:cubicBezTo>
                  <a:cubicBezTo>
                    <a:pt x="311150" y="34919"/>
                    <a:pt x="293370" y="51429"/>
                    <a:pt x="284480" y="50159"/>
                  </a:cubicBezTo>
                  <a:cubicBezTo>
                    <a:pt x="275590" y="48889"/>
                    <a:pt x="261620" y="28569"/>
                    <a:pt x="262890" y="19679"/>
                  </a:cubicBezTo>
                  <a:cubicBezTo>
                    <a:pt x="264160" y="12059"/>
                    <a:pt x="285750" y="-1911"/>
                    <a:pt x="293370" y="629"/>
                  </a:cubicBezTo>
                  <a:cubicBezTo>
                    <a:pt x="302260" y="1899"/>
                    <a:pt x="309880" y="9519"/>
                    <a:pt x="313690" y="23489"/>
                  </a:cubicBezTo>
                  <a:cubicBezTo>
                    <a:pt x="328930" y="88259"/>
                    <a:pt x="243840" y="417189"/>
                    <a:pt x="199390" y="610229"/>
                  </a:cubicBezTo>
                  <a:cubicBezTo>
                    <a:pt x="156210" y="803269"/>
                    <a:pt x="93980" y="1124579"/>
                    <a:pt x="48260" y="1181729"/>
                  </a:cubicBezTo>
                  <a:cubicBezTo>
                    <a:pt x="36830" y="1195699"/>
                    <a:pt x="22860" y="1200779"/>
                    <a:pt x="15240" y="1198239"/>
                  </a:cubicBezTo>
                  <a:cubicBezTo>
                    <a:pt x="7620" y="1196969"/>
                    <a:pt x="0" y="1169029"/>
                    <a:pt x="0" y="1169029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879907" y="2204085"/>
            <a:ext cx="388620" cy="234315"/>
            <a:chOff x="0" y="0"/>
            <a:chExt cx="518160" cy="3124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0604" y="50674"/>
              <a:ext cx="416999" cy="210946"/>
            </a:xfrm>
            <a:custGeom>
              <a:avLst/>
              <a:gdLst/>
              <a:ahLst/>
              <a:cxnLst/>
              <a:rect r="r" b="b" t="t" l="l"/>
              <a:pathLst>
                <a:path h="210946" w="416999">
                  <a:moveTo>
                    <a:pt x="278326" y="72516"/>
                  </a:moveTo>
                  <a:cubicBezTo>
                    <a:pt x="25596" y="210946"/>
                    <a:pt x="15436" y="212216"/>
                    <a:pt x="10356" y="205866"/>
                  </a:cubicBezTo>
                  <a:cubicBezTo>
                    <a:pt x="4006" y="200786"/>
                    <a:pt x="196" y="183006"/>
                    <a:pt x="6546" y="169036"/>
                  </a:cubicBezTo>
                  <a:cubicBezTo>
                    <a:pt x="24326" y="128396"/>
                    <a:pt x="152596" y="3936"/>
                    <a:pt x="222446" y="126"/>
                  </a:cubicBezTo>
                  <a:cubicBezTo>
                    <a:pt x="285946" y="-3684"/>
                    <a:pt x="393896" y="80136"/>
                    <a:pt x="410406" y="111886"/>
                  </a:cubicBezTo>
                  <a:cubicBezTo>
                    <a:pt x="416756" y="125856"/>
                    <a:pt x="414216" y="143636"/>
                    <a:pt x="407866" y="148716"/>
                  </a:cubicBezTo>
                  <a:cubicBezTo>
                    <a:pt x="401516" y="155066"/>
                    <a:pt x="382466" y="155066"/>
                    <a:pt x="377386" y="149986"/>
                  </a:cubicBezTo>
                  <a:cubicBezTo>
                    <a:pt x="369766" y="144906"/>
                    <a:pt x="365956" y="120776"/>
                    <a:pt x="371036" y="113156"/>
                  </a:cubicBezTo>
                  <a:cubicBezTo>
                    <a:pt x="377386" y="106806"/>
                    <a:pt x="401516" y="105536"/>
                    <a:pt x="407866" y="110616"/>
                  </a:cubicBezTo>
                  <a:cubicBezTo>
                    <a:pt x="414216" y="114426"/>
                    <a:pt x="418026" y="125856"/>
                    <a:pt x="416756" y="132206"/>
                  </a:cubicBezTo>
                  <a:cubicBezTo>
                    <a:pt x="415486" y="139826"/>
                    <a:pt x="409136" y="148716"/>
                    <a:pt x="402786" y="152526"/>
                  </a:cubicBezTo>
                  <a:cubicBezTo>
                    <a:pt x="396436" y="155066"/>
                    <a:pt x="390086" y="155066"/>
                    <a:pt x="378656" y="151256"/>
                  </a:cubicBezTo>
                  <a:cubicBezTo>
                    <a:pt x="348176" y="143636"/>
                    <a:pt x="266896" y="53466"/>
                    <a:pt x="216096" y="58546"/>
                  </a:cubicBezTo>
                  <a:cubicBezTo>
                    <a:pt x="164026" y="63626"/>
                    <a:pt x="104336" y="160146"/>
                    <a:pt x="71316" y="185546"/>
                  </a:cubicBezTo>
                  <a:cubicBezTo>
                    <a:pt x="54806" y="198246"/>
                    <a:pt x="44646" y="207136"/>
                    <a:pt x="33216" y="209676"/>
                  </a:cubicBezTo>
                  <a:cubicBezTo>
                    <a:pt x="25596" y="212216"/>
                    <a:pt x="15436" y="210946"/>
                    <a:pt x="10356" y="205866"/>
                  </a:cubicBezTo>
                  <a:cubicBezTo>
                    <a:pt x="4006" y="200786"/>
                    <a:pt x="-1074" y="186816"/>
                    <a:pt x="196" y="179196"/>
                  </a:cubicBezTo>
                  <a:cubicBezTo>
                    <a:pt x="1466" y="171576"/>
                    <a:pt x="7816" y="166496"/>
                    <a:pt x="17976" y="157606"/>
                  </a:cubicBezTo>
                  <a:cubicBezTo>
                    <a:pt x="44646" y="136016"/>
                    <a:pt x="129736" y="89026"/>
                    <a:pt x="176726" y="64896"/>
                  </a:cubicBezTo>
                  <a:cubicBezTo>
                    <a:pt x="211016" y="47116"/>
                    <a:pt x="249116" y="20446"/>
                    <a:pt x="269436" y="24256"/>
                  </a:cubicBezTo>
                  <a:cubicBezTo>
                    <a:pt x="280866" y="26796"/>
                    <a:pt x="292296" y="39496"/>
                    <a:pt x="293566" y="47116"/>
                  </a:cubicBezTo>
                  <a:cubicBezTo>
                    <a:pt x="294836" y="56006"/>
                    <a:pt x="278326" y="72516"/>
                    <a:pt x="278326" y="72516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697278" y="2392680"/>
            <a:ext cx="360045" cy="862012"/>
            <a:chOff x="0" y="0"/>
            <a:chExt cx="480060" cy="11493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49758" y="50800"/>
              <a:ext cx="378395" cy="1048086"/>
            </a:xfrm>
            <a:custGeom>
              <a:avLst/>
              <a:gdLst/>
              <a:ahLst/>
              <a:cxnLst/>
              <a:rect r="r" b="b" t="t" l="l"/>
              <a:pathLst>
                <a:path h="1048086" w="378395">
                  <a:moveTo>
                    <a:pt x="333782" y="1037590"/>
                  </a:moveTo>
                  <a:cubicBezTo>
                    <a:pt x="197892" y="720090"/>
                    <a:pt x="50572" y="243840"/>
                    <a:pt x="18822" y="109220"/>
                  </a:cubicBezTo>
                  <a:cubicBezTo>
                    <a:pt x="7392" y="63500"/>
                    <a:pt x="-5308" y="30480"/>
                    <a:pt x="2312" y="13970"/>
                  </a:cubicBezTo>
                  <a:cubicBezTo>
                    <a:pt x="7392" y="5080"/>
                    <a:pt x="22632" y="-1270"/>
                    <a:pt x="30252" y="1270"/>
                  </a:cubicBezTo>
                  <a:cubicBezTo>
                    <a:pt x="37872" y="2540"/>
                    <a:pt x="50572" y="16510"/>
                    <a:pt x="50572" y="24130"/>
                  </a:cubicBezTo>
                  <a:cubicBezTo>
                    <a:pt x="50572" y="33020"/>
                    <a:pt x="34062" y="49530"/>
                    <a:pt x="25172" y="50800"/>
                  </a:cubicBezTo>
                  <a:cubicBezTo>
                    <a:pt x="18822" y="52070"/>
                    <a:pt x="8662" y="45720"/>
                    <a:pt x="4852" y="40640"/>
                  </a:cubicBezTo>
                  <a:cubicBezTo>
                    <a:pt x="1042" y="34290"/>
                    <a:pt x="-1498" y="22860"/>
                    <a:pt x="1042" y="16510"/>
                  </a:cubicBezTo>
                  <a:cubicBezTo>
                    <a:pt x="4852" y="8890"/>
                    <a:pt x="20092" y="0"/>
                    <a:pt x="27712" y="0"/>
                  </a:cubicBezTo>
                  <a:cubicBezTo>
                    <a:pt x="35332" y="1270"/>
                    <a:pt x="40412" y="3810"/>
                    <a:pt x="48032" y="13970"/>
                  </a:cubicBezTo>
                  <a:cubicBezTo>
                    <a:pt x="95022" y="76200"/>
                    <a:pt x="242342" y="692150"/>
                    <a:pt x="305842" y="861060"/>
                  </a:cubicBezTo>
                  <a:cubicBezTo>
                    <a:pt x="335052" y="934720"/>
                    <a:pt x="378232" y="984250"/>
                    <a:pt x="378232" y="1016000"/>
                  </a:cubicBezTo>
                  <a:cubicBezTo>
                    <a:pt x="379502" y="1029970"/>
                    <a:pt x="373152" y="1043940"/>
                    <a:pt x="365532" y="1047750"/>
                  </a:cubicBezTo>
                  <a:cubicBezTo>
                    <a:pt x="357912" y="1050290"/>
                    <a:pt x="333782" y="1037590"/>
                    <a:pt x="333782" y="1037590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583930" y="2265045"/>
            <a:ext cx="164783" cy="205740"/>
            <a:chOff x="0" y="0"/>
            <a:chExt cx="219710" cy="2743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0800" y="50402"/>
              <a:ext cx="118612" cy="173530"/>
            </a:xfrm>
            <a:custGeom>
              <a:avLst/>
              <a:gdLst/>
              <a:ahLst/>
              <a:cxnLst/>
              <a:rect r="r" b="b" t="t" l="l"/>
              <a:pathLst>
                <a:path h="173530" w="118612">
                  <a:moveTo>
                    <a:pt x="118110" y="57548"/>
                  </a:moveTo>
                  <a:cubicBezTo>
                    <a:pt x="31750" y="175658"/>
                    <a:pt x="17780" y="175658"/>
                    <a:pt x="10160" y="171848"/>
                  </a:cubicBezTo>
                  <a:cubicBezTo>
                    <a:pt x="3810" y="168038"/>
                    <a:pt x="0" y="156608"/>
                    <a:pt x="0" y="143908"/>
                  </a:cubicBezTo>
                  <a:cubicBezTo>
                    <a:pt x="1270" y="117238"/>
                    <a:pt x="34290" y="29608"/>
                    <a:pt x="52070" y="10558"/>
                  </a:cubicBezTo>
                  <a:cubicBezTo>
                    <a:pt x="58420" y="2938"/>
                    <a:pt x="66040" y="-872"/>
                    <a:pt x="72390" y="398"/>
                  </a:cubicBezTo>
                  <a:cubicBezTo>
                    <a:pt x="81280" y="398"/>
                    <a:pt x="93980" y="11828"/>
                    <a:pt x="96520" y="19448"/>
                  </a:cubicBezTo>
                  <a:cubicBezTo>
                    <a:pt x="99060" y="25798"/>
                    <a:pt x="96520" y="37228"/>
                    <a:pt x="91440" y="42308"/>
                  </a:cubicBezTo>
                  <a:cubicBezTo>
                    <a:pt x="86360" y="47388"/>
                    <a:pt x="68580" y="51198"/>
                    <a:pt x="60960" y="48658"/>
                  </a:cubicBezTo>
                  <a:cubicBezTo>
                    <a:pt x="54610" y="46118"/>
                    <a:pt x="48260" y="35958"/>
                    <a:pt x="46990" y="29608"/>
                  </a:cubicBezTo>
                  <a:cubicBezTo>
                    <a:pt x="46990" y="20718"/>
                    <a:pt x="54610" y="5478"/>
                    <a:pt x="62230" y="1668"/>
                  </a:cubicBezTo>
                  <a:cubicBezTo>
                    <a:pt x="68580" y="-872"/>
                    <a:pt x="80010" y="-872"/>
                    <a:pt x="86360" y="4208"/>
                  </a:cubicBezTo>
                  <a:cubicBezTo>
                    <a:pt x="92710" y="8018"/>
                    <a:pt x="96520" y="19448"/>
                    <a:pt x="96520" y="32148"/>
                  </a:cubicBezTo>
                  <a:cubicBezTo>
                    <a:pt x="96520" y="60088"/>
                    <a:pt x="68580" y="145178"/>
                    <a:pt x="46990" y="162958"/>
                  </a:cubicBezTo>
                  <a:cubicBezTo>
                    <a:pt x="36830" y="173118"/>
                    <a:pt x="17780" y="175658"/>
                    <a:pt x="10160" y="171848"/>
                  </a:cubicBezTo>
                  <a:cubicBezTo>
                    <a:pt x="3810" y="166768"/>
                    <a:pt x="0" y="152798"/>
                    <a:pt x="2540" y="138828"/>
                  </a:cubicBezTo>
                  <a:cubicBezTo>
                    <a:pt x="7620" y="110888"/>
                    <a:pt x="55880" y="37228"/>
                    <a:pt x="80010" y="24528"/>
                  </a:cubicBezTo>
                  <a:cubicBezTo>
                    <a:pt x="91440" y="18178"/>
                    <a:pt x="107950" y="19448"/>
                    <a:pt x="114300" y="24528"/>
                  </a:cubicBezTo>
                  <a:cubicBezTo>
                    <a:pt x="120650" y="29608"/>
                    <a:pt x="118110" y="57548"/>
                    <a:pt x="118110" y="57548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641080" y="2243138"/>
            <a:ext cx="247650" cy="241935"/>
            <a:chOff x="0" y="0"/>
            <a:chExt cx="330200" cy="3225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47135" y="50165"/>
              <a:ext cx="234228" cy="222765"/>
            </a:xfrm>
            <a:custGeom>
              <a:avLst/>
              <a:gdLst/>
              <a:ahLst/>
              <a:cxnLst/>
              <a:rect r="r" b="b" t="t" l="l"/>
              <a:pathLst>
                <a:path h="222765" w="234228">
                  <a:moveTo>
                    <a:pt x="37955" y="635"/>
                  </a:moveTo>
                  <a:cubicBezTo>
                    <a:pt x="139555" y="81915"/>
                    <a:pt x="215755" y="153035"/>
                    <a:pt x="229725" y="183515"/>
                  </a:cubicBezTo>
                  <a:cubicBezTo>
                    <a:pt x="234805" y="196215"/>
                    <a:pt x="236075" y="207645"/>
                    <a:pt x="230995" y="213995"/>
                  </a:cubicBezTo>
                  <a:cubicBezTo>
                    <a:pt x="224645" y="221615"/>
                    <a:pt x="200515" y="225425"/>
                    <a:pt x="194165" y="220345"/>
                  </a:cubicBezTo>
                  <a:cubicBezTo>
                    <a:pt x="187815" y="215265"/>
                    <a:pt x="185275" y="189865"/>
                    <a:pt x="190355" y="183515"/>
                  </a:cubicBezTo>
                  <a:cubicBezTo>
                    <a:pt x="195435" y="177165"/>
                    <a:pt x="220835" y="175895"/>
                    <a:pt x="227185" y="182245"/>
                  </a:cubicBezTo>
                  <a:cubicBezTo>
                    <a:pt x="233535" y="187325"/>
                    <a:pt x="236075" y="205105"/>
                    <a:pt x="232265" y="212725"/>
                  </a:cubicBezTo>
                  <a:cubicBezTo>
                    <a:pt x="227185" y="219075"/>
                    <a:pt x="210675" y="225425"/>
                    <a:pt x="196705" y="221615"/>
                  </a:cubicBezTo>
                  <a:cubicBezTo>
                    <a:pt x="164955" y="212725"/>
                    <a:pt x="109075" y="122555"/>
                    <a:pt x="72245" y="89535"/>
                  </a:cubicBezTo>
                  <a:cubicBezTo>
                    <a:pt x="46845" y="66675"/>
                    <a:pt x="11285" y="55245"/>
                    <a:pt x="3665" y="37465"/>
                  </a:cubicBezTo>
                  <a:cubicBezTo>
                    <a:pt x="-1415" y="26035"/>
                    <a:pt x="-1415" y="9525"/>
                    <a:pt x="4935" y="3175"/>
                  </a:cubicBezTo>
                  <a:cubicBezTo>
                    <a:pt x="10015" y="-1905"/>
                    <a:pt x="37955" y="635"/>
                    <a:pt x="37955" y="635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770870" y="5066347"/>
            <a:ext cx="5945505" cy="762000"/>
            <a:chOff x="0" y="0"/>
            <a:chExt cx="7927340" cy="1016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35272" y="43723"/>
              <a:ext cx="7844576" cy="923328"/>
            </a:xfrm>
            <a:custGeom>
              <a:avLst/>
              <a:gdLst/>
              <a:ahLst/>
              <a:cxnLst/>
              <a:rect r="r" b="b" t="t" l="l"/>
              <a:pathLst>
                <a:path h="923328" w="7844576">
                  <a:moveTo>
                    <a:pt x="1860838" y="121377"/>
                  </a:moveTo>
                  <a:cubicBezTo>
                    <a:pt x="1412528" y="109947"/>
                    <a:pt x="1316008" y="87087"/>
                    <a:pt x="1205518" y="76927"/>
                  </a:cubicBezTo>
                  <a:cubicBezTo>
                    <a:pt x="1081058" y="65497"/>
                    <a:pt x="943898" y="60417"/>
                    <a:pt x="811818" y="57877"/>
                  </a:cubicBezTo>
                  <a:cubicBezTo>
                    <a:pt x="677198" y="54067"/>
                    <a:pt x="534958" y="48987"/>
                    <a:pt x="407958" y="57877"/>
                  </a:cubicBezTo>
                  <a:cubicBezTo>
                    <a:pt x="293658" y="66767"/>
                    <a:pt x="152688" y="32477"/>
                    <a:pt x="85378" y="108677"/>
                  </a:cubicBezTo>
                  <a:cubicBezTo>
                    <a:pt x="-13682" y="220437"/>
                    <a:pt x="-982" y="760187"/>
                    <a:pt x="62518" y="840197"/>
                  </a:cubicBezTo>
                  <a:cubicBezTo>
                    <a:pt x="86648" y="870677"/>
                    <a:pt x="110778" y="855437"/>
                    <a:pt x="164118" y="861787"/>
                  </a:cubicBezTo>
                  <a:cubicBezTo>
                    <a:pt x="369858" y="883377"/>
                    <a:pt x="1252508" y="888457"/>
                    <a:pt x="1652558" y="865597"/>
                  </a:cubicBezTo>
                  <a:cubicBezTo>
                    <a:pt x="1923068" y="850357"/>
                    <a:pt x="2067848" y="799557"/>
                    <a:pt x="2330738" y="784317"/>
                  </a:cubicBezTo>
                  <a:cubicBezTo>
                    <a:pt x="2692688" y="761457"/>
                    <a:pt x="3317528" y="797017"/>
                    <a:pt x="3619788" y="780507"/>
                  </a:cubicBezTo>
                  <a:cubicBezTo>
                    <a:pt x="3784888" y="770347"/>
                    <a:pt x="3824258" y="747487"/>
                    <a:pt x="4002058" y="738597"/>
                  </a:cubicBezTo>
                  <a:cubicBezTo>
                    <a:pt x="4410998" y="715737"/>
                    <a:pt x="5581938" y="744947"/>
                    <a:pt x="6039138" y="736057"/>
                  </a:cubicBezTo>
                  <a:cubicBezTo>
                    <a:pt x="6270278" y="732247"/>
                    <a:pt x="6354098" y="719547"/>
                    <a:pt x="6562378" y="715737"/>
                  </a:cubicBezTo>
                  <a:cubicBezTo>
                    <a:pt x="6872258" y="709387"/>
                    <a:pt x="7554248" y="703037"/>
                    <a:pt x="7718078" y="714467"/>
                  </a:cubicBezTo>
                  <a:cubicBezTo>
                    <a:pt x="7762528" y="717007"/>
                    <a:pt x="7795548" y="736057"/>
                    <a:pt x="7801898" y="725897"/>
                  </a:cubicBezTo>
                  <a:cubicBezTo>
                    <a:pt x="7808248" y="717007"/>
                    <a:pt x="7776498" y="690337"/>
                    <a:pt x="7763798" y="661127"/>
                  </a:cubicBezTo>
                  <a:cubicBezTo>
                    <a:pt x="7739668" y="609057"/>
                    <a:pt x="7715538" y="518887"/>
                    <a:pt x="7690138" y="432527"/>
                  </a:cubicBezTo>
                  <a:cubicBezTo>
                    <a:pt x="7659658" y="324577"/>
                    <a:pt x="7699028" y="139157"/>
                    <a:pt x="7598698" y="61687"/>
                  </a:cubicBezTo>
                  <a:cubicBezTo>
                    <a:pt x="7428518" y="-71663"/>
                    <a:pt x="6863368" y="55337"/>
                    <a:pt x="6479828" y="62957"/>
                  </a:cubicBezTo>
                  <a:cubicBezTo>
                    <a:pt x="6072158" y="70577"/>
                    <a:pt x="5631468" y="99787"/>
                    <a:pt x="5221258" y="107407"/>
                  </a:cubicBezTo>
                  <a:cubicBezTo>
                    <a:pt x="4828828" y="115027"/>
                    <a:pt x="4407188" y="98517"/>
                    <a:pt x="4069368" y="108677"/>
                  </a:cubicBezTo>
                  <a:cubicBezTo>
                    <a:pt x="3803938" y="117567"/>
                    <a:pt x="3575338" y="144237"/>
                    <a:pt x="3359438" y="154397"/>
                  </a:cubicBezTo>
                  <a:cubicBezTo>
                    <a:pt x="3180368" y="163287"/>
                    <a:pt x="3053368" y="165827"/>
                    <a:pt x="2864138" y="168367"/>
                  </a:cubicBezTo>
                  <a:cubicBezTo>
                    <a:pt x="2612678" y="172177"/>
                    <a:pt x="2210088" y="181067"/>
                    <a:pt x="1985298" y="169637"/>
                  </a:cubicBezTo>
                  <a:cubicBezTo>
                    <a:pt x="1844328" y="162017"/>
                    <a:pt x="1683038" y="159477"/>
                    <a:pt x="1643668" y="134077"/>
                  </a:cubicBezTo>
                  <a:cubicBezTo>
                    <a:pt x="1632238" y="126457"/>
                    <a:pt x="1628428" y="116297"/>
                    <a:pt x="1628428" y="107407"/>
                  </a:cubicBezTo>
                  <a:cubicBezTo>
                    <a:pt x="1628428" y="101057"/>
                    <a:pt x="1634778" y="90897"/>
                    <a:pt x="1642398" y="88357"/>
                  </a:cubicBezTo>
                  <a:cubicBezTo>
                    <a:pt x="1648748" y="84547"/>
                    <a:pt x="1666528" y="88357"/>
                    <a:pt x="1671608" y="93437"/>
                  </a:cubicBezTo>
                  <a:cubicBezTo>
                    <a:pt x="1677958" y="98517"/>
                    <a:pt x="1680498" y="109947"/>
                    <a:pt x="1677958" y="116297"/>
                  </a:cubicBezTo>
                  <a:cubicBezTo>
                    <a:pt x="1675418" y="123917"/>
                    <a:pt x="1662718" y="135347"/>
                    <a:pt x="1655098" y="136617"/>
                  </a:cubicBezTo>
                  <a:cubicBezTo>
                    <a:pt x="1647478" y="136617"/>
                    <a:pt x="1637318" y="131537"/>
                    <a:pt x="1633508" y="125187"/>
                  </a:cubicBezTo>
                  <a:cubicBezTo>
                    <a:pt x="1628428" y="120107"/>
                    <a:pt x="1627158" y="108677"/>
                    <a:pt x="1629698" y="102327"/>
                  </a:cubicBezTo>
                  <a:cubicBezTo>
                    <a:pt x="1632238" y="94707"/>
                    <a:pt x="1641128" y="88357"/>
                    <a:pt x="1655098" y="85817"/>
                  </a:cubicBezTo>
                  <a:cubicBezTo>
                    <a:pt x="1702088" y="73117"/>
                    <a:pt x="1848138" y="112487"/>
                    <a:pt x="1985298" y="118837"/>
                  </a:cubicBezTo>
                  <a:cubicBezTo>
                    <a:pt x="2207548" y="130267"/>
                    <a:pt x="2612678" y="121377"/>
                    <a:pt x="2862868" y="117567"/>
                  </a:cubicBezTo>
                  <a:cubicBezTo>
                    <a:pt x="3049558" y="115027"/>
                    <a:pt x="3174018" y="112487"/>
                    <a:pt x="3353088" y="103597"/>
                  </a:cubicBezTo>
                  <a:cubicBezTo>
                    <a:pt x="3570258" y="94707"/>
                    <a:pt x="3781078" y="68037"/>
                    <a:pt x="4069368" y="57877"/>
                  </a:cubicBezTo>
                  <a:cubicBezTo>
                    <a:pt x="4508788" y="42637"/>
                    <a:pt x="5294918" y="59147"/>
                    <a:pt x="5739418" y="47717"/>
                  </a:cubicBezTo>
                  <a:cubicBezTo>
                    <a:pt x="6035328" y="38827"/>
                    <a:pt x="6210588" y="18507"/>
                    <a:pt x="6479828" y="12157"/>
                  </a:cubicBezTo>
                  <a:cubicBezTo>
                    <a:pt x="6802408" y="4537"/>
                    <a:pt x="7385338" y="-3083"/>
                    <a:pt x="7546628" y="12157"/>
                  </a:cubicBezTo>
                  <a:cubicBezTo>
                    <a:pt x="7593618" y="17237"/>
                    <a:pt x="7608858" y="3267"/>
                    <a:pt x="7638068" y="29937"/>
                  </a:cubicBezTo>
                  <a:cubicBezTo>
                    <a:pt x="7719348" y="104867"/>
                    <a:pt x="7873018" y="690337"/>
                    <a:pt x="7839998" y="758917"/>
                  </a:cubicBezTo>
                  <a:cubicBezTo>
                    <a:pt x="7831108" y="775427"/>
                    <a:pt x="7810788" y="774157"/>
                    <a:pt x="7794278" y="776697"/>
                  </a:cubicBezTo>
                  <a:cubicBezTo>
                    <a:pt x="7772688" y="779237"/>
                    <a:pt x="7761258" y="767807"/>
                    <a:pt x="7724428" y="765267"/>
                  </a:cubicBezTo>
                  <a:cubicBezTo>
                    <a:pt x="7572028" y="752567"/>
                    <a:pt x="6874798" y="760187"/>
                    <a:pt x="6563648" y="766537"/>
                  </a:cubicBezTo>
                  <a:cubicBezTo>
                    <a:pt x="6354098" y="770347"/>
                    <a:pt x="6270278" y="783047"/>
                    <a:pt x="6039138" y="786857"/>
                  </a:cubicBezTo>
                  <a:cubicBezTo>
                    <a:pt x="5581938" y="795747"/>
                    <a:pt x="4413538" y="766537"/>
                    <a:pt x="4003328" y="789397"/>
                  </a:cubicBezTo>
                  <a:cubicBezTo>
                    <a:pt x="3824258" y="798287"/>
                    <a:pt x="3786158" y="821147"/>
                    <a:pt x="3619788" y="831307"/>
                  </a:cubicBezTo>
                  <a:cubicBezTo>
                    <a:pt x="3317528" y="847817"/>
                    <a:pt x="2695228" y="812257"/>
                    <a:pt x="2334548" y="835117"/>
                  </a:cubicBezTo>
                  <a:cubicBezTo>
                    <a:pt x="2071658" y="850357"/>
                    <a:pt x="1868458" y="902427"/>
                    <a:pt x="1653828" y="916397"/>
                  </a:cubicBezTo>
                  <a:cubicBezTo>
                    <a:pt x="1463328" y="929097"/>
                    <a:pt x="1313468" y="920207"/>
                    <a:pt x="1112808" y="921477"/>
                  </a:cubicBezTo>
                  <a:cubicBezTo>
                    <a:pt x="861348" y="921477"/>
                    <a:pt x="409228" y="921477"/>
                    <a:pt x="261908" y="917667"/>
                  </a:cubicBezTo>
                  <a:cubicBezTo>
                    <a:pt x="209838" y="915127"/>
                    <a:pt x="192058" y="917667"/>
                    <a:pt x="155228" y="911317"/>
                  </a:cubicBezTo>
                  <a:cubicBezTo>
                    <a:pt x="113318" y="904967"/>
                    <a:pt x="49818" y="910047"/>
                    <a:pt x="21878" y="873217"/>
                  </a:cubicBezTo>
                  <a:cubicBezTo>
                    <a:pt x="-22572" y="816067"/>
                    <a:pt x="14258" y="645887"/>
                    <a:pt x="15528" y="523967"/>
                  </a:cubicBezTo>
                  <a:cubicBezTo>
                    <a:pt x="15528" y="390617"/>
                    <a:pt x="14258" y="159477"/>
                    <a:pt x="29498" y="102327"/>
                  </a:cubicBezTo>
                  <a:cubicBezTo>
                    <a:pt x="33308" y="85817"/>
                    <a:pt x="32038" y="82007"/>
                    <a:pt x="43468" y="73117"/>
                  </a:cubicBezTo>
                  <a:cubicBezTo>
                    <a:pt x="84108" y="43907"/>
                    <a:pt x="273338" y="19777"/>
                    <a:pt x="405418" y="7077"/>
                  </a:cubicBezTo>
                  <a:cubicBezTo>
                    <a:pt x="561628" y="-6893"/>
                    <a:pt x="772448" y="3267"/>
                    <a:pt x="919768" y="8347"/>
                  </a:cubicBezTo>
                  <a:cubicBezTo>
                    <a:pt x="1031528" y="10887"/>
                    <a:pt x="1115348" y="17237"/>
                    <a:pt x="1213138" y="26127"/>
                  </a:cubicBezTo>
                  <a:cubicBezTo>
                    <a:pt x="1316008" y="36287"/>
                    <a:pt x="1416338" y="60417"/>
                    <a:pt x="1521748" y="66767"/>
                  </a:cubicBezTo>
                  <a:cubicBezTo>
                    <a:pt x="1632238" y="75657"/>
                    <a:pt x="1813848" y="48987"/>
                    <a:pt x="1860838" y="70577"/>
                  </a:cubicBezTo>
                  <a:cubicBezTo>
                    <a:pt x="1876078" y="78197"/>
                    <a:pt x="1886238" y="90897"/>
                    <a:pt x="1886238" y="99787"/>
                  </a:cubicBezTo>
                  <a:cubicBezTo>
                    <a:pt x="1884968" y="107407"/>
                    <a:pt x="1860838" y="121377"/>
                    <a:pt x="1860838" y="121377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3538157" y="7811228"/>
            <a:ext cx="3946457" cy="2011973"/>
            <a:chOff x="0" y="0"/>
            <a:chExt cx="7744383" cy="394822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744383" cy="3846622"/>
            </a:xfrm>
            <a:custGeom>
              <a:avLst/>
              <a:gdLst/>
              <a:ahLst/>
              <a:cxnLst/>
              <a:rect r="r" b="b" t="t" l="l"/>
              <a:pathLst>
                <a:path h="3846622" w="7744383">
                  <a:moveTo>
                    <a:pt x="0" y="0"/>
                  </a:moveTo>
                  <a:lnTo>
                    <a:pt x="7744383" y="0"/>
                  </a:lnTo>
                  <a:lnTo>
                    <a:pt x="7744383" y="3846622"/>
                  </a:lnTo>
                  <a:lnTo>
                    <a:pt x="0" y="38466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744383" cy="3948222"/>
            </a:xfrm>
            <a:custGeom>
              <a:avLst/>
              <a:gdLst/>
              <a:ahLst/>
              <a:cxnLst/>
              <a:rect r="r" b="b" t="t" l="l"/>
              <a:pathLst>
                <a:path h="3948222" w="7744383">
                  <a:moveTo>
                    <a:pt x="0" y="3846622"/>
                  </a:moveTo>
                  <a:lnTo>
                    <a:pt x="7744383" y="3846622"/>
                  </a:lnTo>
                  <a:lnTo>
                    <a:pt x="7617383" y="3948222"/>
                  </a:lnTo>
                  <a:cubicBezTo>
                    <a:pt x="7617383" y="3948222"/>
                    <a:pt x="6626783" y="3872022"/>
                    <a:pt x="6525183" y="3872022"/>
                  </a:cubicBezTo>
                  <a:lnTo>
                    <a:pt x="1219200" y="3872022"/>
                  </a:lnTo>
                  <a:cubicBezTo>
                    <a:pt x="1117600" y="3872022"/>
                    <a:pt x="127000" y="3948222"/>
                    <a:pt x="127000" y="3948222"/>
                  </a:cubicBezTo>
                  <a:lnTo>
                    <a:pt x="0" y="3846622"/>
                  </a:lnTo>
                  <a:lnTo>
                    <a:pt x="0" y="0"/>
                  </a:lnTo>
                  <a:lnTo>
                    <a:pt x="7744383" y="0"/>
                  </a:lnTo>
                  <a:lnTo>
                    <a:pt x="7744383" y="3846622"/>
                  </a:lnTo>
                  <a:lnTo>
                    <a:pt x="12700" y="3846622"/>
                  </a:lnTo>
                  <a:lnTo>
                    <a:pt x="12700" y="3833922"/>
                  </a:lnTo>
                  <a:lnTo>
                    <a:pt x="7731683" y="3833922"/>
                  </a:lnTo>
                  <a:lnTo>
                    <a:pt x="7731683" y="12700"/>
                  </a:lnTo>
                  <a:lnTo>
                    <a:pt x="12700" y="12700"/>
                  </a:lnTo>
                  <a:lnTo>
                    <a:pt x="12700" y="38466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7744383" cy="3408472"/>
            </a:xfrm>
            <a:prstGeom prst="rect">
              <a:avLst/>
            </a:prstGeom>
          </p:spPr>
          <p:txBody>
            <a:bodyPr anchor="t" rtlCol="false" tIns="138065" lIns="138065" bIns="138065" rIns="138065"/>
            <a:lstStyle/>
            <a:p>
              <a:pPr algn="l">
                <a:lnSpc>
                  <a:spcPts val="1712"/>
                </a:lnSpc>
              </a:pPr>
              <a:r>
                <a:rPr lang="en-US" sz="122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Warum hilft uns IaC gegen eine Fehlkonfiguration der Cloud?</a:t>
              </a:r>
            </a:p>
            <a:p>
              <a:pPr algn="l">
                <a:lnSpc>
                  <a:spcPts val="1712"/>
                </a:lnSpc>
              </a:pPr>
            </a:p>
            <a:p>
              <a:pPr algn="l">
                <a:lnSpc>
                  <a:spcPts val="1712"/>
                </a:lnSpc>
              </a:pPr>
            </a:p>
            <a:p>
              <a:pPr algn="l">
                <a:lnSpc>
                  <a:spcPts val="1712"/>
                </a:lnSpc>
              </a:pPr>
              <a:r>
                <a:rPr lang="en-US" sz="122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⟶ Wiederherstellbarkeit, deklarative Beschreibung der Infrastruktur, kein ClickOps, Versionierung (Rollbacks)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743998" y="5337810"/>
            <a:ext cx="977265" cy="2843212"/>
            <a:chOff x="0" y="0"/>
            <a:chExt cx="1303020" cy="37909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50482" y="48528"/>
              <a:ext cx="1204709" cy="3704801"/>
            </a:xfrm>
            <a:custGeom>
              <a:avLst/>
              <a:gdLst/>
              <a:ahLst/>
              <a:cxnLst/>
              <a:rect r="r" b="b" t="t" l="l"/>
              <a:pathLst>
                <a:path h="3704801" w="1204709">
                  <a:moveTo>
                    <a:pt x="935038" y="3640822"/>
                  </a:moveTo>
                  <a:cubicBezTo>
                    <a:pt x="1186498" y="3603992"/>
                    <a:pt x="1156018" y="3497312"/>
                    <a:pt x="1145858" y="3398252"/>
                  </a:cubicBezTo>
                  <a:cubicBezTo>
                    <a:pt x="1130618" y="3235692"/>
                    <a:pt x="1073468" y="2961372"/>
                    <a:pt x="1029018" y="2767062"/>
                  </a:cubicBezTo>
                  <a:cubicBezTo>
                    <a:pt x="989648" y="2596882"/>
                    <a:pt x="941388" y="2490202"/>
                    <a:pt x="900748" y="2293352"/>
                  </a:cubicBezTo>
                  <a:cubicBezTo>
                    <a:pt x="834708" y="1978392"/>
                    <a:pt x="775018" y="1403082"/>
                    <a:pt x="714058" y="1051292"/>
                  </a:cubicBezTo>
                  <a:cubicBezTo>
                    <a:pt x="669608" y="788402"/>
                    <a:pt x="612458" y="550912"/>
                    <a:pt x="580708" y="365492"/>
                  </a:cubicBezTo>
                  <a:cubicBezTo>
                    <a:pt x="559118" y="239762"/>
                    <a:pt x="593408" y="93712"/>
                    <a:pt x="534988" y="45452"/>
                  </a:cubicBezTo>
                  <a:cubicBezTo>
                    <a:pt x="481648" y="2272"/>
                    <a:pt x="341948" y="50532"/>
                    <a:pt x="265748" y="61962"/>
                  </a:cubicBezTo>
                  <a:cubicBezTo>
                    <a:pt x="207328" y="69582"/>
                    <a:pt x="160338" y="92442"/>
                    <a:pt x="115888" y="96252"/>
                  </a:cubicBezTo>
                  <a:cubicBezTo>
                    <a:pt x="81598" y="100062"/>
                    <a:pt x="42228" y="101332"/>
                    <a:pt x="23178" y="93712"/>
                  </a:cubicBezTo>
                  <a:cubicBezTo>
                    <a:pt x="11748" y="88632"/>
                    <a:pt x="2858" y="81012"/>
                    <a:pt x="318" y="72122"/>
                  </a:cubicBezTo>
                  <a:cubicBezTo>
                    <a:pt x="-952" y="65772"/>
                    <a:pt x="1588" y="54342"/>
                    <a:pt x="7938" y="50532"/>
                  </a:cubicBezTo>
                  <a:cubicBezTo>
                    <a:pt x="14288" y="44182"/>
                    <a:pt x="30798" y="42912"/>
                    <a:pt x="38418" y="46722"/>
                  </a:cubicBezTo>
                  <a:cubicBezTo>
                    <a:pt x="44768" y="49262"/>
                    <a:pt x="51118" y="59422"/>
                    <a:pt x="51118" y="65772"/>
                  </a:cubicBezTo>
                  <a:cubicBezTo>
                    <a:pt x="51118" y="74662"/>
                    <a:pt x="40958" y="89902"/>
                    <a:pt x="33338" y="92442"/>
                  </a:cubicBezTo>
                  <a:cubicBezTo>
                    <a:pt x="25718" y="93712"/>
                    <a:pt x="2858" y="83552"/>
                    <a:pt x="318" y="74662"/>
                  </a:cubicBezTo>
                  <a:cubicBezTo>
                    <a:pt x="-952" y="67042"/>
                    <a:pt x="6668" y="50532"/>
                    <a:pt x="19368" y="42912"/>
                  </a:cubicBezTo>
                  <a:cubicBezTo>
                    <a:pt x="43498" y="28942"/>
                    <a:pt x="119698" y="49262"/>
                    <a:pt x="165418" y="41642"/>
                  </a:cubicBezTo>
                  <a:cubicBezTo>
                    <a:pt x="206058" y="35292"/>
                    <a:pt x="233998" y="14972"/>
                    <a:pt x="279718" y="7352"/>
                  </a:cubicBezTo>
                  <a:cubicBezTo>
                    <a:pt x="345758" y="-2808"/>
                    <a:pt x="479108" y="-268"/>
                    <a:pt x="524828" y="2272"/>
                  </a:cubicBezTo>
                  <a:cubicBezTo>
                    <a:pt x="542608" y="2272"/>
                    <a:pt x="552768" y="1002"/>
                    <a:pt x="562928" y="6082"/>
                  </a:cubicBezTo>
                  <a:cubicBezTo>
                    <a:pt x="570548" y="11162"/>
                    <a:pt x="576898" y="17512"/>
                    <a:pt x="581978" y="26402"/>
                  </a:cubicBezTo>
                  <a:cubicBezTo>
                    <a:pt x="589598" y="41642"/>
                    <a:pt x="592138" y="63232"/>
                    <a:pt x="597218" y="92442"/>
                  </a:cubicBezTo>
                  <a:cubicBezTo>
                    <a:pt x="608648" y="150862"/>
                    <a:pt x="613728" y="247382"/>
                    <a:pt x="630238" y="355332"/>
                  </a:cubicBezTo>
                  <a:cubicBezTo>
                    <a:pt x="658178" y="530592"/>
                    <a:pt x="719138" y="779512"/>
                    <a:pt x="764858" y="1043672"/>
                  </a:cubicBezTo>
                  <a:cubicBezTo>
                    <a:pt x="824548" y="1395462"/>
                    <a:pt x="884238" y="1966962"/>
                    <a:pt x="949008" y="2280652"/>
                  </a:cubicBezTo>
                  <a:cubicBezTo>
                    <a:pt x="990918" y="2478772"/>
                    <a:pt x="1039178" y="2586722"/>
                    <a:pt x="1078548" y="2756902"/>
                  </a:cubicBezTo>
                  <a:cubicBezTo>
                    <a:pt x="1122998" y="2953752"/>
                    <a:pt x="1181418" y="3238232"/>
                    <a:pt x="1196658" y="3395712"/>
                  </a:cubicBezTo>
                  <a:cubicBezTo>
                    <a:pt x="1205548" y="3487152"/>
                    <a:pt x="1206818" y="3562082"/>
                    <a:pt x="1201738" y="3614152"/>
                  </a:cubicBezTo>
                  <a:cubicBezTo>
                    <a:pt x="1197928" y="3644632"/>
                    <a:pt x="1203008" y="3668762"/>
                    <a:pt x="1182688" y="3684002"/>
                  </a:cubicBezTo>
                  <a:cubicBezTo>
                    <a:pt x="1145858" y="3713212"/>
                    <a:pt x="961708" y="3708132"/>
                    <a:pt x="926148" y="3690352"/>
                  </a:cubicBezTo>
                  <a:cubicBezTo>
                    <a:pt x="913448" y="3682732"/>
                    <a:pt x="907098" y="3670032"/>
                    <a:pt x="908368" y="3661142"/>
                  </a:cubicBezTo>
                  <a:cubicBezTo>
                    <a:pt x="909638" y="3653522"/>
                    <a:pt x="935038" y="3640822"/>
                    <a:pt x="935038" y="3640822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6726852" y="5272088"/>
            <a:ext cx="262890" cy="410528"/>
            <a:chOff x="0" y="0"/>
            <a:chExt cx="350520" cy="54737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49488" y="46038"/>
              <a:ext cx="252196" cy="452468"/>
            </a:xfrm>
            <a:custGeom>
              <a:avLst/>
              <a:gdLst/>
              <a:ahLst/>
              <a:cxnLst/>
              <a:rect r="r" b="b" t="t" l="l"/>
              <a:pathLst>
                <a:path h="452468" w="252196">
                  <a:moveTo>
                    <a:pt x="179112" y="39052"/>
                  </a:moveTo>
                  <a:cubicBezTo>
                    <a:pt x="61002" y="249872"/>
                    <a:pt x="236262" y="373062"/>
                    <a:pt x="248962" y="416242"/>
                  </a:cubicBezTo>
                  <a:cubicBezTo>
                    <a:pt x="254042" y="430212"/>
                    <a:pt x="252772" y="441642"/>
                    <a:pt x="246422" y="446722"/>
                  </a:cubicBezTo>
                  <a:cubicBezTo>
                    <a:pt x="240072" y="453072"/>
                    <a:pt x="215942" y="453072"/>
                    <a:pt x="209592" y="447992"/>
                  </a:cubicBezTo>
                  <a:cubicBezTo>
                    <a:pt x="204512" y="441642"/>
                    <a:pt x="204512" y="416242"/>
                    <a:pt x="210862" y="411162"/>
                  </a:cubicBezTo>
                  <a:cubicBezTo>
                    <a:pt x="217212" y="404812"/>
                    <a:pt x="241342" y="407352"/>
                    <a:pt x="247692" y="413702"/>
                  </a:cubicBezTo>
                  <a:cubicBezTo>
                    <a:pt x="252772" y="420052"/>
                    <a:pt x="254042" y="439102"/>
                    <a:pt x="248962" y="444182"/>
                  </a:cubicBezTo>
                  <a:cubicBezTo>
                    <a:pt x="242612" y="451802"/>
                    <a:pt x="227372" y="455612"/>
                    <a:pt x="212132" y="449262"/>
                  </a:cubicBezTo>
                  <a:cubicBezTo>
                    <a:pt x="166412" y="431482"/>
                    <a:pt x="10202" y="240982"/>
                    <a:pt x="1312" y="195262"/>
                  </a:cubicBezTo>
                  <a:cubicBezTo>
                    <a:pt x="-2498" y="181292"/>
                    <a:pt x="2582" y="177482"/>
                    <a:pt x="8932" y="164782"/>
                  </a:cubicBezTo>
                  <a:cubicBezTo>
                    <a:pt x="26712" y="130492"/>
                    <a:pt x="106722" y="20002"/>
                    <a:pt x="141012" y="4762"/>
                  </a:cubicBezTo>
                  <a:cubicBezTo>
                    <a:pt x="154982" y="-1588"/>
                    <a:pt x="172762" y="-1588"/>
                    <a:pt x="179112" y="4762"/>
                  </a:cubicBezTo>
                  <a:cubicBezTo>
                    <a:pt x="184192" y="11112"/>
                    <a:pt x="179112" y="39052"/>
                    <a:pt x="179112" y="39052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62050"/>
            <a:ext cx="16325088" cy="41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0E7C86"/>
                </a:solidFill>
                <a:latin typeface="Arimo Bold"/>
                <a:ea typeface="Arimo Bold"/>
                <a:cs typeface="Arimo Bold"/>
                <a:sym typeface="Arimo Bold"/>
              </a:rPr>
              <a:t>LÖSUNGSVARIANTEN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00508"/>
            <a:ext cx="14716125" cy="614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4"/>
              </a:lnSpc>
            </a:pPr>
            <a:r>
              <a:rPr lang="en-US" sz="4186" b="true">
                <a:solidFill>
                  <a:srgbClr val="172A3F"/>
                </a:solidFill>
                <a:latin typeface="Arimo Bold"/>
                <a:ea typeface="Arimo Bold"/>
                <a:cs typeface="Arimo Bold"/>
                <a:sym typeface="Arimo Bold"/>
              </a:rPr>
              <a:t>Nutzwertanalyse der Cloud-Anbieter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219200" y="2619375"/>
          <a:ext cx="15811500" cy="4533900"/>
        </p:xfrm>
        <a:graphic>
          <a:graphicData uri="http://schemas.openxmlformats.org/drawingml/2006/table">
            <a:tbl>
              <a:tblPr/>
              <a:tblGrid>
                <a:gridCol w="6287043"/>
                <a:gridCol w="1912403"/>
                <a:gridCol w="2537351"/>
                <a:gridCol w="2537351"/>
                <a:gridCol w="2537351"/>
              </a:tblGrid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Kriterium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Gew.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AWS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Azure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GCP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3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Managed IoT-Dienste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30 %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Skalierbarkeit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25 %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Kosten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20 %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Vorhandenes Know-how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15 %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Datenstandort EU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10 %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Gewichtete Summe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B5A6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4,6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4,5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4,3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1219200" y="7586958"/>
            <a:ext cx="15849600" cy="1176042"/>
            <a:chOff x="0" y="0"/>
            <a:chExt cx="21132800" cy="15680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132800" cy="1568069"/>
            </a:xfrm>
            <a:custGeom>
              <a:avLst/>
              <a:gdLst/>
              <a:ahLst/>
              <a:cxnLst/>
              <a:rect r="r" b="b" t="t" l="l"/>
              <a:pathLst>
                <a:path h="1568069" w="211328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20955000" y="0"/>
                  </a:lnTo>
                  <a:cubicBezTo>
                    <a:pt x="21053171" y="0"/>
                    <a:pt x="21132800" y="79629"/>
                    <a:pt x="21132800" y="177800"/>
                  </a:cubicBezTo>
                  <a:lnTo>
                    <a:pt x="21132800" y="1390269"/>
                  </a:lnTo>
                  <a:cubicBezTo>
                    <a:pt x="21132800" y="1488440"/>
                    <a:pt x="21053171" y="1568069"/>
                    <a:pt x="20955000" y="1568069"/>
                  </a:cubicBezTo>
                  <a:lnTo>
                    <a:pt x="177800" y="1568069"/>
                  </a:lnTo>
                  <a:cubicBezTo>
                    <a:pt x="79629" y="1568069"/>
                    <a:pt x="0" y="1488440"/>
                    <a:pt x="0" y="1390269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991325" y="7767342"/>
            <a:ext cx="15215864" cy="80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Entscheidung: AWS</a:t>
            </a:r>
            <a:r>
              <a:rPr lang="en-US" sz="202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– beste Abdeckung der Managed-IoT-Dienste bei EU-Datenhaltung, als Managed Service statt eigener IaaS-Verwaltung.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9319317"/>
            <a:ext cx="3207039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97A4"/>
                </a:solidFill>
                <a:latin typeface="IBM Plex Sans"/>
                <a:ea typeface="IBM Plex Sans"/>
                <a:cs typeface="IBM Plex Sans"/>
                <a:sym typeface="IBM Plex Sans"/>
              </a:rPr>
              <a:t>Cloud-Migration IoT-Telematik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24659" y="9319317"/>
            <a:ext cx="820341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97A4"/>
                </a:solidFill>
                <a:latin typeface="IBM Plex Sans"/>
                <a:ea typeface="IBM Plex Sans"/>
                <a:cs typeface="IBM Plex Sans"/>
                <a:sym typeface="IBM Plex Sans"/>
              </a:rPr>
              <a:t>06 / 12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467770" y="7981293"/>
            <a:ext cx="34368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>
            <a:off x="10861740" y="1690983"/>
            <a:ext cx="0" cy="79537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11436437" y="254941"/>
            <a:ext cx="4591020" cy="2231417"/>
            <a:chOff x="0" y="0"/>
            <a:chExt cx="10229970" cy="49721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29969" cy="4870570"/>
            </a:xfrm>
            <a:custGeom>
              <a:avLst/>
              <a:gdLst/>
              <a:ahLst/>
              <a:cxnLst/>
              <a:rect r="r" b="b" t="t" l="l"/>
              <a:pathLst>
                <a:path h="4870570" w="10229969">
                  <a:moveTo>
                    <a:pt x="0" y="0"/>
                  </a:moveTo>
                  <a:lnTo>
                    <a:pt x="10229969" y="0"/>
                  </a:lnTo>
                  <a:lnTo>
                    <a:pt x="10229969" y="4870570"/>
                  </a:lnTo>
                  <a:lnTo>
                    <a:pt x="0" y="4870570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29969" cy="4972170"/>
            </a:xfrm>
            <a:custGeom>
              <a:avLst/>
              <a:gdLst/>
              <a:ahLst/>
              <a:cxnLst/>
              <a:rect r="r" b="b" t="t" l="l"/>
              <a:pathLst>
                <a:path h="4972170" w="10229969">
                  <a:moveTo>
                    <a:pt x="0" y="4870570"/>
                  </a:moveTo>
                  <a:lnTo>
                    <a:pt x="10229969" y="4870570"/>
                  </a:lnTo>
                  <a:lnTo>
                    <a:pt x="10102969" y="4972170"/>
                  </a:lnTo>
                  <a:cubicBezTo>
                    <a:pt x="10102969" y="4972170"/>
                    <a:pt x="9112369" y="4895970"/>
                    <a:pt x="9010769" y="4895970"/>
                  </a:cubicBezTo>
                  <a:lnTo>
                    <a:pt x="1219200" y="4895970"/>
                  </a:lnTo>
                  <a:cubicBezTo>
                    <a:pt x="1117600" y="4895970"/>
                    <a:pt x="127000" y="4972170"/>
                    <a:pt x="127000" y="4972170"/>
                  </a:cubicBezTo>
                  <a:lnTo>
                    <a:pt x="0" y="4870570"/>
                  </a:lnTo>
                  <a:lnTo>
                    <a:pt x="0" y="0"/>
                  </a:lnTo>
                  <a:lnTo>
                    <a:pt x="10229969" y="0"/>
                  </a:lnTo>
                  <a:lnTo>
                    <a:pt x="10229969" y="4870570"/>
                  </a:lnTo>
                  <a:lnTo>
                    <a:pt x="12700" y="4870570"/>
                  </a:lnTo>
                  <a:lnTo>
                    <a:pt x="12700" y="4857870"/>
                  </a:lnTo>
                  <a:lnTo>
                    <a:pt x="10217269" y="4857870"/>
                  </a:lnTo>
                  <a:lnTo>
                    <a:pt x="10217269" y="12700"/>
                  </a:lnTo>
                  <a:lnTo>
                    <a:pt x="12700" y="12700"/>
                  </a:lnTo>
                  <a:lnTo>
                    <a:pt x="12700" y="4870570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0229970" cy="4432420"/>
            </a:xfrm>
            <a:prstGeom prst="rect">
              <a:avLst/>
            </a:prstGeom>
          </p:spPr>
          <p:txBody>
            <a:bodyPr anchor="t" rtlCol="false" tIns="121590" lIns="121590" bIns="121590" rIns="121590"/>
            <a:lstStyle/>
            <a:p>
              <a:pPr algn="l">
                <a:lnSpc>
                  <a:spcPts val="1507"/>
                </a:lnSpc>
              </a:pPr>
              <a:r>
                <a:rPr lang="en-US" sz="107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Zu den Kriterien was sagen können.. (Gern selber länger erklären was damit gemeint ist..)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670895" y="8142591"/>
            <a:ext cx="4591020" cy="2231417"/>
            <a:chOff x="0" y="0"/>
            <a:chExt cx="10229970" cy="49721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29969" cy="4870570"/>
            </a:xfrm>
            <a:custGeom>
              <a:avLst/>
              <a:gdLst/>
              <a:ahLst/>
              <a:cxnLst/>
              <a:rect r="r" b="b" t="t" l="l"/>
              <a:pathLst>
                <a:path h="4870570" w="10229969">
                  <a:moveTo>
                    <a:pt x="0" y="0"/>
                  </a:moveTo>
                  <a:lnTo>
                    <a:pt x="10229969" y="0"/>
                  </a:lnTo>
                  <a:lnTo>
                    <a:pt x="10229969" y="4870570"/>
                  </a:lnTo>
                  <a:lnTo>
                    <a:pt x="0" y="4870570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29969" cy="4972170"/>
            </a:xfrm>
            <a:custGeom>
              <a:avLst/>
              <a:gdLst/>
              <a:ahLst/>
              <a:cxnLst/>
              <a:rect r="r" b="b" t="t" l="l"/>
              <a:pathLst>
                <a:path h="4972170" w="10229969">
                  <a:moveTo>
                    <a:pt x="0" y="4870570"/>
                  </a:moveTo>
                  <a:lnTo>
                    <a:pt x="10229969" y="4870570"/>
                  </a:lnTo>
                  <a:lnTo>
                    <a:pt x="10102969" y="4972170"/>
                  </a:lnTo>
                  <a:cubicBezTo>
                    <a:pt x="10102969" y="4972170"/>
                    <a:pt x="9112369" y="4895970"/>
                    <a:pt x="9010769" y="4895970"/>
                  </a:cubicBezTo>
                  <a:lnTo>
                    <a:pt x="1219200" y="4895970"/>
                  </a:lnTo>
                  <a:cubicBezTo>
                    <a:pt x="1117600" y="4895970"/>
                    <a:pt x="127000" y="4972170"/>
                    <a:pt x="127000" y="4972170"/>
                  </a:cubicBezTo>
                  <a:lnTo>
                    <a:pt x="0" y="4870570"/>
                  </a:lnTo>
                  <a:lnTo>
                    <a:pt x="0" y="0"/>
                  </a:lnTo>
                  <a:lnTo>
                    <a:pt x="10229969" y="0"/>
                  </a:lnTo>
                  <a:lnTo>
                    <a:pt x="10229969" y="4870570"/>
                  </a:lnTo>
                  <a:lnTo>
                    <a:pt x="12700" y="4870570"/>
                  </a:lnTo>
                  <a:lnTo>
                    <a:pt x="12700" y="4857870"/>
                  </a:lnTo>
                  <a:lnTo>
                    <a:pt x="10217269" y="4857870"/>
                  </a:lnTo>
                  <a:lnTo>
                    <a:pt x="10217269" y="12700"/>
                  </a:lnTo>
                  <a:lnTo>
                    <a:pt x="12700" y="12700"/>
                  </a:lnTo>
                  <a:lnTo>
                    <a:pt x="12700" y="4870570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229970" cy="4432420"/>
            </a:xfrm>
            <a:prstGeom prst="rect">
              <a:avLst/>
            </a:prstGeom>
          </p:spPr>
          <p:txBody>
            <a:bodyPr anchor="t" rtlCol="false" tIns="121590" lIns="121590" bIns="121590" rIns="121590"/>
            <a:lstStyle/>
            <a:p>
              <a:pPr algn="l">
                <a:lnSpc>
                  <a:spcPts val="1507"/>
                </a:lnSpc>
              </a:pPr>
              <a:r>
                <a:rPr lang="en-US" sz="107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Prüfer fragt vllt warum nur die großen Hyperscaler verglichen werden? Warum überhaupt Cloud und nicht On-Premises?</a:t>
              </a:r>
            </a:p>
            <a:p>
              <a:pPr algn="l">
                <a:lnSpc>
                  <a:spcPts val="1507"/>
                </a:lnSpc>
              </a:pPr>
            </a:p>
            <a:p>
              <a:pPr algn="l">
                <a:lnSpc>
                  <a:spcPts val="1507"/>
                </a:lnSpc>
              </a:pPr>
              <a:r>
                <a:rPr lang="en-US" sz="107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Antwort ⟶ Anforderungen der Geschäftsführung, Inhalt des Projektes, starre Vorgaben</a:t>
              </a:r>
            </a:p>
            <a:p>
              <a:pPr algn="l">
                <a:lnSpc>
                  <a:spcPts val="1507"/>
                </a:lnSpc>
              </a:pPr>
            </a:p>
            <a:p>
              <a:pPr algn="l">
                <a:lnSpc>
                  <a:spcPts val="1507"/>
                </a:lnSpc>
              </a:pPr>
            </a:p>
            <a:p>
              <a:pPr algn="l">
                <a:lnSpc>
                  <a:spcPts val="1507"/>
                </a:lnSpc>
              </a:pPr>
              <a:r>
                <a:rPr lang="en-US" sz="107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Nicht verunsichern lassen... 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71575"/>
            <a:ext cx="16325088" cy="38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5"/>
              </a:lnSpc>
            </a:pPr>
            <a:r>
              <a:rPr lang="en-US" b="true" sz="1681" spc="224">
                <a:solidFill>
                  <a:srgbClr val="4FB6C0"/>
                </a:solidFill>
                <a:latin typeface="Arimo Bold"/>
                <a:ea typeface="Arimo Bold"/>
                <a:cs typeface="Arimo Bold"/>
                <a:sym typeface="Arimo Bold"/>
              </a:rPr>
              <a:t>HYBRIDE ZIEL-ARCHITEKTUR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362006" y="2552033"/>
            <a:ext cx="14019666" cy="5392475"/>
            <a:chOff x="0" y="0"/>
            <a:chExt cx="3692422" cy="14202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92422" cy="1420240"/>
            </a:xfrm>
            <a:custGeom>
              <a:avLst/>
              <a:gdLst/>
              <a:ahLst/>
              <a:cxnLst/>
              <a:rect r="r" b="b" t="t" l="l"/>
              <a:pathLst>
                <a:path h="1420240" w="3692422">
                  <a:moveTo>
                    <a:pt x="12149" y="0"/>
                  </a:moveTo>
                  <a:lnTo>
                    <a:pt x="3680273" y="0"/>
                  </a:lnTo>
                  <a:cubicBezTo>
                    <a:pt x="3686983" y="0"/>
                    <a:pt x="3692422" y="5439"/>
                    <a:pt x="3692422" y="12149"/>
                  </a:cubicBezTo>
                  <a:lnTo>
                    <a:pt x="3692422" y="1408091"/>
                  </a:lnTo>
                  <a:cubicBezTo>
                    <a:pt x="3692422" y="1411313"/>
                    <a:pt x="3691143" y="1414404"/>
                    <a:pt x="3688864" y="1416682"/>
                  </a:cubicBezTo>
                  <a:cubicBezTo>
                    <a:pt x="3686586" y="1418960"/>
                    <a:pt x="3683496" y="1420240"/>
                    <a:pt x="3680273" y="1420240"/>
                  </a:cubicBezTo>
                  <a:lnTo>
                    <a:pt x="12149" y="1420240"/>
                  </a:lnTo>
                  <a:cubicBezTo>
                    <a:pt x="5439" y="1420240"/>
                    <a:pt x="0" y="1414801"/>
                    <a:pt x="0" y="1408091"/>
                  </a:cubicBezTo>
                  <a:lnTo>
                    <a:pt x="0" y="12149"/>
                  </a:lnTo>
                  <a:cubicBezTo>
                    <a:pt x="0" y="5439"/>
                    <a:pt x="5439" y="0"/>
                    <a:pt x="12149" y="0"/>
                  </a:cubicBezTo>
                  <a:close/>
                </a:path>
              </a:pathLst>
            </a:custGeom>
            <a:solidFill>
              <a:srgbClr val="CFE7E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92422" cy="1458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19200" y="1657950"/>
            <a:ext cx="14716125" cy="103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5"/>
              </a:lnSpc>
            </a:pPr>
            <a:r>
              <a:rPr lang="en-US" sz="3704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Sensible Zuordnung bleibt intern, der Rest skaliert in der Cloud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133531" y="3036913"/>
            <a:ext cx="3887178" cy="4608986"/>
            <a:chOff x="0" y="0"/>
            <a:chExt cx="5182904" cy="61453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82905" cy="6145276"/>
            </a:xfrm>
            <a:custGeom>
              <a:avLst/>
              <a:gdLst/>
              <a:ahLst/>
              <a:cxnLst/>
              <a:rect r="r" b="b" t="t" l="l"/>
              <a:pathLst>
                <a:path h="6145276" w="5182905">
                  <a:moveTo>
                    <a:pt x="0" y="197231"/>
                  </a:moveTo>
                  <a:cubicBezTo>
                    <a:pt x="0" y="88265"/>
                    <a:pt x="72042" y="0"/>
                    <a:pt x="160981" y="0"/>
                  </a:cubicBezTo>
                  <a:lnTo>
                    <a:pt x="5021923" y="0"/>
                  </a:lnTo>
                  <a:cubicBezTo>
                    <a:pt x="5110862" y="0"/>
                    <a:pt x="5182905" y="88265"/>
                    <a:pt x="5182905" y="197231"/>
                  </a:cubicBezTo>
                  <a:lnTo>
                    <a:pt x="5182905" y="5948045"/>
                  </a:lnTo>
                  <a:cubicBezTo>
                    <a:pt x="5182905" y="6057011"/>
                    <a:pt x="5110862" y="6145276"/>
                    <a:pt x="5021923" y="6145276"/>
                  </a:cubicBezTo>
                  <a:lnTo>
                    <a:pt x="160981" y="6145276"/>
                  </a:lnTo>
                  <a:cubicBezTo>
                    <a:pt x="72042" y="6145276"/>
                    <a:pt x="0" y="6057011"/>
                    <a:pt x="0" y="5948045"/>
                  </a:cubicBezTo>
                  <a:close/>
                </a:path>
              </a:pathLst>
            </a:custGeom>
            <a:solidFill>
              <a:srgbClr val="1C2E45"/>
            </a:solidFill>
            <a:ln w="9525" cap="sq">
              <a:solidFill>
                <a:srgbClr val="3A4E6B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4343439" y="3275038"/>
            <a:ext cx="3571384" cy="190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7"/>
              </a:lnSpc>
            </a:pPr>
            <a:r>
              <a:rPr lang="en-US" b="true" sz="1127" spc="110">
                <a:solidFill>
                  <a:srgbClr val="9DB0C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ON-PREMISE · SOUVERÄN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343439" y="3690785"/>
            <a:ext cx="3467363" cy="1909239"/>
            <a:chOff x="0" y="0"/>
            <a:chExt cx="4623151" cy="25456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3151" cy="2545588"/>
            </a:xfrm>
            <a:custGeom>
              <a:avLst/>
              <a:gdLst/>
              <a:ahLst/>
              <a:cxnLst/>
              <a:rect r="r" b="b" t="t" l="l"/>
              <a:pathLst>
                <a:path h="2545588" w="4623151">
                  <a:moveTo>
                    <a:pt x="0" y="152400"/>
                  </a:moveTo>
                  <a:cubicBezTo>
                    <a:pt x="0" y="68199"/>
                    <a:pt x="55664" y="0"/>
                    <a:pt x="124390" y="0"/>
                  </a:cubicBezTo>
                  <a:lnTo>
                    <a:pt x="4498761" y="0"/>
                  </a:lnTo>
                  <a:cubicBezTo>
                    <a:pt x="4567486" y="0"/>
                    <a:pt x="4623151" y="68199"/>
                    <a:pt x="4623151" y="152400"/>
                  </a:cubicBezTo>
                  <a:lnTo>
                    <a:pt x="4623151" y="2393188"/>
                  </a:lnTo>
                  <a:cubicBezTo>
                    <a:pt x="4623151" y="2477389"/>
                    <a:pt x="4567486" y="2545588"/>
                    <a:pt x="4498761" y="2545588"/>
                  </a:cubicBezTo>
                  <a:lnTo>
                    <a:pt x="124390" y="2545588"/>
                  </a:lnTo>
                  <a:cubicBezTo>
                    <a:pt x="55664" y="2545588"/>
                    <a:pt x="0" y="2477389"/>
                    <a:pt x="0" y="2393188"/>
                  </a:cubicBezTo>
                  <a:close/>
                </a:path>
              </a:pathLst>
            </a:custGeom>
            <a:solidFill>
              <a:srgbClr val="24365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530023" y="3900335"/>
            <a:ext cx="264328" cy="286417"/>
            <a:chOff x="0" y="0"/>
            <a:chExt cx="352438" cy="381889"/>
          </a:xfrm>
        </p:grpSpPr>
        <p:sp>
          <p:nvSpPr>
            <p:cNvPr name="Freeform 13" id="13" descr="Lock"/>
            <p:cNvSpPr/>
            <p:nvPr/>
          </p:nvSpPr>
          <p:spPr>
            <a:xfrm flipH="false" flipV="false" rot="0">
              <a:off x="0" y="0"/>
              <a:ext cx="352437" cy="381889"/>
            </a:xfrm>
            <a:custGeom>
              <a:avLst/>
              <a:gdLst/>
              <a:ahLst/>
              <a:cxnLst/>
              <a:rect r="r" b="b" t="t" l="l"/>
              <a:pathLst>
                <a:path h="381889" w="352437">
                  <a:moveTo>
                    <a:pt x="0" y="0"/>
                  </a:moveTo>
                  <a:lnTo>
                    <a:pt x="352437" y="0"/>
                  </a:lnTo>
                  <a:lnTo>
                    <a:pt x="352437" y="381889"/>
                  </a:lnTo>
                  <a:lnTo>
                    <a:pt x="0" y="381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402" t="0" r="-11402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530023" y="4282011"/>
            <a:ext cx="3187020" cy="209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379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MQTT-Edge-Gateway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343439" y="5733383"/>
            <a:ext cx="3467363" cy="1655340"/>
            <a:chOff x="0" y="0"/>
            <a:chExt cx="4623151" cy="2207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23151" cy="2207133"/>
            </a:xfrm>
            <a:custGeom>
              <a:avLst/>
              <a:gdLst/>
              <a:ahLst/>
              <a:cxnLst/>
              <a:rect r="r" b="b" t="t" l="l"/>
              <a:pathLst>
                <a:path h="2207133" w="4623151">
                  <a:moveTo>
                    <a:pt x="0" y="152400"/>
                  </a:moveTo>
                  <a:cubicBezTo>
                    <a:pt x="0" y="68199"/>
                    <a:pt x="55664" y="0"/>
                    <a:pt x="124390" y="0"/>
                  </a:cubicBezTo>
                  <a:lnTo>
                    <a:pt x="4498761" y="0"/>
                  </a:lnTo>
                  <a:cubicBezTo>
                    <a:pt x="4567486" y="0"/>
                    <a:pt x="4623151" y="68199"/>
                    <a:pt x="4623151" y="152400"/>
                  </a:cubicBezTo>
                  <a:lnTo>
                    <a:pt x="4623151" y="2054733"/>
                  </a:lnTo>
                  <a:cubicBezTo>
                    <a:pt x="4623151" y="2138934"/>
                    <a:pt x="4567486" y="2207133"/>
                    <a:pt x="4498761" y="2207133"/>
                  </a:cubicBezTo>
                  <a:lnTo>
                    <a:pt x="124390" y="2207133"/>
                  </a:lnTo>
                  <a:cubicBezTo>
                    <a:pt x="55664" y="2207133"/>
                    <a:pt x="0" y="2138934"/>
                    <a:pt x="0" y="2054733"/>
                  </a:cubicBezTo>
                  <a:close/>
                </a:path>
              </a:pathLst>
            </a:custGeom>
            <a:solidFill>
              <a:srgbClr val="24365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530023" y="5942933"/>
            <a:ext cx="264328" cy="285455"/>
            <a:chOff x="0" y="0"/>
            <a:chExt cx="352438" cy="380606"/>
          </a:xfrm>
        </p:grpSpPr>
        <p:sp>
          <p:nvSpPr>
            <p:cNvPr name="Freeform 18" id="18" descr="Key"/>
            <p:cNvSpPr/>
            <p:nvPr/>
          </p:nvSpPr>
          <p:spPr>
            <a:xfrm flipH="false" flipV="false" rot="0">
              <a:off x="0" y="0"/>
              <a:ext cx="352437" cy="380619"/>
            </a:xfrm>
            <a:custGeom>
              <a:avLst/>
              <a:gdLst/>
              <a:ahLst/>
              <a:cxnLst/>
              <a:rect r="r" b="b" t="t" l="l"/>
              <a:pathLst>
                <a:path h="380619" w="352437">
                  <a:moveTo>
                    <a:pt x="0" y="0"/>
                  </a:moveTo>
                  <a:lnTo>
                    <a:pt x="352437" y="0"/>
                  </a:lnTo>
                  <a:lnTo>
                    <a:pt x="352437" y="380619"/>
                  </a:lnTo>
                  <a:lnTo>
                    <a:pt x="0" y="380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198" t="-3" r="-11201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530023" y="6323628"/>
            <a:ext cx="3187020" cy="200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2"/>
              </a:lnSpc>
            </a:pPr>
            <a:r>
              <a:rPr lang="en-US" sz="1319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Zuordnungstabelle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471622" y="4732287"/>
            <a:ext cx="633168" cy="249298"/>
            <a:chOff x="0" y="0"/>
            <a:chExt cx="1096688" cy="431800"/>
          </a:xfrm>
        </p:grpSpPr>
        <p:sp>
          <p:nvSpPr>
            <p:cNvPr name="Freeform 21" id="21" descr="arrow-right"/>
            <p:cNvSpPr/>
            <p:nvPr/>
          </p:nvSpPr>
          <p:spPr>
            <a:xfrm flipH="false" flipV="false" rot="0">
              <a:off x="0" y="0"/>
              <a:ext cx="1096688" cy="431800"/>
            </a:xfrm>
            <a:custGeom>
              <a:avLst/>
              <a:gdLst/>
              <a:ahLst/>
              <a:cxnLst/>
              <a:rect r="r" b="b" t="t" l="l"/>
              <a:pathLst>
                <a:path h="431800" w="1096688">
                  <a:moveTo>
                    <a:pt x="0" y="0"/>
                  </a:moveTo>
                  <a:lnTo>
                    <a:pt x="1096688" y="0"/>
                  </a:lnTo>
                  <a:lnTo>
                    <a:pt x="1096688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681" r="0" b="-11681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129550" y="5160912"/>
            <a:ext cx="1228348" cy="566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7"/>
              </a:lnSpc>
            </a:pPr>
            <a:r>
              <a:rPr lang="en-US" sz="1175">
                <a:solidFill>
                  <a:srgbClr val="3A4E6B"/>
                </a:solidFill>
                <a:latin typeface="IBM Plex Sans"/>
                <a:ea typeface="IBM Plex Sans"/>
                <a:cs typeface="IBM Plex Sans"/>
                <a:sym typeface="IBM Plex Sans"/>
              </a:rPr>
              <a:t>nur pseudonymisierte Daten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66740" y="3036913"/>
            <a:ext cx="7603321" cy="4608986"/>
            <a:chOff x="0" y="0"/>
            <a:chExt cx="10137761" cy="614531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37761" cy="6145276"/>
            </a:xfrm>
            <a:custGeom>
              <a:avLst/>
              <a:gdLst/>
              <a:ahLst/>
              <a:cxnLst/>
              <a:rect r="r" b="b" t="t" l="l"/>
              <a:pathLst>
                <a:path h="6145276" w="10137761">
                  <a:moveTo>
                    <a:pt x="0" y="197231"/>
                  </a:moveTo>
                  <a:cubicBezTo>
                    <a:pt x="0" y="88265"/>
                    <a:pt x="72042" y="0"/>
                    <a:pt x="160981" y="0"/>
                  </a:cubicBezTo>
                  <a:lnTo>
                    <a:pt x="9976779" y="0"/>
                  </a:lnTo>
                  <a:cubicBezTo>
                    <a:pt x="10065719" y="0"/>
                    <a:pt x="10137761" y="88265"/>
                    <a:pt x="10137761" y="197231"/>
                  </a:cubicBezTo>
                  <a:lnTo>
                    <a:pt x="10137761" y="5948045"/>
                  </a:lnTo>
                  <a:cubicBezTo>
                    <a:pt x="10137761" y="6057011"/>
                    <a:pt x="10065719" y="6145276"/>
                    <a:pt x="9976779" y="6145276"/>
                  </a:cubicBezTo>
                  <a:lnTo>
                    <a:pt x="160981" y="6145276"/>
                  </a:lnTo>
                  <a:cubicBezTo>
                    <a:pt x="72042" y="6145276"/>
                    <a:pt x="0" y="6057011"/>
                    <a:pt x="0" y="5948045"/>
                  </a:cubicBezTo>
                  <a:close/>
                </a:path>
              </a:pathLst>
            </a:custGeom>
            <a:solidFill>
              <a:srgbClr val="0F2E37"/>
            </a:solidFill>
            <a:ln w="9525" cap="sq">
              <a:solidFill>
                <a:srgbClr val="0E7C86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676647" y="3265513"/>
            <a:ext cx="7399011" cy="21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b="true" sz="1250" spc="113">
                <a:solidFill>
                  <a:srgbClr val="5FC7D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CLOUD · AWS · EU-REGION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676647" y="3720779"/>
            <a:ext cx="2321920" cy="2070649"/>
            <a:chOff x="0" y="0"/>
            <a:chExt cx="3095894" cy="27608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95853" cy="2760853"/>
            </a:xfrm>
            <a:custGeom>
              <a:avLst/>
              <a:gdLst/>
              <a:ahLst/>
              <a:cxnLst/>
              <a:rect r="r" b="b" t="t" l="l"/>
              <a:pathLst>
                <a:path h="2760853" w="3095853">
                  <a:moveTo>
                    <a:pt x="0" y="152400"/>
                  </a:moveTo>
                  <a:cubicBezTo>
                    <a:pt x="0" y="68199"/>
                    <a:pt x="55664" y="0"/>
                    <a:pt x="124390" y="0"/>
                  </a:cubicBezTo>
                  <a:lnTo>
                    <a:pt x="2971463" y="0"/>
                  </a:lnTo>
                  <a:cubicBezTo>
                    <a:pt x="3040188" y="0"/>
                    <a:pt x="3095853" y="68199"/>
                    <a:pt x="3095853" y="152400"/>
                  </a:cubicBezTo>
                  <a:lnTo>
                    <a:pt x="3095853" y="2608453"/>
                  </a:lnTo>
                  <a:cubicBezTo>
                    <a:pt x="3095853" y="2692654"/>
                    <a:pt x="3040188" y="2760853"/>
                    <a:pt x="2971463" y="2760853"/>
                  </a:cubicBezTo>
                  <a:lnTo>
                    <a:pt x="124390" y="2760853"/>
                  </a:lnTo>
                  <a:cubicBezTo>
                    <a:pt x="55664" y="2760853"/>
                    <a:pt x="0" y="2692654"/>
                    <a:pt x="0" y="2608453"/>
                  </a:cubicBezTo>
                  <a:close/>
                </a:path>
              </a:pathLst>
            </a:custGeom>
            <a:solidFill>
              <a:srgbClr val="153E4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32134" y="3930329"/>
            <a:ext cx="264328" cy="323850"/>
            <a:chOff x="0" y="0"/>
            <a:chExt cx="352438" cy="431800"/>
          </a:xfrm>
        </p:grpSpPr>
        <p:sp>
          <p:nvSpPr>
            <p:cNvPr name="Freeform 29" id="29" descr="Lightning"/>
            <p:cNvSpPr/>
            <p:nvPr/>
          </p:nvSpPr>
          <p:spPr>
            <a:xfrm flipH="false" flipV="false" rot="0">
              <a:off x="0" y="0"/>
              <a:ext cx="352437" cy="431800"/>
            </a:xfrm>
            <a:custGeom>
              <a:avLst/>
              <a:gdLst/>
              <a:ahLst/>
              <a:cxnLst/>
              <a:rect r="r" b="b" t="t" l="l"/>
              <a:pathLst>
                <a:path h="431800" w="352437">
                  <a:moveTo>
                    <a:pt x="0" y="0"/>
                  </a:moveTo>
                  <a:lnTo>
                    <a:pt x="352437" y="0"/>
                  </a:lnTo>
                  <a:lnTo>
                    <a:pt x="352437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259" t="0" r="-11259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832134" y="4358954"/>
            <a:ext cx="207314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sz="1475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Stream-Verarbeitung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107409" y="3720779"/>
            <a:ext cx="2321983" cy="2070649"/>
            <a:chOff x="0" y="0"/>
            <a:chExt cx="3095977" cy="276086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95956" cy="2760853"/>
            </a:xfrm>
            <a:custGeom>
              <a:avLst/>
              <a:gdLst/>
              <a:ahLst/>
              <a:cxnLst/>
              <a:rect r="r" b="b" t="t" l="l"/>
              <a:pathLst>
                <a:path h="2760853" w="3095956">
                  <a:moveTo>
                    <a:pt x="0" y="152400"/>
                  </a:moveTo>
                  <a:cubicBezTo>
                    <a:pt x="0" y="68199"/>
                    <a:pt x="55664" y="0"/>
                    <a:pt x="124390" y="0"/>
                  </a:cubicBezTo>
                  <a:lnTo>
                    <a:pt x="2971566" y="0"/>
                  </a:lnTo>
                  <a:cubicBezTo>
                    <a:pt x="3040292" y="0"/>
                    <a:pt x="3095956" y="68199"/>
                    <a:pt x="3095956" y="152400"/>
                  </a:cubicBezTo>
                  <a:lnTo>
                    <a:pt x="3095956" y="2608453"/>
                  </a:lnTo>
                  <a:cubicBezTo>
                    <a:pt x="3095956" y="2692654"/>
                    <a:pt x="3040292" y="2760853"/>
                    <a:pt x="2971566" y="2760853"/>
                  </a:cubicBezTo>
                  <a:lnTo>
                    <a:pt x="124390" y="2760853"/>
                  </a:lnTo>
                  <a:cubicBezTo>
                    <a:pt x="55664" y="2760853"/>
                    <a:pt x="0" y="2692654"/>
                    <a:pt x="0" y="2608453"/>
                  </a:cubicBezTo>
                  <a:close/>
                </a:path>
              </a:pathLst>
            </a:custGeom>
            <a:solidFill>
              <a:srgbClr val="153E48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262896" y="3930329"/>
            <a:ext cx="264328" cy="323850"/>
            <a:chOff x="0" y="0"/>
            <a:chExt cx="352438" cy="431800"/>
          </a:xfrm>
        </p:grpSpPr>
        <p:sp>
          <p:nvSpPr>
            <p:cNvPr name="Freeform 34" id="34" descr="Database"/>
            <p:cNvSpPr/>
            <p:nvPr/>
          </p:nvSpPr>
          <p:spPr>
            <a:xfrm flipH="false" flipV="false" rot="0">
              <a:off x="0" y="0"/>
              <a:ext cx="352437" cy="431800"/>
            </a:xfrm>
            <a:custGeom>
              <a:avLst/>
              <a:gdLst/>
              <a:ahLst/>
              <a:cxnLst/>
              <a:rect r="r" b="b" t="t" l="l"/>
              <a:pathLst>
                <a:path h="431800" w="352437">
                  <a:moveTo>
                    <a:pt x="0" y="0"/>
                  </a:moveTo>
                  <a:lnTo>
                    <a:pt x="352437" y="0"/>
                  </a:lnTo>
                  <a:lnTo>
                    <a:pt x="352437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1259" t="0" r="-11259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2262896" y="4358954"/>
            <a:ext cx="207320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sz="1475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Zeitreihen-DB &amp; Data Lake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4538232" y="3720779"/>
            <a:ext cx="2321920" cy="2070649"/>
            <a:chOff x="0" y="0"/>
            <a:chExt cx="3095894" cy="276086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95853" cy="2760853"/>
            </a:xfrm>
            <a:custGeom>
              <a:avLst/>
              <a:gdLst/>
              <a:ahLst/>
              <a:cxnLst/>
              <a:rect r="r" b="b" t="t" l="l"/>
              <a:pathLst>
                <a:path h="2760853" w="3095853">
                  <a:moveTo>
                    <a:pt x="0" y="152400"/>
                  </a:moveTo>
                  <a:cubicBezTo>
                    <a:pt x="0" y="68199"/>
                    <a:pt x="55664" y="0"/>
                    <a:pt x="124390" y="0"/>
                  </a:cubicBezTo>
                  <a:lnTo>
                    <a:pt x="2971463" y="0"/>
                  </a:lnTo>
                  <a:cubicBezTo>
                    <a:pt x="3040188" y="0"/>
                    <a:pt x="3095853" y="68199"/>
                    <a:pt x="3095853" y="152400"/>
                  </a:cubicBezTo>
                  <a:lnTo>
                    <a:pt x="3095853" y="2608453"/>
                  </a:lnTo>
                  <a:cubicBezTo>
                    <a:pt x="3095853" y="2692654"/>
                    <a:pt x="3040188" y="2760853"/>
                    <a:pt x="2971463" y="2760853"/>
                  </a:cubicBezTo>
                  <a:lnTo>
                    <a:pt x="124390" y="2760853"/>
                  </a:lnTo>
                  <a:cubicBezTo>
                    <a:pt x="55664" y="2760853"/>
                    <a:pt x="0" y="2692654"/>
                    <a:pt x="0" y="2608453"/>
                  </a:cubicBezTo>
                  <a:close/>
                </a:path>
              </a:pathLst>
            </a:custGeom>
            <a:solidFill>
              <a:srgbClr val="0E7C8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693720" y="3930329"/>
            <a:ext cx="264328" cy="323850"/>
            <a:chOff x="0" y="0"/>
            <a:chExt cx="352438" cy="431800"/>
          </a:xfrm>
        </p:grpSpPr>
        <p:sp>
          <p:nvSpPr>
            <p:cNvPr name="Freeform 39" id="39" descr="Cloud"/>
            <p:cNvSpPr/>
            <p:nvPr/>
          </p:nvSpPr>
          <p:spPr>
            <a:xfrm flipH="false" flipV="false" rot="0">
              <a:off x="0" y="0"/>
              <a:ext cx="352437" cy="431800"/>
            </a:xfrm>
            <a:custGeom>
              <a:avLst/>
              <a:gdLst/>
              <a:ahLst/>
              <a:cxnLst/>
              <a:rect r="r" b="b" t="t" l="l"/>
              <a:pathLst>
                <a:path h="431800" w="352437">
                  <a:moveTo>
                    <a:pt x="0" y="0"/>
                  </a:moveTo>
                  <a:lnTo>
                    <a:pt x="352437" y="0"/>
                  </a:lnTo>
                  <a:lnTo>
                    <a:pt x="352437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1259" t="0" r="-11259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4693720" y="4358954"/>
            <a:ext cx="207314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sz="1475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Backup &amp; Recovery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19200" y="8026898"/>
            <a:ext cx="15849600" cy="736102"/>
            <a:chOff x="0" y="0"/>
            <a:chExt cx="21132800" cy="98146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132800" cy="981456"/>
            </a:xfrm>
            <a:custGeom>
              <a:avLst/>
              <a:gdLst/>
              <a:ahLst/>
              <a:cxnLst/>
              <a:rect r="r" b="b" t="t" l="l"/>
              <a:pathLst>
                <a:path h="981456" w="21132800">
                  <a:moveTo>
                    <a:pt x="0" y="173736"/>
                  </a:moveTo>
                  <a:cubicBezTo>
                    <a:pt x="0" y="77724"/>
                    <a:pt x="77724" y="0"/>
                    <a:pt x="173736" y="0"/>
                  </a:cubicBezTo>
                  <a:lnTo>
                    <a:pt x="20959063" y="0"/>
                  </a:lnTo>
                  <a:cubicBezTo>
                    <a:pt x="21054949" y="0"/>
                    <a:pt x="21132800" y="77724"/>
                    <a:pt x="21132800" y="173736"/>
                  </a:cubicBezTo>
                  <a:lnTo>
                    <a:pt x="21132800" y="807720"/>
                  </a:lnTo>
                  <a:cubicBezTo>
                    <a:pt x="21132800" y="903605"/>
                    <a:pt x="21055076" y="981456"/>
                    <a:pt x="20959063" y="981456"/>
                  </a:cubicBezTo>
                  <a:lnTo>
                    <a:pt x="173736" y="981456"/>
                  </a:lnTo>
                  <a:cubicBezTo>
                    <a:pt x="77724" y="981456"/>
                    <a:pt x="0" y="903732"/>
                    <a:pt x="0" y="807720"/>
                  </a:cubicBezTo>
                  <a:close/>
                </a:path>
              </a:pathLst>
            </a:custGeom>
            <a:solidFill>
              <a:srgbClr val="1C2E45"/>
            </a:solidFill>
            <a:ln w="9525" cap="sq">
              <a:solidFill>
                <a:srgbClr val="2C3B52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1571625" y="8207873"/>
            <a:ext cx="3386852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FC0D2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Querschnitt über alle Schichten: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948515" y="8207873"/>
            <a:ext cx="2249319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Monitoring &amp; Alerting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210380" y="8207873"/>
            <a:ext cx="3286296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Identity &amp; Access Management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489629" y="8207873"/>
            <a:ext cx="3323549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Ende-zu-Ende-Verschlüsselung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19200" y="9319317"/>
            <a:ext cx="3206963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E809A"/>
                </a:solidFill>
                <a:latin typeface="IBM Plex Sans"/>
                <a:ea typeface="IBM Plex Sans"/>
                <a:cs typeface="IBM Plex Sans"/>
                <a:sym typeface="IBM Plex Sans"/>
              </a:rPr>
              <a:t>Cloud-Migration IoT-Telematik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324659" y="9319317"/>
            <a:ext cx="820341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E809A"/>
                </a:solidFill>
                <a:latin typeface="IBM Plex Sans"/>
                <a:ea typeface="IBM Plex Sans"/>
                <a:cs typeface="IBM Plex Sans"/>
                <a:sym typeface="IBM Plex Sans"/>
              </a:rPr>
              <a:t>07 / 12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384548" y="2933929"/>
            <a:ext cx="2438133" cy="2654049"/>
            <a:chOff x="0" y="0"/>
            <a:chExt cx="3500044" cy="3810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50012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50012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3302508" y="0"/>
                  </a:lnTo>
                  <a:cubicBezTo>
                    <a:pt x="3411601" y="0"/>
                    <a:pt x="3500120" y="88519"/>
                    <a:pt x="3500120" y="197612"/>
                  </a:cubicBezTo>
                  <a:lnTo>
                    <a:pt x="3500120" y="3612388"/>
                  </a:lnTo>
                  <a:cubicBezTo>
                    <a:pt x="3500120" y="3721481"/>
                    <a:pt x="3411601" y="3810000"/>
                    <a:pt x="3302508" y="3810000"/>
                  </a:cubicBezTo>
                  <a:lnTo>
                    <a:pt x="197612" y="3810000"/>
                  </a:lnTo>
                  <a:cubicBezTo>
                    <a:pt x="88519" y="3810000"/>
                    <a:pt x="0" y="3721481"/>
                    <a:pt x="0" y="3612388"/>
                  </a:cubicBezTo>
                  <a:close/>
                </a:path>
              </a:pathLst>
            </a:custGeom>
            <a:solidFill>
              <a:srgbClr val="1C2E45"/>
            </a:solidFill>
            <a:ln w="9525" cap="sq">
              <a:solidFill>
                <a:srgbClr val="2C3B52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679823" y="3229204"/>
            <a:ext cx="381000" cy="381000"/>
            <a:chOff x="0" y="0"/>
            <a:chExt cx="508000" cy="508000"/>
          </a:xfrm>
        </p:grpSpPr>
        <p:sp>
          <p:nvSpPr>
            <p:cNvPr name="Freeform 52" id="52" descr="Users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2942906" y="4224744"/>
            <a:ext cx="834994" cy="531360"/>
            <a:chOff x="0" y="0"/>
            <a:chExt cx="558800" cy="355600"/>
          </a:xfrm>
        </p:grpSpPr>
        <p:sp>
          <p:nvSpPr>
            <p:cNvPr name="Freeform 54" id="54" descr="arrow-right"/>
            <p:cNvSpPr/>
            <p:nvPr/>
          </p:nvSpPr>
          <p:spPr>
            <a:xfrm flipH="false" flipV="false" rot="0">
              <a:off x="0" y="0"/>
              <a:ext cx="558800" cy="355600"/>
            </a:xfrm>
            <a:custGeom>
              <a:avLst/>
              <a:gdLst/>
              <a:ahLst/>
              <a:cxnLst/>
              <a:rect r="r" b="b" t="t" l="l"/>
              <a:pathLst>
                <a:path h="3556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679823" y="3714979"/>
            <a:ext cx="2110683" cy="35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IoT-Endgeräte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79823" y="4118743"/>
            <a:ext cx="2110683" cy="953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9"/>
              </a:lnSpc>
            </a:pPr>
            <a:r>
              <a:rPr lang="en-US" sz="1725">
                <a:solidFill>
                  <a:srgbClr val="AFC0D2"/>
                </a:solidFill>
                <a:latin typeface="IBM Plex Sans"/>
                <a:ea typeface="IBM Plex Sans"/>
                <a:cs typeface="IBM Plex Sans"/>
                <a:sym typeface="IBM Plex Sans"/>
              </a:rPr>
              <a:t>Flotte mit Telemetrie &amp; Sensorik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571556" y="2627338"/>
            <a:ext cx="211068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>
                <a:solidFill>
                  <a:srgbClr val="3A4E6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Hybrid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4317028" y="4586694"/>
            <a:ext cx="2902376" cy="1034029"/>
            <a:chOff x="0" y="0"/>
            <a:chExt cx="6376687" cy="227182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376687" cy="2170222"/>
            </a:xfrm>
            <a:custGeom>
              <a:avLst/>
              <a:gdLst/>
              <a:ahLst/>
              <a:cxnLst/>
              <a:rect r="r" b="b" t="t" l="l"/>
              <a:pathLst>
                <a:path h="2170222" w="6376687">
                  <a:moveTo>
                    <a:pt x="0" y="0"/>
                  </a:moveTo>
                  <a:lnTo>
                    <a:pt x="6376687" y="0"/>
                  </a:lnTo>
                  <a:lnTo>
                    <a:pt x="6376687" y="2170222"/>
                  </a:lnTo>
                  <a:lnTo>
                    <a:pt x="0" y="21702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376687" cy="2271822"/>
            </a:xfrm>
            <a:custGeom>
              <a:avLst/>
              <a:gdLst/>
              <a:ahLst/>
              <a:cxnLst/>
              <a:rect r="r" b="b" t="t" l="l"/>
              <a:pathLst>
                <a:path h="2271822" w="6376687">
                  <a:moveTo>
                    <a:pt x="0" y="2170222"/>
                  </a:moveTo>
                  <a:lnTo>
                    <a:pt x="6376687" y="2170222"/>
                  </a:lnTo>
                  <a:lnTo>
                    <a:pt x="6249687" y="2271822"/>
                  </a:lnTo>
                  <a:cubicBezTo>
                    <a:pt x="6249687" y="2271822"/>
                    <a:pt x="5259087" y="2195622"/>
                    <a:pt x="5157487" y="2195622"/>
                  </a:cubicBezTo>
                  <a:lnTo>
                    <a:pt x="1219200" y="2195622"/>
                  </a:lnTo>
                  <a:cubicBezTo>
                    <a:pt x="1117600" y="2195622"/>
                    <a:pt x="127000" y="2271822"/>
                    <a:pt x="127000" y="2271822"/>
                  </a:cubicBezTo>
                  <a:lnTo>
                    <a:pt x="0" y="2170222"/>
                  </a:lnTo>
                  <a:lnTo>
                    <a:pt x="0" y="0"/>
                  </a:lnTo>
                  <a:lnTo>
                    <a:pt x="6376687" y="0"/>
                  </a:lnTo>
                  <a:lnTo>
                    <a:pt x="6376687" y="2170222"/>
                  </a:lnTo>
                  <a:lnTo>
                    <a:pt x="12700" y="2170222"/>
                  </a:lnTo>
                  <a:lnTo>
                    <a:pt x="12700" y="2157522"/>
                  </a:lnTo>
                  <a:lnTo>
                    <a:pt x="6363987" y="2157522"/>
                  </a:lnTo>
                  <a:lnTo>
                    <a:pt x="6363987" y="12700"/>
                  </a:lnTo>
                  <a:lnTo>
                    <a:pt x="12700" y="12700"/>
                  </a:lnTo>
                  <a:lnTo>
                    <a:pt x="12700" y="21702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6376687" cy="1732072"/>
            </a:xfrm>
            <a:prstGeom prst="rect">
              <a:avLst/>
            </a:prstGeom>
          </p:spPr>
          <p:txBody>
            <a:bodyPr anchor="t" rtlCol="false" tIns="123316" lIns="123316" bIns="123316" rIns="123316"/>
            <a:lstStyle/>
            <a:p>
              <a:pPr algn="l">
                <a:lnSpc>
                  <a:spcPts val="1529"/>
                </a:lnSpc>
              </a:pPr>
              <a:r>
                <a:rPr lang="en-US" sz="109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Warum nutzen wir hier ein MQTT Edge Gateway?</a:t>
              </a:r>
            </a:p>
            <a:p>
              <a:pPr algn="l">
                <a:lnSpc>
                  <a:spcPts val="1529"/>
                </a:lnSpc>
              </a:pPr>
              <a:r>
                <a:rPr lang="en-US" sz="109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Warum MQTT und nicht HTTP?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337018" y="6871709"/>
            <a:ext cx="2902376" cy="1034029"/>
            <a:chOff x="0" y="0"/>
            <a:chExt cx="6376687" cy="227182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376687" cy="2170222"/>
            </a:xfrm>
            <a:custGeom>
              <a:avLst/>
              <a:gdLst/>
              <a:ahLst/>
              <a:cxnLst/>
              <a:rect r="r" b="b" t="t" l="l"/>
              <a:pathLst>
                <a:path h="2170222" w="6376687">
                  <a:moveTo>
                    <a:pt x="0" y="0"/>
                  </a:moveTo>
                  <a:lnTo>
                    <a:pt x="6376687" y="0"/>
                  </a:lnTo>
                  <a:lnTo>
                    <a:pt x="6376687" y="2170222"/>
                  </a:lnTo>
                  <a:lnTo>
                    <a:pt x="0" y="21702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376687" cy="2271822"/>
            </a:xfrm>
            <a:custGeom>
              <a:avLst/>
              <a:gdLst/>
              <a:ahLst/>
              <a:cxnLst/>
              <a:rect r="r" b="b" t="t" l="l"/>
              <a:pathLst>
                <a:path h="2271822" w="6376687">
                  <a:moveTo>
                    <a:pt x="0" y="2170222"/>
                  </a:moveTo>
                  <a:lnTo>
                    <a:pt x="6376687" y="2170222"/>
                  </a:lnTo>
                  <a:lnTo>
                    <a:pt x="6249687" y="2271822"/>
                  </a:lnTo>
                  <a:cubicBezTo>
                    <a:pt x="6249687" y="2271822"/>
                    <a:pt x="5259087" y="2195622"/>
                    <a:pt x="5157487" y="2195622"/>
                  </a:cubicBezTo>
                  <a:lnTo>
                    <a:pt x="1219200" y="2195622"/>
                  </a:lnTo>
                  <a:cubicBezTo>
                    <a:pt x="1117600" y="2195622"/>
                    <a:pt x="127000" y="2271822"/>
                    <a:pt x="127000" y="2271822"/>
                  </a:cubicBezTo>
                  <a:lnTo>
                    <a:pt x="0" y="2170222"/>
                  </a:lnTo>
                  <a:lnTo>
                    <a:pt x="0" y="0"/>
                  </a:lnTo>
                  <a:lnTo>
                    <a:pt x="6376687" y="0"/>
                  </a:lnTo>
                  <a:lnTo>
                    <a:pt x="6376687" y="2170222"/>
                  </a:lnTo>
                  <a:lnTo>
                    <a:pt x="12700" y="2170222"/>
                  </a:lnTo>
                  <a:lnTo>
                    <a:pt x="12700" y="2157522"/>
                  </a:lnTo>
                  <a:lnTo>
                    <a:pt x="6363987" y="2157522"/>
                  </a:lnTo>
                  <a:lnTo>
                    <a:pt x="6363987" y="12700"/>
                  </a:lnTo>
                  <a:lnTo>
                    <a:pt x="12700" y="12700"/>
                  </a:lnTo>
                  <a:lnTo>
                    <a:pt x="12700" y="21702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6376687" cy="1732072"/>
            </a:xfrm>
            <a:prstGeom prst="rect">
              <a:avLst/>
            </a:prstGeom>
          </p:spPr>
          <p:txBody>
            <a:bodyPr anchor="t" rtlCol="false" tIns="123316" lIns="123316" bIns="123316" rIns="123316"/>
            <a:lstStyle/>
            <a:p>
              <a:pPr algn="l">
                <a:lnSpc>
                  <a:spcPts val="1529"/>
                </a:lnSpc>
              </a:pPr>
              <a:r>
                <a:rPr lang="en-US" sz="109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Wie sind Cloud und On-Premises verbunden?</a:t>
              </a:r>
            </a:p>
            <a:p>
              <a:pPr algn="l">
                <a:lnSpc>
                  <a:spcPts val="1529"/>
                </a:lnSpc>
              </a:pPr>
              <a:r>
                <a:rPr lang="en-US" sz="109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Verschlüsselung, Anbindung, Redundanz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5948515" y="3036913"/>
            <a:ext cx="2902376" cy="1034029"/>
            <a:chOff x="0" y="0"/>
            <a:chExt cx="6376687" cy="227182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376687" cy="2170222"/>
            </a:xfrm>
            <a:custGeom>
              <a:avLst/>
              <a:gdLst/>
              <a:ahLst/>
              <a:cxnLst/>
              <a:rect r="r" b="b" t="t" l="l"/>
              <a:pathLst>
                <a:path h="2170222" w="6376687">
                  <a:moveTo>
                    <a:pt x="0" y="0"/>
                  </a:moveTo>
                  <a:lnTo>
                    <a:pt x="6376687" y="0"/>
                  </a:lnTo>
                  <a:lnTo>
                    <a:pt x="6376687" y="2170222"/>
                  </a:lnTo>
                  <a:lnTo>
                    <a:pt x="0" y="21702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376687" cy="2271822"/>
            </a:xfrm>
            <a:custGeom>
              <a:avLst/>
              <a:gdLst/>
              <a:ahLst/>
              <a:cxnLst/>
              <a:rect r="r" b="b" t="t" l="l"/>
              <a:pathLst>
                <a:path h="2271822" w="6376687">
                  <a:moveTo>
                    <a:pt x="0" y="2170222"/>
                  </a:moveTo>
                  <a:lnTo>
                    <a:pt x="6376687" y="2170222"/>
                  </a:lnTo>
                  <a:lnTo>
                    <a:pt x="6249687" y="2271822"/>
                  </a:lnTo>
                  <a:cubicBezTo>
                    <a:pt x="6249687" y="2271822"/>
                    <a:pt x="5259087" y="2195622"/>
                    <a:pt x="5157487" y="2195622"/>
                  </a:cubicBezTo>
                  <a:lnTo>
                    <a:pt x="1219200" y="2195622"/>
                  </a:lnTo>
                  <a:cubicBezTo>
                    <a:pt x="1117600" y="2195622"/>
                    <a:pt x="127000" y="2271822"/>
                    <a:pt x="127000" y="2271822"/>
                  </a:cubicBezTo>
                  <a:lnTo>
                    <a:pt x="0" y="2170222"/>
                  </a:lnTo>
                  <a:lnTo>
                    <a:pt x="0" y="0"/>
                  </a:lnTo>
                  <a:lnTo>
                    <a:pt x="6376687" y="0"/>
                  </a:lnTo>
                  <a:lnTo>
                    <a:pt x="6376687" y="2170222"/>
                  </a:lnTo>
                  <a:lnTo>
                    <a:pt x="12700" y="2170222"/>
                  </a:lnTo>
                  <a:lnTo>
                    <a:pt x="12700" y="2157522"/>
                  </a:lnTo>
                  <a:lnTo>
                    <a:pt x="6363987" y="2157522"/>
                  </a:lnTo>
                  <a:lnTo>
                    <a:pt x="6363987" y="12700"/>
                  </a:lnTo>
                  <a:lnTo>
                    <a:pt x="12700" y="12700"/>
                  </a:lnTo>
                  <a:lnTo>
                    <a:pt x="12700" y="21702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6376687" cy="1732072"/>
            </a:xfrm>
            <a:prstGeom prst="rect">
              <a:avLst/>
            </a:prstGeom>
          </p:spPr>
          <p:txBody>
            <a:bodyPr anchor="t" rtlCol="false" tIns="123316" lIns="123316" bIns="123316" rIns="123316"/>
            <a:lstStyle/>
            <a:p>
              <a:pPr algn="l">
                <a:lnSpc>
                  <a:spcPts val="1529"/>
                </a:lnSpc>
              </a:pPr>
              <a:r>
                <a:rPr lang="en-US" sz="109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Puffer?? Edge-Verarbeitung der Daten, wo landen die Daten wenn wir einen Ausfall haben?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3777900" y="6611869"/>
            <a:ext cx="2902376" cy="1034029"/>
            <a:chOff x="0" y="0"/>
            <a:chExt cx="6376687" cy="227182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376687" cy="2170222"/>
            </a:xfrm>
            <a:custGeom>
              <a:avLst/>
              <a:gdLst/>
              <a:ahLst/>
              <a:cxnLst/>
              <a:rect r="r" b="b" t="t" l="l"/>
              <a:pathLst>
                <a:path h="2170222" w="6376687">
                  <a:moveTo>
                    <a:pt x="0" y="0"/>
                  </a:moveTo>
                  <a:lnTo>
                    <a:pt x="6376687" y="0"/>
                  </a:lnTo>
                  <a:lnTo>
                    <a:pt x="6376687" y="2170222"/>
                  </a:lnTo>
                  <a:lnTo>
                    <a:pt x="0" y="21702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376687" cy="2271822"/>
            </a:xfrm>
            <a:custGeom>
              <a:avLst/>
              <a:gdLst/>
              <a:ahLst/>
              <a:cxnLst/>
              <a:rect r="r" b="b" t="t" l="l"/>
              <a:pathLst>
                <a:path h="2271822" w="6376687">
                  <a:moveTo>
                    <a:pt x="0" y="2170222"/>
                  </a:moveTo>
                  <a:lnTo>
                    <a:pt x="6376687" y="2170222"/>
                  </a:lnTo>
                  <a:lnTo>
                    <a:pt x="6249687" y="2271822"/>
                  </a:lnTo>
                  <a:cubicBezTo>
                    <a:pt x="6249687" y="2271822"/>
                    <a:pt x="5259087" y="2195622"/>
                    <a:pt x="5157487" y="2195622"/>
                  </a:cubicBezTo>
                  <a:lnTo>
                    <a:pt x="1219200" y="2195622"/>
                  </a:lnTo>
                  <a:cubicBezTo>
                    <a:pt x="1117600" y="2195622"/>
                    <a:pt x="127000" y="2271822"/>
                    <a:pt x="127000" y="2271822"/>
                  </a:cubicBezTo>
                  <a:lnTo>
                    <a:pt x="0" y="2170222"/>
                  </a:lnTo>
                  <a:lnTo>
                    <a:pt x="0" y="0"/>
                  </a:lnTo>
                  <a:lnTo>
                    <a:pt x="6376687" y="0"/>
                  </a:lnTo>
                  <a:lnTo>
                    <a:pt x="6376687" y="2170222"/>
                  </a:lnTo>
                  <a:lnTo>
                    <a:pt x="12700" y="2170222"/>
                  </a:lnTo>
                  <a:lnTo>
                    <a:pt x="12700" y="2157522"/>
                  </a:lnTo>
                  <a:lnTo>
                    <a:pt x="6363987" y="2157522"/>
                  </a:lnTo>
                  <a:lnTo>
                    <a:pt x="6363987" y="12700"/>
                  </a:lnTo>
                  <a:lnTo>
                    <a:pt x="12700" y="12700"/>
                  </a:lnTo>
                  <a:lnTo>
                    <a:pt x="12700" y="21702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6376687" cy="1732072"/>
            </a:xfrm>
            <a:prstGeom prst="rect">
              <a:avLst/>
            </a:prstGeom>
          </p:spPr>
          <p:txBody>
            <a:bodyPr anchor="t" rtlCol="false" tIns="123316" lIns="123316" bIns="123316" rIns="123316"/>
            <a:lstStyle/>
            <a:p>
              <a:pPr algn="l">
                <a:lnSpc>
                  <a:spcPts val="1529"/>
                </a:lnSpc>
              </a:pPr>
              <a:r>
                <a:rPr lang="en-US" sz="109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Unterschied zwischen pseudonymisierten Daten und anonymisierten Daten?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381744" y="5274414"/>
            <a:ext cx="2902376" cy="1034029"/>
            <a:chOff x="0" y="0"/>
            <a:chExt cx="6376687" cy="227182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376687" cy="2170222"/>
            </a:xfrm>
            <a:custGeom>
              <a:avLst/>
              <a:gdLst/>
              <a:ahLst/>
              <a:cxnLst/>
              <a:rect r="r" b="b" t="t" l="l"/>
              <a:pathLst>
                <a:path h="2170222" w="6376687">
                  <a:moveTo>
                    <a:pt x="0" y="0"/>
                  </a:moveTo>
                  <a:lnTo>
                    <a:pt x="6376687" y="0"/>
                  </a:lnTo>
                  <a:lnTo>
                    <a:pt x="6376687" y="2170222"/>
                  </a:lnTo>
                  <a:lnTo>
                    <a:pt x="0" y="21702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376687" cy="2271822"/>
            </a:xfrm>
            <a:custGeom>
              <a:avLst/>
              <a:gdLst/>
              <a:ahLst/>
              <a:cxnLst/>
              <a:rect r="r" b="b" t="t" l="l"/>
              <a:pathLst>
                <a:path h="2271822" w="6376687">
                  <a:moveTo>
                    <a:pt x="0" y="2170222"/>
                  </a:moveTo>
                  <a:lnTo>
                    <a:pt x="6376687" y="2170222"/>
                  </a:lnTo>
                  <a:lnTo>
                    <a:pt x="6249687" y="2271822"/>
                  </a:lnTo>
                  <a:cubicBezTo>
                    <a:pt x="6249687" y="2271822"/>
                    <a:pt x="5259087" y="2195622"/>
                    <a:pt x="5157487" y="2195622"/>
                  </a:cubicBezTo>
                  <a:lnTo>
                    <a:pt x="1219200" y="2195622"/>
                  </a:lnTo>
                  <a:cubicBezTo>
                    <a:pt x="1117600" y="2195622"/>
                    <a:pt x="127000" y="2271822"/>
                    <a:pt x="127000" y="2271822"/>
                  </a:cubicBezTo>
                  <a:lnTo>
                    <a:pt x="0" y="2170222"/>
                  </a:lnTo>
                  <a:lnTo>
                    <a:pt x="0" y="0"/>
                  </a:lnTo>
                  <a:lnTo>
                    <a:pt x="6376687" y="0"/>
                  </a:lnTo>
                  <a:lnTo>
                    <a:pt x="6376687" y="2170222"/>
                  </a:lnTo>
                  <a:lnTo>
                    <a:pt x="12700" y="2170222"/>
                  </a:lnTo>
                  <a:lnTo>
                    <a:pt x="12700" y="2157522"/>
                  </a:lnTo>
                  <a:lnTo>
                    <a:pt x="6363987" y="2157522"/>
                  </a:lnTo>
                  <a:lnTo>
                    <a:pt x="6363987" y="12700"/>
                  </a:lnTo>
                  <a:lnTo>
                    <a:pt x="12700" y="12700"/>
                  </a:lnTo>
                  <a:lnTo>
                    <a:pt x="12700" y="21702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6376687" cy="1732072"/>
            </a:xfrm>
            <a:prstGeom prst="rect">
              <a:avLst/>
            </a:prstGeom>
          </p:spPr>
          <p:txBody>
            <a:bodyPr anchor="t" rtlCol="false" tIns="123316" lIns="123316" bIns="123316" rIns="123316"/>
            <a:lstStyle/>
            <a:p>
              <a:pPr algn="l">
                <a:lnSpc>
                  <a:spcPts val="1529"/>
                </a:lnSpc>
              </a:pPr>
              <a:r>
                <a:rPr lang="en-US" sz="109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Was passiert bei der Stream-Verarbeitung? Daten aufräumen (filtern, aggregieren, taggen)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957226" y="6601100"/>
            <a:ext cx="2902376" cy="1034029"/>
            <a:chOff x="0" y="0"/>
            <a:chExt cx="6376687" cy="227182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376687" cy="2170222"/>
            </a:xfrm>
            <a:custGeom>
              <a:avLst/>
              <a:gdLst/>
              <a:ahLst/>
              <a:cxnLst/>
              <a:rect r="r" b="b" t="t" l="l"/>
              <a:pathLst>
                <a:path h="2170222" w="6376687">
                  <a:moveTo>
                    <a:pt x="0" y="0"/>
                  </a:moveTo>
                  <a:lnTo>
                    <a:pt x="6376687" y="0"/>
                  </a:lnTo>
                  <a:lnTo>
                    <a:pt x="6376687" y="2170222"/>
                  </a:lnTo>
                  <a:lnTo>
                    <a:pt x="0" y="21702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376687" cy="2271822"/>
            </a:xfrm>
            <a:custGeom>
              <a:avLst/>
              <a:gdLst/>
              <a:ahLst/>
              <a:cxnLst/>
              <a:rect r="r" b="b" t="t" l="l"/>
              <a:pathLst>
                <a:path h="2271822" w="6376687">
                  <a:moveTo>
                    <a:pt x="0" y="2170222"/>
                  </a:moveTo>
                  <a:lnTo>
                    <a:pt x="6376687" y="2170222"/>
                  </a:lnTo>
                  <a:lnTo>
                    <a:pt x="6249687" y="2271822"/>
                  </a:lnTo>
                  <a:cubicBezTo>
                    <a:pt x="6249687" y="2271822"/>
                    <a:pt x="5259087" y="2195622"/>
                    <a:pt x="5157487" y="2195622"/>
                  </a:cubicBezTo>
                  <a:lnTo>
                    <a:pt x="1219200" y="2195622"/>
                  </a:lnTo>
                  <a:cubicBezTo>
                    <a:pt x="1117600" y="2195622"/>
                    <a:pt x="127000" y="2271822"/>
                    <a:pt x="127000" y="2271822"/>
                  </a:cubicBezTo>
                  <a:lnTo>
                    <a:pt x="0" y="2170222"/>
                  </a:lnTo>
                  <a:lnTo>
                    <a:pt x="0" y="0"/>
                  </a:lnTo>
                  <a:lnTo>
                    <a:pt x="6376687" y="0"/>
                  </a:lnTo>
                  <a:lnTo>
                    <a:pt x="6376687" y="2170222"/>
                  </a:lnTo>
                  <a:lnTo>
                    <a:pt x="12700" y="2170222"/>
                  </a:lnTo>
                  <a:lnTo>
                    <a:pt x="12700" y="2157522"/>
                  </a:lnTo>
                  <a:lnTo>
                    <a:pt x="6363987" y="2157522"/>
                  </a:lnTo>
                  <a:lnTo>
                    <a:pt x="6363987" y="12700"/>
                  </a:lnTo>
                  <a:lnTo>
                    <a:pt x="12700" y="12700"/>
                  </a:lnTo>
                  <a:lnTo>
                    <a:pt x="12700" y="21702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6376687" cy="1732072"/>
            </a:xfrm>
            <a:prstGeom prst="rect">
              <a:avLst/>
            </a:prstGeom>
          </p:spPr>
          <p:txBody>
            <a:bodyPr anchor="t" rtlCol="false" tIns="123316" lIns="123316" bIns="123316" rIns="123316"/>
            <a:lstStyle/>
            <a:p>
              <a:pPr algn="l">
                <a:lnSpc>
                  <a:spcPts val="1529"/>
                </a:lnSpc>
              </a:pPr>
              <a:r>
                <a:rPr lang="en-US" sz="109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Warum nehmen wir hier ne Zeitreihendatenbank?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5682239" y="9198485"/>
            <a:ext cx="2902376" cy="1034029"/>
            <a:chOff x="0" y="0"/>
            <a:chExt cx="6376687" cy="227182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376687" cy="2170222"/>
            </a:xfrm>
            <a:custGeom>
              <a:avLst/>
              <a:gdLst/>
              <a:ahLst/>
              <a:cxnLst/>
              <a:rect r="r" b="b" t="t" l="l"/>
              <a:pathLst>
                <a:path h="2170222" w="6376687">
                  <a:moveTo>
                    <a:pt x="0" y="0"/>
                  </a:moveTo>
                  <a:lnTo>
                    <a:pt x="6376687" y="0"/>
                  </a:lnTo>
                  <a:lnTo>
                    <a:pt x="6376687" y="2170222"/>
                  </a:lnTo>
                  <a:lnTo>
                    <a:pt x="0" y="21702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376687" cy="2271822"/>
            </a:xfrm>
            <a:custGeom>
              <a:avLst/>
              <a:gdLst/>
              <a:ahLst/>
              <a:cxnLst/>
              <a:rect r="r" b="b" t="t" l="l"/>
              <a:pathLst>
                <a:path h="2271822" w="6376687">
                  <a:moveTo>
                    <a:pt x="0" y="2170222"/>
                  </a:moveTo>
                  <a:lnTo>
                    <a:pt x="6376687" y="2170222"/>
                  </a:lnTo>
                  <a:lnTo>
                    <a:pt x="6249687" y="2271822"/>
                  </a:lnTo>
                  <a:cubicBezTo>
                    <a:pt x="6249687" y="2271822"/>
                    <a:pt x="5259087" y="2195622"/>
                    <a:pt x="5157487" y="2195622"/>
                  </a:cubicBezTo>
                  <a:lnTo>
                    <a:pt x="1219200" y="2195622"/>
                  </a:lnTo>
                  <a:cubicBezTo>
                    <a:pt x="1117600" y="2195622"/>
                    <a:pt x="127000" y="2271822"/>
                    <a:pt x="127000" y="2271822"/>
                  </a:cubicBezTo>
                  <a:lnTo>
                    <a:pt x="0" y="2170222"/>
                  </a:lnTo>
                  <a:lnTo>
                    <a:pt x="0" y="0"/>
                  </a:lnTo>
                  <a:lnTo>
                    <a:pt x="6376687" y="0"/>
                  </a:lnTo>
                  <a:lnTo>
                    <a:pt x="6376687" y="2170222"/>
                  </a:lnTo>
                  <a:lnTo>
                    <a:pt x="12700" y="2170222"/>
                  </a:lnTo>
                  <a:lnTo>
                    <a:pt x="12700" y="2157522"/>
                  </a:lnTo>
                  <a:lnTo>
                    <a:pt x="6363987" y="2157522"/>
                  </a:lnTo>
                  <a:lnTo>
                    <a:pt x="6363987" y="12700"/>
                  </a:lnTo>
                  <a:lnTo>
                    <a:pt x="12700" y="12700"/>
                  </a:lnTo>
                  <a:lnTo>
                    <a:pt x="12700" y="21702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6376687" cy="1732072"/>
            </a:xfrm>
            <a:prstGeom prst="rect">
              <a:avLst/>
            </a:prstGeom>
          </p:spPr>
          <p:txBody>
            <a:bodyPr anchor="t" rtlCol="false" tIns="123316" lIns="123316" bIns="123316" rIns="123316"/>
            <a:lstStyle/>
            <a:p>
              <a:pPr algn="l">
                <a:lnSpc>
                  <a:spcPts val="1529"/>
                </a:lnSpc>
              </a:pPr>
              <a:r>
                <a:rPr lang="en-US" sz="109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Wie überwachen wir die Infrastruktur?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357899" y="9105900"/>
            <a:ext cx="2902376" cy="1034029"/>
            <a:chOff x="0" y="0"/>
            <a:chExt cx="6376687" cy="227182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376687" cy="2170222"/>
            </a:xfrm>
            <a:custGeom>
              <a:avLst/>
              <a:gdLst/>
              <a:ahLst/>
              <a:cxnLst/>
              <a:rect r="r" b="b" t="t" l="l"/>
              <a:pathLst>
                <a:path h="2170222" w="6376687">
                  <a:moveTo>
                    <a:pt x="0" y="0"/>
                  </a:moveTo>
                  <a:lnTo>
                    <a:pt x="6376687" y="0"/>
                  </a:lnTo>
                  <a:lnTo>
                    <a:pt x="6376687" y="2170222"/>
                  </a:lnTo>
                  <a:lnTo>
                    <a:pt x="0" y="21702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376687" cy="2271822"/>
            </a:xfrm>
            <a:custGeom>
              <a:avLst/>
              <a:gdLst/>
              <a:ahLst/>
              <a:cxnLst/>
              <a:rect r="r" b="b" t="t" l="l"/>
              <a:pathLst>
                <a:path h="2271822" w="6376687">
                  <a:moveTo>
                    <a:pt x="0" y="2170222"/>
                  </a:moveTo>
                  <a:lnTo>
                    <a:pt x="6376687" y="2170222"/>
                  </a:lnTo>
                  <a:lnTo>
                    <a:pt x="6249687" y="2271822"/>
                  </a:lnTo>
                  <a:cubicBezTo>
                    <a:pt x="6249687" y="2271822"/>
                    <a:pt x="5259087" y="2195622"/>
                    <a:pt x="5157487" y="2195622"/>
                  </a:cubicBezTo>
                  <a:lnTo>
                    <a:pt x="1219200" y="2195622"/>
                  </a:lnTo>
                  <a:cubicBezTo>
                    <a:pt x="1117600" y="2195622"/>
                    <a:pt x="127000" y="2271822"/>
                    <a:pt x="127000" y="2271822"/>
                  </a:cubicBezTo>
                  <a:lnTo>
                    <a:pt x="0" y="2170222"/>
                  </a:lnTo>
                  <a:lnTo>
                    <a:pt x="0" y="0"/>
                  </a:lnTo>
                  <a:lnTo>
                    <a:pt x="6376687" y="0"/>
                  </a:lnTo>
                  <a:lnTo>
                    <a:pt x="6376687" y="2170222"/>
                  </a:lnTo>
                  <a:lnTo>
                    <a:pt x="12700" y="2170222"/>
                  </a:lnTo>
                  <a:lnTo>
                    <a:pt x="12700" y="2157522"/>
                  </a:lnTo>
                  <a:lnTo>
                    <a:pt x="6363987" y="2157522"/>
                  </a:lnTo>
                  <a:lnTo>
                    <a:pt x="6363987" y="12700"/>
                  </a:lnTo>
                  <a:lnTo>
                    <a:pt x="12700" y="12700"/>
                  </a:lnTo>
                  <a:lnTo>
                    <a:pt x="12700" y="21702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6376687" cy="1732072"/>
            </a:xfrm>
            <a:prstGeom prst="rect">
              <a:avLst/>
            </a:prstGeom>
          </p:spPr>
          <p:txBody>
            <a:bodyPr anchor="t" rtlCol="false" tIns="123316" lIns="123316" bIns="123316" rIns="123316"/>
            <a:lstStyle/>
            <a:p>
              <a:pPr algn="l">
                <a:lnSpc>
                  <a:spcPts val="1529"/>
                </a:lnSpc>
              </a:pPr>
              <a:r>
                <a:rPr lang="en-US" sz="109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Wie überwachen wir die Hybrid-Struktur??? Keine zwei Systeme, sondern zentrale Überwachung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929885" y="8953724"/>
            <a:ext cx="2902376" cy="1034029"/>
            <a:chOff x="0" y="0"/>
            <a:chExt cx="6376687" cy="227182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376687" cy="2170222"/>
            </a:xfrm>
            <a:custGeom>
              <a:avLst/>
              <a:gdLst/>
              <a:ahLst/>
              <a:cxnLst/>
              <a:rect r="r" b="b" t="t" l="l"/>
              <a:pathLst>
                <a:path h="2170222" w="6376687">
                  <a:moveTo>
                    <a:pt x="0" y="0"/>
                  </a:moveTo>
                  <a:lnTo>
                    <a:pt x="6376687" y="0"/>
                  </a:lnTo>
                  <a:lnTo>
                    <a:pt x="6376687" y="2170222"/>
                  </a:lnTo>
                  <a:lnTo>
                    <a:pt x="0" y="21702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376687" cy="2271822"/>
            </a:xfrm>
            <a:custGeom>
              <a:avLst/>
              <a:gdLst/>
              <a:ahLst/>
              <a:cxnLst/>
              <a:rect r="r" b="b" t="t" l="l"/>
              <a:pathLst>
                <a:path h="2271822" w="6376687">
                  <a:moveTo>
                    <a:pt x="0" y="2170222"/>
                  </a:moveTo>
                  <a:lnTo>
                    <a:pt x="6376687" y="2170222"/>
                  </a:lnTo>
                  <a:lnTo>
                    <a:pt x="6249687" y="2271822"/>
                  </a:lnTo>
                  <a:cubicBezTo>
                    <a:pt x="6249687" y="2271822"/>
                    <a:pt x="5259087" y="2195622"/>
                    <a:pt x="5157487" y="2195622"/>
                  </a:cubicBezTo>
                  <a:lnTo>
                    <a:pt x="1219200" y="2195622"/>
                  </a:lnTo>
                  <a:cubicBezTo>
                    <a:pt x="1117600" y="2195622"/>
                    <a:pt x="127000" y="2271822"/>
                    <a:pt x="127000" y="2271822"/>
                  </a:cubicBezTo>
                  <a:lnTo>
                    <a:pt x="0" y="2170222"/>
                  </a:lnTo>
                  <a:lnTo>
                    <a:pt x="0" y="0"/>
                  </a:lnTo>
                  <a:lnTo>
                    <a:pt x="6376687" y="0"/>
                  </a:lnTo>
                  <a:lnTo>
                    <a:pt x="6376687" y="2170222"/>
                  </a:lnTo>
                  <a:lnTo>
                    <a:pt x="12700" y="2170222"/>
                  </a:lnTo>
                  <a:lnTo>
                    <a:pt x="12700" y="2157522"/>
                  </a:lnTo>
                  <a:lnTo>
                    <a:pt x="6363987" y="2157522"/>
                  </a:lnTo>
                  <a:lnTo>
                    <a:pt x="6363987" y="12700"/>
                  </a:lnTo>
                  <a:lnTo>
                    <a:pt x="12700" y="12700"/>
                  </a:lnTo>
                  <a:lnTo>
                    <a:pt x="12700" y="21702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6376687" cy="1732072"/>
            </a:xfrm>
            <a:prstGeom prst="rect">
              <a:avLst/>
            </a:prstGeom>
          </p:spPr>
          <p:txBody>
            <a:bodyPr anchor="t" rtlCol="false" tIns="123316" lIns="123316" bIns="123316" rIns="123316"/>
            <a:lstStyle/>
            <a:p>
              <a:pPr algn="l">
                <a:lnSpc>
                  <a:spcPts val="1529"/>
                </a:lnSpc>
              </a:pPr>
              <a:r>
                <a:rPr lang="en-US" sz="109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Was ist ein Data Lake? Was speichern wir dort?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4825884" y="2862787"/>
            <a:ext cx="2902376" cy="1034029"/>
            <a:chOff x="0" y="0"/>
            <a:chExt cx="6376687" cy="227182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376687" cy="2170222"/>
            </a:xfrm>
            <a:custGeom>
              <a:avLst/>
              <a:gdLst/>
              <a:ahLst/>
              <a:cxnLst/>
              <a:rect r="r" b="b" t="t" l="l"/>
              <a:pathLst>
                <a:path h="2170222" w="6376687">
                  <a:moveTo>
                    <a:pt x="0" y="0"/>
                  </a:moveTo>
                  <a:lnTo>
                    <a:pt x="6376687" y="0"/>
                  </a:lnTo>
                  <a:lnTo>
                    <a:pt x="6376687" y="2170222"/>
                  </a:lnTo>
                  <a:lnTo>
                    <a:pt x="0" y="21702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376687" cy="2271822"/>
            </a:xfrm>
            <a:custGeom>
              <a:avLst/>
              <a:gdLst/>
              <a:ahLst/>
              <a:cxnLst/>
              <a:rect r="r" b="b" t="t" l="l"/>
              <a:pathLst>
                <a:path h="2271822" w="6376687">
                  <a:moveTo>
                    <a:pt x="0" y="2170222"/>
                  </a:moveTo>
                  <a:lnTo>
                    <a:pt x="6376687" y="2170222"/>
                  </a:lnTo>
                  <a:lnTo>
                    <a:pt x="6249687" y="2271822"/>
                  </a:lnTo>
                  <a:cubicBezTo>
                    <a:pt x="6249687" y="2271822"/>
                    <a:pt x="5259087" y="2195622"/>
                    <a:pt x="5157487" y="2195622"/>
                  </a:cubicBezTo>
                  <a:lnTo>
                    <a:pt x="1219200" y="2195622"/>
                  </a:lnTo>
                  <a:cubicBezTo>
                    <a:pt x="1117600" y="2195622"/>
                    <a:pt x="127000" y="2271822"/>
                    <a:pt x="127000" y="2271822"/>
                  </a:cubicBezTo>
                  <a:lnTo>
                    <a:pt x="0" y="2170222"/>
                  </a:lnTo>
                  <a:lnTo>
                    <a:pt x="0" y="0"/>
                  </a:lnTo>
                  <a:lnTo>
                    <a:pt x="6376687" y="0"/>
                  </a:lnTo>
                  <a:lnTo>
                    <a:pt x="6376687" y="2170222"/>
                  </a:lnTo>
                  <a:lnTo>
                    <a:pt x="12700" y="2170222"/>
                  </a:lnTo>
                  <a:lnTo>
                    <a:pt x="12700" y="2157522"/>
                  </a:lnTo>
                  <a:lnTo>
                    <a:pt x="6363987" y="2157522"/>
                  </a:lnTo>
                  <a:lnTo>
                    <a:pt x="6363987" y="12700"/>
                  </a:lnTo>
                  <a:lnTo>
                    <a:pt x="12700" y="12700"/>
                  </a:lnTo>
                  <a:lnTo>
                    <a:pt x="12700" y="21702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6376687" cy="1732072"/>
            </a:xfrm>
            <a:prstGeom prst="rect">
              <a:avLst/>
            </a:prstGeom>
          </p:spPr>
          <p:txBody>
            <a:bodyPr anchor="t" rtlCol="false" tIns="123316" lIns="123316" bIns="123316" rIns="123316"/>
            <a:lstStyle/>
            <a:p>
              <a:pPr algn="l">
                <a:lnSpc>
                  <a:spcPts val="1529"/>
                </a:lnSpc>
              </a:pPr>
              <a:r>
                <a:rPr lang="en-US" sz="109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Wie sieht das Backup- und Recovery-Konzept aus?</a:t>
              </a:r>
            </a:p>
            <a:p>
              <a:pPr algn="l">
                <a:lnSpc>
                  <a:spcPts val="1529"/>
                </a:lnSpc>
              </a:pPr>
              <a:r>
                <a:rPr lang="en-US" sz="109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Georedundant? 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62050"/>
            <a:ext cx="163250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0E7C86"/>
                </a:solidFill>
                <a:latin typeface="Arimo Bold"/>
                <a:ea typeface="Arimo Bold"/>
                <a:cs typeface="Arimo Bold"/>
                <a:sym typeface="Arimo Bold"/>
              </a:rPr>
              <a:t>SICHERSTELLUNG DES LAUFENDEN BETRIEBS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10633"/>
            <a:ext cx="13735050" cy="605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172A3F"/>
                </a:solidFill>
                <a:latin typeface="Arimo Bold"/>
                <a:ea typeface="Arimo Bold"/>
                <a:cs typeface="Arimo Bold"/>
                <a:sym typeface="Arimo Bold"/>
              </a:rPr>
              <a:t>Backup- &amp; Wiederherstellungskonzept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659266"/>
            <a:ext cx="4953000" cy="1683839"/>
            <a:chOff x="0" y="0"/>
            <a:chExt cx="6604000" cy="22451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0" cy="2245106"/>
            </a:xfrm>
            <a:custGeom>
              <a:avLst/>
              <a:gdLst/>
              <a:ahLst/>
              <a:cxnLst/>
              <a:rect r="r" b="b" t="t" l="l"/>
              <a:pathLst>
                <a:path h="2245106" w="6604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6400800" y="0"/>
                  </a:lnTo>
                  <a:cubicBezTo>
                    <a:pt x="6513068" y="0"/>
                    <a:pt x="6604000" y="90932"/>
                    <a:pt x="6604000" y="203200"/>
                  </a:cubicBezTo>
                  <a:lnTo>
                    <a:pt x="6604000" y="2041906"/>
                  </a:lnTo>
                  <a:cubicBezTo>
                    <a:pt x="6604000" y="2154174"/>
                    <a:pt x="6513068" y="2245106"/>
                    <a:pt x="6400800" y="2245106"/>
                  </a:cubicBezTo>
                  <a:lnTo>
                    <a:pt x="203200" y="2245106"/>
                  </a:lnTo>
                  <a:cubicBezTo>
                    <a:pt x="90932" y="2245106"/>
                    <a:pt x="0" y="2154174"/>
                    <a:pt x="0" y="2041906"/>
                  </a:cubicBezTo>
                  <a:close/>
                </a:path>
              </a:pathLst>
            </a:custGeom>
            <a:solidFill>
              <a:srgbClr val="1320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09565" y="3139392"/>
            <a:ext cx="1955006" cy="76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AFC0D2"/>
                </a:solidFill>
                <a:latin typeface="IBM Plex Sans"/>
                <a:ea typeface="IBM Plex Sans"/>
                <a:cs typeface="IBM Plex Sans"/>
                <a:sym typeface="IBM Plex Sans"/>
              </a:rPr>
              <a:t>RTO</a:t>
            </a:r>
          </a:p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AFC0D2"/>
                </a:solidFill>
                <a:latin typeface="IBM Plex Sans"/>
                <a:ea typeface="IBM Plex Sans"/>
                <a:cs typeface="IBM Plex Sans"/>
                <a:sym typeface="IBM Plex Sans"/>
              </a:rPr>
              <a:t>Wiederanlaufzeit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19200" y="4533605"/>
            <a:ext cx="4953000" cy="2255349"/>
            <a:chOff x="0" y="0"/>
            <a:chExt cx="6604000" cy="30071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0" cy="3007131"/>
            </a:xfrm>
            <a:custGeom>
              <a:avLst/>
              <a:gdLst/>
              <a:ahLst/>
              <a:cxnLst/>
              <a:rect r="r" b="b" t="t" l="l"/>
              <a:pathLst>
                <a:path h="3007131" w="6604000">
                  <a:moveTo>
                    <a:pt x="0" y="214795"/>
                  </a:moveTo>
                  <a:cubicBezTo>
                    <a:pt x="0" y="96121"/>
                    <a:pt x="90932" y="0"/>
                    <a:pt x="203200" y="0"/>
                  </a:cubicBezTo>
                  <a:lnTo>
                    <a:pt x="6400800" y="0"/>
                  </a:lnTo>
                  <a:cubicBezTo>
                    <a:pt x="6513068" y="0"/>
                    <a:pt x="6604000" y="96121"/>
                    <a:pt x="6604000" y="214795"/>
                  </a:cubicBezTo>
                  <a:lnTo>
                    <a:pt x="6604000" y="2792336"/>
                  </a:lnTo>
                  <a:cubicBezTo>
                    <a:pt x="6604000" y="2911010"/>
                    <a:pt x="6513068" y="3007131"/>
                    <a:pt x="6400800" y="3007131"/>
                  </a:cubicBezTo>
                  <a:lnTo>
                    <a:pt x="203200" y="3007131"/>
                  </a:lnTo>
                  <a:cubicBezTo>
                    <a:pt x="90932" y="3007131"/>
                    <a:pt x="0" y="2911010"/>
                    <a:pt x="0" y="2792336"/>
                  </a:cubicBezTo>
                  <a:close/>
                </a:path>
              </a:pathLst>
            </a:custGeom>
            <a:solidFill>
              <a:srgbClr val="132033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62100" y="4924130"/>
            <a:ext cx="2233165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≤ 15 min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09565" y="5181305"/>
            <a:ext cx="1995935" cy="111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AFC0D2"/>
                </a:solidFill>
                <a:latin typeface="IBM Plex Sans"/>
                <a:ea typeface="IBM Plex Sans"/>
                <a:cs typeface="IBM Plex Sans"/>
                <a:sym typeface="IBM Plex Sans"/>
              </a:rPr>
              <a:t>RPO</a:t>
            </a:r>
          </a:p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AFC0D2"/>
                </a:solidFill>
                <a:latin typeface="IBM Plex Sans"/>
                <a:ea typeface="IBM Plex Sans"/>
                <a:cs typeface="IBM Plex Sans"/>
                <a:sym typeface="IBM Plex Sans"/>
              </a:rPr>
              <a:t>tolerierter Datenverlust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438900" y="2659266"/>
            <a:ext cx="10629900" cy="1249566"/>
            <a:chOff x="0" y="0"/>
            <a:chExt cx="14173200" cy="16660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173200" cy="1665986"/>
            </a:xfrm>
            <a:custGeom>
              <a:avLst/>
              <a:gdLst/>
              <a:ahLst/>
              <a:cxnLst/>
              <a:rect r="r" b="b" t="t" l="l"/>
              <a:pathLst>
                <a:path h="1665986" w="1417320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14000480" y="0"/>
                  </a:lnTo>
                  <a:cubicBezTo>
                    <a:pt x="14095857" y="0"/>
                    <a:pt x="14173200" y="77343"/>
                    <a:pt x="14173200" y="172720"/>
                  </a:cubicBezTo>
                  <a:lnTo>
                    <a:pt x="14173200" y="1493266"/>
                  </a:lnTo>
                  <a:cubicBezTo>
                    <a:pt x="14173200" y="1588643"/>
                    <a:pt x="14095857" y="1665986"/>
                    <a:pt x="14000480" y="1665986"/>
                  </a:cubicBezTo>
                  <a:lnTo>
                    <a:pt x="172720" y="1665986"/>
                  </a:lnTo>
                  <a:cubicBezTo>
                    <a:pt x="77343" y="1665986"/>
                    <a:pt x="0" y="1588643"/>
                    <a:pt x="0" y="1493266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CE2E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753225" y="2935491"/>
            <a:ext cx="361950" cy="361950"/>
            <a:chOff x="0" y="0"/>
            <a:chExt cx="482600" cy="482600"/>
          </a:xfrm>
        </p:grpSpPr>
        <p:sp>
          <p:nvSpPr>
            <p:cNvPr name="Freeform 14" id="14" descr="Database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0"/>
                  </a:moveTo>
                  <a:lnTo>
                    <a:pt x="482600" y="0"/>
                  </a:lnTo>
                  <a:lnTo>
                    <a:pt x="482600" y="482600"/>
                  </a:lnTo>
                  <a:lnTo>
                    <a:pt x="0" y="48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305675" y="2925966"/>
            <a:ext cx="5222691" cy="36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3-2-1-Prinzip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05675" y="3274514"/>
            <a:ext cx="5222691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Drei Kopien, zwei Medien, eine räumlich getrennt.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438900" y="4099322"/>
            <a:ext cx="10629900" cy="1249566"/>
            <a:chOff x="0" y="0"/>
            <a:chExt cx="14173200" cy="16660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173200" cy="1665986"/>
            </a:xfrm>
            <a:custGeom>
              <a:avLst/>
              <a:gdLst/>
              <a:ahLst/>
              <a:cxnLst/>
              <a:rect r="r" b="b" t="t" l="l"/>
              <a:pathLst>
                <a:path h="1665986" w="1417320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14000480" y="0"/>
                  </a:lnTo>
                  <a:cubicBezTo>
                    <a:pt x="14095857" y="0"/>
                    <a:pt x="14173200" y="77343"/>
                    <a:pt x="14173200" y="172720"/>
                  </a:cubicBezTo>
                  <a:lnTo>
                    <a:pt x="14173200" y="1493266"/>
                  </a:lnTo>
                  <a:cubicBezTo>
                    <a:pt x="14173200" y="1588643"/>
                    <a:pt x="14095857" y="1665986"/>
                    <a:pt x="14000480" y="1665986"/>
                  </a:cubicBezTo>
                  <a:lnTo>
                    <a:pt x="172720" y="1665986"/>
                  </a:lnTo>
                  <a:cubicBezTo>
                    <a:pt x="77343" y="1665986"/>
                    <a:pt x="0" y="1588643"/>
                    <a:pt x="0" y="1493266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CE2E7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753225" y="4375547"/>
            <a:ext cx="361950" cy="361950"/>
            <a:chOff x="0" y="0"/>
            <a:chExt cx="482600" cy="482600"/>
          </a:xfrm>
        </p:grpSpPr>
        <p:sp>
          <p:nvSpPr>
            <p:cNvPr name="Freeform 20" id="20" descr="Cloud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0"/>
                  </a:moveTo>
                  <a:lnTo>
                    <a:pt x="482600" y="0"/>
                  </a:lnTo>
                  <a:lnTo>
                    <a:pt x="482600" y="482600"/>
                  </a:lnTo>
                  <a:lnTo>
                    <a:pt x="0" y="48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305675" y="4366022"/>
            <a:ext cx="5426421" cy="36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Georedundante Replikation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05675" y="4714580"/>
            <a:ext cx="5426421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Automatische Spiegelung in eine zweite EU-Region.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438900" y="5539388"/>
            <a:ext cx="10629900" cy="1249566"/>
            <a:chOff x="0" y="0"/>
            <a:chExt cx="14173200" cy="16660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173200" cy="1665986"/>
            </a:xfrm>
            <a:custGeom>
              <a:avLst/>
              <a:gdLst/>
              <a:ahLst/>
              <a:cxnLst/>
              <a:rect r="r" b="b" t="t" l="l"/>
              <a:pathLst>
                <a:path h="1665986" w="1417320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14000480" y="0"/>
                  </a:lnTo>
                  <a:cubicBezTo>
                    <a:pt x="14095857" y="0"/>
                    <a:pt x="14173200" y="77343"/>
                    <a:pt x="14173200" y="172720"/>
                  </a:cubicBezTo>
                  <a:lnTo>
                    <a:pt x="14173200" y="1493266"/>
                  </a:lnTo>
                  <a:cubicBezTo>
                    <a:pt x="14173200" y="1588643"/>
                    <a:pt x="14095857" y="1665986"/>
                    <a:pt x="14000480" y="1665986"/>
                  </a:cubicBezTo>
                  <a:lnTo>
                    <a:pt x="172720" y="1665986"/>
                  </a:lnTo>
                  <a:cubicBezTo>
                    <a:pt x="77343" y="1665986"/>
                    <a:pt x="0" y="1588643"/>
                    <a:pt x="0" y="1493266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CE2E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753225" y="5815613"/>
            <a:ext cx="361950" cy="361950"/>
            <a:chOff x="0" y="0"/>
            <a:chExt cx="482600" cy="482600"/>
          </a:xfrm>
        </p:grpSpPr>
        <p:sp>
          <p:nvSpPr>
            <p:cNvPr name="Freeform 26" id="26" descr="Check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0"/>
                  </a:moveTo>
                  <a:lnTo>
                    <a:pt x="482600" y="0"/>
                  </a:lnTo>
                  <a:lnTo>
                    <a:pt x="482600" y="482600"/>
                  </a:lnTo>
                  <a:lnTo>
                    <a:pt x="0" y="48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715703" y="3035617"/>
            <a:ext cx="807720" cy="555307"/>
            <a:chOff x="0" y="0"/>
            <a:chExt cx="1076960" cy="7404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50394" y="50800"/>
              <a:ext cx="977265" cy="644057"/>
            </a:xfrm>
            <a:custGeom>
              <a:avLst/>
              <a:gdLst/>
              <a:ahLst/>
              <a:cxnLst/>
              <a:rect r="r" b="b" t="t" l="l"/>
              <a:pathLst>
                <a:path h="644057" w="977265">
                  <a:moveTo>
                    <a:pt x="495706" y="68580"/>
                  </a:moveTo>
                  <a:cubicBezTo>
                    <a:pt x="367436" y="50800"/>
                    <a:pt x="296316" y="66040"/>
                    <a:pt x="240436" y="87630"/>
                  </a:cubicBezTo>
                  <a:cubicBezTo>
                    <a:pt x="180746" y="110490"/>
                    <a:pt x="91846" y="165100"/>
                    <a:pt x="66446" y="189230"/>
                  </a:cubicBezTo>
                  <a:cubicBezTo>
                    <a:pt x="57556" y="198120"/>
                    <a:pt x="55016" y="201930"/>
                    <a:pt x="52476" y="212090"/>
                  </a:cubicBezTo>
                  <a:cubicBezTo>
                    <a:pt x="47396" y="231140"/>
                    <a:pt x="48666" y="266700"/>
                    <a:pt x="60096" y="297180"/>
                  </a:cubicBezTo>
                  <a:cubicBezTo>
                    <a:pt x="76606" y="342900"/>
                    <a:pt x="136296" y="415290"/>
                    <a:pt x="168046" y="450850"/>
                  </a:cubicBezTo>
                  <a:cubicBezTo>
                    <a:pt x="188366" y="474980"/>
                    <a:pt x="197256" y="491490"/>
                    <a:pt x="223926" y="502920"/>
                  </a:cubicBezTo>
                  <a:cubicBezTo>
                    <a:pt x="263296" y="519430"/>
                    <a:pt x="331876" y="500380"/>
                    <a:pt x="392836" y="510540"/>
                  </a:cubicBezTo>
                  <a:cubicBezTo>
                    <a:pt x="467766" y="523240"/>
                    <a:pt x="564286" y="568960"/>
                    <a:pt x="636676" y="581660"/>
                  </a:cubicBezTo>
                  <a:cubicBezTo>
                    <a:pt x="693826" y="591820"/>
                    <a:pt x="744626" y="594360"/>
                    <a:pt x="791616" y="590550"/>
                  </a:cubicBezTo>
                  <a:cubicBezTo>
                    <a:pt x="833526" y="588010"/>
                    <a:pt x="885596" y="591820"/>
                    <a:pt x="907186" y="568960"/>
                  </a:cubicBezTo>
                  <a:cubicBezTo>
                    <a:pt x="928776" y="547370"/>
                    <a:pt x="927506" y="500380"/>
                    <a:pt x="923696" y="459740"/>
                  </a:cubicBezTo>
                  <a:cubicBezTo>
                    <a:pt x="918616" y="408940"/>
                    <a:pt x="886866" y="331470"/>
                    <a:pt x="860196" y="287020"/>
                  </a:cubicBezTo>
                  <a:cubicBezTo>
                    <a:pt x="841146" y="255270"/>
                    <a:pt x="825906" y="234950"/>
                    <a:pt x="796696" y="212090"/>
                  </a:cubicBezTo>
                  <a:cubicBezTo>
                    <a:pt x="753516" y="177800"/>
                    <a:pt x="636676" y="147320"/>
                    <a:pt x="618896" y="120650"/>
                  </a:cubicBezTo>
                  <a:cubicBezTo>
                    <a:pt x="612546" y="109220"/>
                    <a:pt x="612546" y="95250"/>
                    <a:pt x="617626" y="88900"/>
                  </a:cubicBezTo>
                  <a:cubicBezTo>
                    <a:pt x="623976" y="82550"/>
                    <a:pt x="648106" y="78740"/>
                    <a:pt x="654456" y="83820"/>
                  </a:cubicBezTo>
                  <a:cubicBezTo>
                    <a:pt x="660806" y="88900"/>
                    <a:pt x="663346" y="114300"/>
                    <a:pt x="658266" y="120650"/>
                  </a:cubicBezTo>
                  <a:cubicBezTo>
                    <a:pt x="651916" y="127000"/>
                    <a:pt x="627786" y="128270"/>
                    <a:pt x="621436" y="121920"/>
                  </a:cubicBezTo>
                  <a:cubicBezTo>
                    <a:pt x="615086" y="116840"/>
                    <a:pt x="612546" y="99060"/>
                    <a:pt x="616356" y="91440"/>
                  </a:cubicBezTo>
                  <a:cubicBezTo>
                    <a:pt x="620166" y="85090"/>
                    <a:pt x="631596" y="78740"/>
                    <a:pt x="644296" y="78740"/>
                  </a:cubicBezTo>
                  <a:cubicBezTo>
                    <a:pt x="677316" y="80010"/>
                    <a:pt x="766216" y="125730"/>
                    <a:pt x="810666" y="158750"/>
                  </a:cubicBezTo>
                  <a:cubicBezTo>
                    <a:pt x="850036" y="187960"/>
                    <a:pt x="879246" y="219710"/>
                    <a:pt x="905916" y="264160"/>
                  </a:cubicBezTo>
                  <a:cubicBezTo>
                    <a:pt x="937666" y="316230"/>
                    <a:pt x="966876" y="407670"/>
                    <a:pt x="974496" y="461010"/>
                  </a:cubicBezTo>
                  <a:cubicBezTo>
                    <a:pt x="979576" y="494030"/>
                    <a:pt x="977036" y="519430"/>
                    <a:pt x="971956" y="544830"/>
                  </a:cubicBezTo>
                  <a:cubicBezTo>
                    <a:pt x="966876" y="566420"/>
                    <a:pt x="960526" y="588010"/>
                    <a:pt x="946556" y="603250"/>
                  </a:cubicBezTo>
                  <a:cubicBezTo>
                    <a:pt x="928776" y="619760"/>
                    <a:pt x="902106" y="628650"/>
                    <a:pt x="870356" y="636270"/>
                  </a:cubicBezTo>
                  <a:cubicBezTo>
                    <a:pt x="822096" y="646430"/>
                    <a:pt x="748436" y="646430"/>
                    <a:pt x="678586" y="637540"/>
                  </a:cubicBezTo>
                  <a:cubicBezTo>
                    <a:pt x="590956" y="627380"/>
                    <a:pt x="471576" y="575310"/>
                    <a:pt x="386486" y="561340"/>
                  </a:cubicBezTo>
                  <a:cubicBezTo>
                    <a:pt x="322986" y="551180"/>
                    <a:pt x="253136" y="561340"/>
                    <a:pt x="217576" y="551180"/>
                  </a:cubicBezTo>
                  <a:cubicBezTo>
                    <a:pt x="201066" y="547370"/>
                    <a:pt x="195986" y="544830"/>
                    <a:pt x="182016" y="534670"/>
                  </a:cubicBezTo>
                  <a:cubicBezTo>
                    <a:pt x="157886" y="516890"/>
                    <a:pt x="118516" y="471170"/>
                    <a:pt x="89306" y="434340"/>
                  </a:cubicBezTo>
                  <a:cubicBezTo>
                    <a:pt x="60096" y="396240"/>
                    <a:pt x="24536" y="349250"/>
                    <a:pt x="10566" y="309880"/>
                  </a:cubicBezTo>
                  <a:cubicBezTo>
                    <a:pt x="406" y="280670"/>
                    <a:pt x="-864" y="251460"/>
                    <a:pt x="406" y="226060"/>
                  </a:cubicBezTo>
                  <a:cubicBezTo>
                    <a:pt x="2946" y="204470"/>
                    <a:pt x="2946" y="187960"/>
                    <a:pt x="16916" y="168910"/>
                  </a:cubicBezTo>
                  <a:cubicBezTo>
                    <a:pt x="41046" y="135890"/>
                    <a:pt x="110896" y="91440"/>
                    <a:pt x="165506" y="64770"/>
                  </a:cubicBezTo>
                  <a:cubicBezTo>
                    <a:pt x="222656" y="38100"/>
                    <a:pt x="305206" y="20320"/>
                    <a:pt x="350926" y="10160"/>
                  </a:cubicBezTo>
                  <a:cubicBezTo>
                    <a:pt x="377596" y="3810"/>
                    <a:pt x="391566" y="0"/>
                    <a:pt x="414426" y="0"/>
                  </a:cubicBezTo>
                  <a:cubicBezTo>
                    <a:pt x="439826" y="0"/>
                    <a:pt x="475386" y="2540"/>
                    <a:pt x="495706" y="12700"/>
                  </a:cubicBezTo>
                  <a:cubicBezTo>
                    <a:pt x="512216" y="20320"/>
                    <a:pt x="529996" y="38100"/>
                    <a:pt x="531266" y="48260"/>
                  </a:cubicBezTo>
                  <a:cubicBezTo>
                    <a:pt x="532536" y="55880"/>
                    <a:pt x="524916" y="64770"/>
                    <a:pt x="518566" y="68580"/>
                  </a:cubicBezTo>
                  <a:cubicBezTo>
                    <a:pt x="512216" y="71120"/>
                    <a:pt x="495706" y="68580"/>
                    <a:pt x="495706" y="68580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3762375" y="5054918"/>
            <a:ext cx="760095" cy="552450"/>
            <a:chOff x="0" y="0"/>
            <a:chExt cx="1013460" cy="736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49563" y="48604"/>
              <a:ext cx="913439" cy="641081"/>
            </a:xfrm>
            <a:custGeom>
              <a:avLst/>
              <a:gdLst/>
              <a:ahLst/>
              <a:cxnLst/>
              <a:rect r="r" b="b" t="t" l="l"/>
              <a:pathLst>
                <a:path h="641081" w="913439">
                  <a:moveTo>
                    <a:pt x="469867" y="72046"/>
                  </a:moveTo>
                  <a:cubicBezTo>
                    <a:pt x="246347" y="54266"/>
                    <a:pt x="241267" y="54266"/>
                    <a:pt x="228567" y="61886"/>
                  </a:cubicBezTo>
                  <a:cubicBezTo>
                    <a:pt x="206977" y="73316"/>
                    <a:pt x="180307" y="98716"/>
                    <a:pt x="157447" y="134276"/>
                  </a:cubicBezTo>
                  <a:cubicBezTo>
                    <a:pt x="118077" y="199046"/>
                    <a:pt x="60927" y="373036"/>
                    <a:pt x="53307" y="445426"/>
                  </a:cubicBezTo>
                  <a:cubicBezTo>
                    <a:pt x="49497" y="482256"/>
                    <a:pt x="41877" y="508926"/>
                    <a:pt x="62197" y="531786"/>
                  </a:cubicBezTo>
                  <a:cubicBezTo>
                    <a:pt x="106647" y="576236"/>
                    <a:pt x="304767" y="571156"/>
                    <a:pt x="430497" y="580046"/>
                  </a:cubicBezTo>
                  <a:cubicBezTo>
                    <a:pt x="562577" y="588936"/>
                    <a:pt x="774667" y="641006"/>
                    <a:pt x="839437" y="580046"/>
                  </a:cubicBezTo>
                  <a:cubicBezTo>
                    <a:pt x="892777" y="531786"/>
                    <a:pt x="866107" y="378116"/>
                    <a:pt x="861027" y="318426"/>
                  </a:cubicBezTo>
                  <a:cubicBezTo>
                    <a:pt x="858487" y="286676"/>
                    <a:pt x="854677" y="273976"/>
                    <a:pt x="844517" y="247306"/>
                  </a:cubicBezTo>
                  <a:cubicBezTo>
                    <a:pt x="826737" y="206666"/>
                    <a:pt x="792447" y="135546"/>
                    <a:pt x="756887" y="103796"/>
                  </a:cubicBezTo>
                  <a:cubicBezTo>
                    <a:pt x="728947" y="78396"/>
                    <a:pt x="692117" y="66966"/>
                    <a:pt x="661637" y="58076"/>
                  </a:cubicBezTo>
                  <a:cubicBezTo>
                    <a:pt x="636237" y="50456"/>
                    <a:pt x="598137" y="60616"/>
                    <a:pt x="587977" y="49186"/>
                  </a:cubicBezTo>
                  <a:cubicBezTo>
                    <a:pt x="579087" y="41566"/>
                    <a:pt x="579087" y="19976"/>
                    <a:pt x="584167" y="12356"/>
                  </a:cubicBezTo>
                  <a:cubicBezTo>
                    <a:pt x="589247" y="6006"/>
                    <a:pt x="607027" y="2196"/>
                    <a:pt x="613377" y="7276"/>
                  </a:cubicBezTo>
                  <a:cubicBezTo>
                    <a:pt x="620997" y="11086"/>
                    <a:pt x="628617" y="33946"/>
                    <a:pt x="624807" y="41566"/>
                  </a:cubicBezTo>
                  <a:cubicBezTo>
                    <a:pt x="623537" y="47916"/>
                    <a:pt x="612107" y="54266"/>
                    <a:pt x="605757" y="55536"/>
                  </a:cubicBezTo>
                  <a:cubicBezTo>
                    <a:pt x="598137" y="55536"/>
                    <a:pt x="586707" y="51726"/>
                    <a:pt x="582897" y="45376"/>
                  </a:cubicBezTo>
                  <a:cubicBezTo>
                    <a:pt x="579087" y="37756"/>
                    <a:pt x="580357" y="16166"/>
                    <a:pt x="587977" y="9816"/>
                  </a:cubicBezTo>
                  <a:cubicBezTo>
                    <a:pt x="598137" y="-344"/>
                    <a:pt x="628617" y="2196"/>
                    <a:pt x="652747" y="7276"/>
                  </a:cubicBezTo>
                  <a:cubicBezTo>
                    <a:pt x="689577" y="13626"/>
                    <a:pt x="751807" y="41566"/>
                    <a:pt x="782287" y="59346"/>
                  </a:cubicBezTo>
                  <a:cubicBezTo>
                    <a:pt x="800067" y="70776"/>
                    <a:pt x="807687" y="75856"/>
                    <a:pt x="820387" y="93636"/>
                  </a:cubicBezTo>
                  <a:cubicBezTo>
                    <a:pt x="843247" y="122846"/>
                    <a:pt x="877537" y="191426"/>
                    <a:pt x="892777" y="233336"/>
                  </a:cubicBezTo>
                  <a:cubicBezTo>
                    <a:pt x="904207" y="265086"/>
                    <a:pt x="909287" y="286676"/>
                    <a:pt x="911827" y="318426"/>
                  </a:cubicBezTo>
                  <a:cubicBezTo>
                    <a:pt x="915637" y="357796"/>
                    <a:pt x="911827" y="404786"/>
                    <a:pt x="909287" y="447966"/>
                  </a:cubicBezTo>
                  <a:cubicBezTo>
                    <a:pt x="905477" y="491146"/>
                    <a:pt x="900397" y="549566"/>
                    <a:pt x="890237" y="580046"/>
                  </a:cubicBezTo>
                  <a:cubicBezTo>
                    <a:pt x="883887" y="599096"/>
                    <a:pt x="877537" y="611796"/>
                    <a:pt x="866107" y="621956"/>
                  </a:cubicBezTo>
                  <a:cubicBezTo>
                    <a:pt x="852137" y="632116"/>
                    <a:pt x="835627" y="633386"/>
                    <a:pt x="808957" y="637196"/>
                  </a:cubicBezTo>
                  <a:cubicBezTo>
                    <a:pt x="746727" y="644816"/>
                    <a:pt x="604487" y="639736"/>
                    <a:pt x="492727" y="634656"/>
                  </a:cubicBezTo>
                  <a:cubicBezTo>
                    <a:pt x="365727" y="627036"/>
                    <a:pt x="144747" y="604176"/>
                    <a:pt x="85057" y="594016"/>
                  </a:cubicBezTo>
                  <a:cubicBezTo>
                    <a:pt x="68547" y="590206"/>
                    <a:pt x="63467" y="591476"/>
                    <a:pt x="53307" y="585126"/>
                  </a:cubicBezTo>
                  <a:cubicBezTo>
                    <a:pt x="40607" y="578776"/>
                    <a:pt x="24097" y="566076"/>
                    <a:pt x="15207" y="549566"/>
                  </a:cubicBezTo>
                  <a:cubicBezTo>
                    <a:pt x="2507" y="525436"/>
                    <a:pt x="-2573" y="492416"/>
                    <a:pt x="1237" y="449236"/>
                  </a:cubicBezTo>
                  <a:cubicBezTo>
                    <a:pt x="8857" y="367956"/>
                    <a:pt x="69817" y="179996"/>
                    <a:pt x="114267" y="106336"/>
                  </a:cubicBezTo>
                  <a:cubicBezTo>
                    <a:pt x="140937" y="63156"/>
                    <a:pt x="172687" y="35216"/>
                    <a:pt x="199357" y="18706"/>
                  </a:cubicBezTo>
                  <a:cubicBezTo>
                    <a:pt x="218407" y="7276"/>
                    <a:pt x="229837" y="4736"/>
                    <a:pt x="253967" y="2196"/>
                  </a:cubicBezTo>
                  <a:cubicBezTo>
                    <a:pt x="303497" y="-4154"/>
                    <a:pt x="445737" y="3466"/>
                    <a:pt x="478757" y="22516"/>
                  </a:cubicBezTo>
                  <a:cubicBezTo>
                    <a:pt x="492727" y="30136"/>
                    <a:pt x="500347" y="41566"/>
                    <a:pt x="499077" y="49186"/>
                  </a:cubicBezTo>
                  <a:cubicBezTo>
                    <a:pt x="499077" y="58076"/>
                    <a:pt x="469867" y="72046"/>
                    <a:pt x="469867" y="72046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593205" y="2720340"/>
            <a:ext cx="2592705" cy="793432"/>
            <a:chOff x="0" y="0"/>
            <a:chExt cx="3456940" cy="105791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50659" y="15111"/>
              <a:ext cx="3356605" cy="996065"/>
            </a:xfrm>
            <a:custGeom>
              <a:avLst/>
              <a:gdLst/>
              <a:ahLst/>
              <a:cxnLst/>
              <a:rect r="r" b="b" t="t" l="l"/>
              <a:pathLst>
                <a:path h="996065" w="3356605">
                  <a:moveTo>
                    <a:pt x="952641" y="706249"/>
                  </a:moveTo>
                  <a:cubicBezTo>
                    <a:pt x="2496961" y="666879"/>
                    <a:pt x="3180221" y="834519"/>
                    <a:pt x="3318651" y="671959"/>
                  </a:cubicBezTo>
                  <a:cubicBezTo>
                    <a:pt x="3412631" y="564009"/>
                    <a:pt x="3248801" y="200789"/>
                    <a:pt x="3236101" y="128399"/>
                  </a:cubicBezTo>
                  <a:cubicBezTo>
                    <a:pt x="3232291" y="109349"/>
                    <a:pt x="3234831" y="100459"/>
                    <a:pt x="3228481" y="94109"/>
                  </a:cubicBezTo>
                  <a:cubicBezTo>
                    <a:pt x="3220861" y="86489"/>
                    <a:pt x="3213241" y="89029"/>
                    <a:pt x="3192921" y="86489"/>
                  </a:cubicBezTo>
                  <a:cubicBezTo>
                    <a:pt x="3069731" y="72519"/>
                    <a:pt x="2185811" y="67439"/>
                    <a:pt x="1869581" y="86489"/>
                  </a:cubicBezTo>
                  <a:cubicBezTo>
                    <a:pt x="1693051" y="96649"/>
                    <a:pt x="1628281" y="124589"/>
                    <a:pt x="1458101" y="136019"/>
                  </a:cubicBezTo>
                  <a:cubicBezTo>
                    <a:pt x="1185051" y="155069"/>
                    <a:pt x="589421" y="136019"/>
                    <a:pt x="386221" y="149989"/>
                  </a:cubicBezTo>
                  <a:cubicBezTo>
                    <a:pt x="304941" y="156339"/>
                    <a:pt x="268111" y="161419"/>
                    <a:pt x="216041" y="172849"/>
                  </a:cubicBezTo>
                  <a:cubicBezTo>
                    <a:pt x="172861" y="183009"/>
                    <a:pt x="122061" y="184279"/>
                    <a:pt x="97931" y="210949"/>
                  </a:cubicBezTo>
                  <a:cubicBezTo>
                    <a:pt x="75071" y="235079"/>
                    <a:pt x="78881" y="270639"/>
                    <a:pt x="72531" y="322709"/>
                  </a:cubicBezTo>
                  <a:cubicBezTo>
                    <a:pt x="56021" y="444629"/>
                    <a:pt x="-22719" y="856109"/>
                    <a:pt x="52211" y="936119"/>
                  </a:cubicBezTo>
                  <a:cubicBezTo>
                    <a:pt x="97931" y="984379"/>
                    <a:pt x="194451" y="951359"/>
                    <a:pt x="282081" y="939929"/>
                  </a:cubicBezTo>
                  <a:cubicBezTo>
                    <a:pt x="405271" y="923419"/>
                    <a:pt x="588151" y="845949"/>
                    <a:pt x="716421" y="816739"/>
                  </a:cubicBezTo>
                  <a:cubicBezTo>
                    <a:pt x="816751" y="793879"/>
                    <a:pt x="947561" y="769749"/>
                    <a:pt x="988201" y="771019"/>
                  </a:cubicBezTo>
                  <a:cubicBezTo>
                    <a:pt x="1000901" y="771019"/>
                    <a:pt x="1007251" y="771019"/>
                    <a:pt x="1012331" y="776099"/>
                  </a:cubicBezTo>
                  <a:cubicBezTo>
                    <a:pt x="1017411" y="782449"/>
                    <a:pt x="1021221" y="798959"/>
                    <a:pt x="1017411" y="806579"/>
                  </a:cubicBezTo>
                  <a:cubicBezTo>
                    <a:pt x="1014871" y="812929"/>
                    <a:pt x="1005981" y="819279"/>
                    <a:pt x="998361" y="820549"/>
                  </a:cubicBezTo>
                  <a:cubicBezTo>
                    <a:pt x="992011" y="821819"/>
                    <a:pt x="980581" y="818009"/>
                    <a:pt x="976771" y="812929"/>
                  </a:cubicBezTo>
                  <a:cubicBezTo>
                    <a:pt x="971691" y="807849"/>
                    <a:pt x="969151" y="796419"/>
                    <a:pt x="970421" y="790069"/>
                  </a:cubicBezTo>
                  <a:cubicBezTo>
                    <a:pt x="971691" y="782449"/>
                    <a:pt x="979311" y="773559"/>
                    <a:pt x="985661" y="772289"/>
                  </a:cubicBezTo>
                  <a:cubicBezTo>
                    <a:pt x="994551" y="769749"/>
                    <a:pt x="1016141" y="779909"/>
                    <a:pt x="1018681" y="787529"/>
                  </a:cubicBezTo>
                  <a:cubicBezTo>
                    <a:pt x="1021221" y="796419"/>
                    <a:pt x="1014871" y="810389"/>
                    <a:pt x="1000901" y="820549"/>
                  </a:cubicBezTo>
                  <a:cubicBezTo>
                    <a:pt x="965341" y="845949"/>
                    <a:pt x="830721" y="843409"/>
                    <a:pt x="729121" y="866269"/>
                  </a:cubicBezTo>
                  <a:cubicBezTo>
                    <a:pt x="598311" y="895479"/>
                    <a:pt x="402731" y="974219"/>
                    <a:pt x="282081" y="990729"/>
                  </a:cubicBezTo>
                  <a:cubicBezTo>
                    <a:pt x="203341" y="1000889"/>
                    <a:pt x="128411" y="994539"/>
                    <a:pt x="81421" y="988189"/>
                  </a:cubicBezTo>
                  <a:cubicBezTo>
                    <a:pt x="56021" y="985649"/>
                    <a:pt x="35701" y="983109"/>
                    <a:pt x="21731" y="974219"/>
                  </a:cubicBezTo>
                  <a:cubicBezTo>
                    <a:pt x="12841" y="967869"/>
                    <a:pt x="7761" y="958979"/>
                    <a:pt x="3951" y="948819"/>
                  </a:cubicBezTo>
                  <a:cubicBezTo>
                    <a:pt x="-1129" y="937389"/>
                    <a:pt x="141" y="927229"/>
                    <a:pt x="141" y="904369"/>
                  </a:cubicBezTo>
                  <a:cubicBezTo>
                    <a:pt x="-1129" y="819279"/>
                    <a:pt x="12841" y="430659"/>
                    <a:pt x="23001" y="312549"/>
                  </a:cubicBezTo>
                  <a:cubicBezTo>
                    <a:pt x="26811" y="261749"/>
                    <a:pt x="23001" y="231269"/>
                    <a:pt x="36971" y="204599"/>
                  </a:cubicBezTo>
                  <a:cubicBezTo>
                    <a:pt x="47131" y="184279"/>
                    <a:pt x="64911" y="171579"/>
                    <a:pt x="86501" y="158879"/>
                  </a:cubicBezTo>
                  <a:cubicBezTo>
                    <a:pt x="116981" y="142369"/>
                    <a:pt x="162701" y="132209"/>
                    <a:pt x="208421" y="123319"/>
                  </a:cubicBezTo>
                  <a:cubicBezTo>
                    <a:pt x="261761" y="111889"/>
                    <a:pt x="301131" y="105539"/>
                    <a:pt x="386221" y="99189"/>
                  </a:cubicBezTo>
                  <a:cubicBezTo>
                    <a:pt x="591961" y="85219"/>
                    <a:pt x="1179971" y="104269"/>
                    <a:pt x="1453021" y="85219"/>
                  </a:cubicBezTo>
                  <a:cubicBezTo>
                    <a:pt x="1624471" y="73789"/>
                    <a:pt x="1690511" y="45849"/>
                    <a:pt x="1869581" y="35689"/>
                  </a:cubicBezTo>
                  <a:cubicBezTo>
                    <a:pt x="2194701" y="16639"/>
                    <a:pt x="3114181" y="-35431"/>
                    <a:pt x="3244991" y="38229"/>
                  </a:cubicBezTo>
                  <a:cubicBezTo>
                    <a:pt x="3275471" y="56009"/>
                    <a:pt x="3271661" y="68709"/>
                    <a:pt x="3283091" y="101729"/>
                  </a:cubicBezTo>
                  <a:cubicBezTo>
                    <a:pt x="3313571" y="190629"/>
                    <a:pt x="3350401" y="525909"/>
                    <a:pt x="3354211" y="623699"/>
                  </a:cubicBezTo>
                  <a:cubicBezTo>
                    <a:pt x="3355481" y="663069"/>
                    <a:pt x="3360561" y="688469"/>
                    <a:pt x="3350401" y="704979"/>
                  </a:cubicBezTo>
                  <a:cubicBezTo>
                    <a:pt x="3344051" y="715139"/>
                    <a:pt x="3338971" y="717679"/>
                    <a:pt x="3318651" y="722759"/>
                  </a:cubicBezTo>
                  <a:cubicBezTo>
                    <a:pt x="3208161" y="753239"/>
                    <a:pt x="2498231" y="717679"/>
                    <a:pt x="2096911" y="724029"/>
                  </a:cubicBezTo>
                  <a:cubicBezTo>
                    <a:pt x="1709561" y="729109"/>
                    <a:pt x="1054241" y="790069"/>
                    <a:pt x="955181" y="757049"/>
                  </a:cubicBezTo>
                  <a:cubicBezTo>
                    <a:pt x="937401" y="750699"/>
                    <a:pt x="929781" y="743079"/>
                    <a:pt x="928511" y="735459"/>
                  </a:cubicBezTo>
                  <a:cubicBezTo>
                    <a:pt x="928511" y="726569"/>
                    <a:pt x="952641" y="706249"/>
                    <a:pt x="952641" y="706249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3264172" y="1257162"/>
            <a:ext cx="2286000" cy="2286000"/>
            <a:chOff x="0" y="0"/>
            <a:chExt cx="3048000" cy="3048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048000" cy="2946400"/>
            </a:xfrm>
            <a:custGeom>
              <a:avLst/>
              <a:gdLst/>
              <a:ahLst/>
              <a:cxnLst/>
              <a:rect r="r" b="b" t="t" l="l"/>
              <a:pathLst>
                <a:path h="29464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946400"/>
                  </a:lnTo>
                  <a:lnTo>
                    <a:pt x="0" y="2946400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2946400"/>
                  </a:moveTo>
                  <a:lnTo>
                    <a:pt x="3048000" y="2946400"/>
                  </a:lnTo>
                  <a:lnTo>
                    <a:pt x="2921000" y="3048000"/>
                  </a:lnTo>
                  <a:cubicBezTo>
                    <a:pt x="2921000" y="3048000"/>
                    <a:pt x="1930400" y="2971800"/>
                    <a:pt x="1828800" y="2971800"/>
                  </a:cubicBezTo>
                  <a:lnTo>
                    <a:pt x="1219200" y="2971800"/>
                  </a:lnTo>
                  <a:cubicBezTo>
                    <a:pt x="1117600" y="2971800"/>
                    <a:pt x="127000" y="3048000"/>
                    <a:pt x="127000" y="3048000"/>
                  </a:cubicBezTo>
                  <a:lnTo>
                    <a:pt x="0" y="2946400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2946400"/>
                  </a:lnTo>
                  <a:lnTo>
                    <a:pt x="12700" y="2946400"/>
                  </a:lnTo>
                  <a:lnTo>
                    <a:pt x="12700" y="2933700"/>
                  </a:lnTo>
                  <a:lnTo>
                    <a:pt x="3035300" y="2933700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2946400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3048000" cy="2517775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Was ist 3-2-1-Prinzip? Wie sieht das bei euch aus?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481694" y="67646"/>
            <a:ext cx="2286000" cy="2332516"/>
            <a:chOff x="0" y="0"/>
            <a:chExt cx="3048000" cy="311002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48000" cy="3008422"/>
            </a:xfrm>
            <a:custGeom>
              <a:avLst/>
              <a:gdLst/>
              <a:ahLst/>
              <a:cxnLst/>
              <a:rect r="r" b="b" t="t" l="l"/>
              <a:pathLst>
                <a:path h="300842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3008422"/>
                  </a:lnTo>
                  <a:lnTo>
                    <a:pt x="0" y="30084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48000" cy="3110022"/>
            </a:xfrm>
            <a:custGeom>
              <a:avLst/>
              <a:gdLst/>
              <a:ahLst/>
              <a:cxnLst/>
              <a:rect r="r" b="b" t="t" l="l"/>
              <a:pathLst>
                <a:path h="3110022" w="3048000">
                  <a:moveTo>
                    <a:pt x="0" y="3008422"/>
                  </a:moveTo>
                  <a:lnTo>
                    <a:pt x="3048000" y="3008422"/>
                  </a:lnTo>
                  <a:lnTo>
                    <a:pt x="2921000" y="3110022"/>
                  </a:lnTo>
                  <a:cubicBezTo>
                    <a:pt x="2921000" y="3110022"/>
                    <a:pt x="1930400" y="3033822"/>
                    <a:pt x="1828800" y="3033822"/>
                  </a:cubicBezTo>
                  <a:lnTo>
                    <a:pt x="1219200" y="3033822"/>
                  </a:lnTo>
                  <a:cubicBezTo>
                    <a:pt x="1117600" y="3033822"/>
                    <a:pt x="127000" y="3110022"/>
                    <a:pt x="127000" y="3110022"/>
                  </a:cubicBezTo>
                  <a:lnTo>
                    <a:pt x="0" y="3008422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3008422"/>
                  </a:lnTo>
                  <a:lnTo>
                    <a:pt x="12700" y="3008422"/>
                  </a:lnTo>
                  <a:lnTo>
                    <a:pt x="12700" y="2995722"/>
                  </a:lnTo>
                  <a:lnTo>
                    <a:pt x="3035300" y="2995722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30084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3048000" cy="2579797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Was ist der Unterschied zwischen Snapshot und Backup?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489343" y="2989073"/>
            <a:ext cx="2286000" cy="2286000"/>
            <a:chOff x="0" y="0"/>
            <a:chExt cx="3048000" cy="3048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48000" cy="2946400"/>
            </a:xfrm>
            <a:custGeom>
              <a:avLst/>
              <a:gdLst/>
              <a:ahLst/>
              <a:cxnLst/>
              <a:rect r="r" b="b" t="t" l="l"/>
              <a:pathLst>
                <a:path h="29464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946400"/>
                  </a:lnTo>
                  <a:lnTo>
                    <a:pt x="0" y="2946400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2946400"/>
                  </a:moveTo>
                  <a:lnTo>
                    <a:pt x="3048000" y="2946400"/>
                  </a:lnTo>
                  <a:lnTo>
                    <a:pt x="2921000" y="3048000"/>
                  </a:lnTo>
                  <a:cubicBezTo>
                    <a:pt x="2921000" y="3048000"/>
                    <a:pt x="1930400" y="2971800"/>
                    <a:pt x="1828800" y="2971800"/>
                  </a:cubicBezTo>
                  <a:lnTo>
                    <a:pt x="1219200" y="2971800"/>
                  </a:lnTo>
                  <a:cubicBezTo>
                    <a:pt x="1117600" y="2971800"/>
                    <a:pt x="127000" y="3048000"/>
                    <a:pt x="127000" y="3048000"/>
                  </a:cubicBezTo>
                  <a:lnTo>
                    <a:pt x="0" y="2946400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2946400"/>
                  </a:lnTo>
                  <a:lnTo>
                    <a:pt x="12700" y="2946400"/>
                  </a:lnTo>
                  <a:lnTo>
                    <a:pt x="12700" y="2933700"/>
                  </a:lnTo>
                  <a:lnTo>
                    <a:pt x="3035300" y="2933700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2946400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3048000" cy="2517775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Inkrementelles oder Differentielles Backup?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797391" y="255241"/>
            <a:ext cx="2286000" cy="2286000"/>
            <a:chOff x="0" y="0"/>
            <a:chExt cx="3048000" cy="3048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48000" cy="2946400"/>
            </a:xfrm>
            <a:custGeom>
              <a:avLst/>
              <a:gdLst/>
              <a:ahLst/>
              <a:cxnLst/>
              <a:rect r="r" b="b" t="t" l="l"/>
              <a:pathLst>
                <a:path h="29464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946400"/>
                  </a:lnTo>
                  <a:lnTo>
                    <a:pt x="0" y="2946400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2946400"/>
                  </a:moveTo>
                  <a:lnTo>
                    <a:pt x="3048000" y="2946400"/>
                  </a:lnTo>
                  <a:lnTo>
                    <a:pt x="2921000" y="3048000"/>
                  </a:lnTo>
                  <a:cubicBezTo>
                    <a:pt x="2921000" y="3048000"/>
                    <a:pt x="1930400" y="2971800"/>
                    <a:pt x="1828800" y="2971800"/>
                  </a:cubicBezTo>
                  <a:lnTo>
                    <a:pt x="1219200" y="2971800"/>
                  </a:lnTo>
                  <a:cubicBezTo>
                    <a:pt x="1117600" y="2971800"/>
                    <a:pt x="127000" y="3048000"/>
                    <a:pt x="127000" y="3048000"/>
                  </a:cubicBezTo>
                  <a:lnTo>
                    <a:pt x="0" y="2946400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2946400"/>
                  </a:lnTo>
                  <a:lnTo>
                    <a:pt x="12700" y="2946400"/>
                  </a:lnTo>
                  <a:lnTo>
                    <a:pt x="12700" y="2933700"/>
                  </a:lnTo>
                  <a:lnTo>
                    <a:pt x="3035300" y="2933700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2946400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3048000" cy="2517775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Wie setzt ihr das in AWS um?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853738" y="4467225"/>
            <a:ext cx="809625" cy="133350"/>
            <a:chOff x="0" y="0"/>
            <a:chExt cx="1079500" cy="177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50680" y="50800"/>
              <a:ext cx="976890" cy="93327"/>
            </a:xfrm>
            <a:custGeom>
              <a:avLst/>
              <a:gdLst/>
              <a:ahLst/>
              <a:cxnLst/>
              <a:rect r="r" b="b" t="t" l="l"/>
              <a:pathLst>
                <a:path h="93327" w="976890">
                  <a:moveTo>
                    <a:pt x="24250" y="0"/>
                  </a:moveTo>
                  <a:cubicBezTo>
                    <a:pt x="964050" y="27940"/>
                    <a:pt x="969130" y="29210"/>
                    <a:pt x="972940" y="35560"/>
                  </a:cubicBezTo>
                  <a:cubicBezTo>
                    <a:pt x="976750" y="40640"/>
                    <a:pt x="978020" y="52070"/>
                    <a:pt x="974210" y="58420"/>
                  </a:cubicBezTo>
                  <a:cubicBezTo>
                    <a:pt x="971670" y="66040"/>
                    <a:pt x="962780" y="72390"/>
                    <a:pt x="956430" y="73660"/>
                  </a:cubicBezTo>
                  <a:cubicBezTo>
                    <a:pt x="950080" y="76200"/>
                    <a:pt x="938650" y="72390"/>
                    <a:pt x="933570" y="67310"/>
                  </a:cubicBezTo>
                  <a:cubicBezTo>
                    <a:pt x="928490" y="62230"/>
                    <a:pt x="924680" y="52070"/>
                    <a:pt x="925950" y="44450"/>
                  </a:cubicBezTo>
                  <a:cubicBezTo>
                    <a:pt x="927220" y="38100"/>
                    <a:pt x="934840" y="29210"/>
                    <a:pt x="941190" y="26670"/>
                  </a:cubicBezTo>
                  <a:cubicBezTo>
                    <a:pt x="947540" y="22860"/>
                    <a:pt x="958970" y="24130"/>
                    <a:pt x="964050" y="27940"/>
                  </a:cubicBezTo>
                  <a:cubicBezTo>
                    <a:pt x="970400" y="31750"/>
                    <a:pt x="978020" y="40640"/>
                    <a:pt x="976750" y="48260"/>
                  </a:cubicBezTo>
                  <a:cubicBezTo>
                    <a:pt x="975480" y="57150"/>
                    <a:pt x="967860" y="67310"/>
                    <a:pt x="951350" y="74930"/>
                  </a:cubicBezTo>
                  <a:cubicBezTo>
                    <a:pt x="863720" y="110490"/>
                    <a:pt x="111880" y="90170"/>
                    <a:pt x="24250" y="50800"/>
                  </a:cubicBezTo>
                  <a:cubicBezTo>
                    <a:pt x="7740" y="41910"/>
                    <a:pt x="-1150" y="30480"/>
                    <a:pt x="120" y="21590"/>
                  </a:cubicBezTo>
                  <a:cubicBezTo>
                    <a:pt x="120" y="13970"/>
                    <a:pt x="24250" y="0"/>
                    <a:pt x="24250" y="0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0794682" y="4336732"/>
            <a:ext cx="279082" cy="406718"/>
            <a:chOff x="0" y="0"/>
            <a:chExt cx="372110" cy="54229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50800" y="49010"/>
              <a:ext cx="271383" cy="443045"/>
            </a:xfrm>
            <a:custGeom>
              <a:avLst/>
              <a:gdLst/>
              <a:ahLst/>
              <a:cxnLst/>
              <a:rect r="r" b="b" t="t" l="l"/>
              <a:pathLst>
                <a:path h="443045" w="271383">
                  <a:moveTo>
                    <a:pt x="215900" y="41160"/>
                  </a:moveTo>
                  <a:cubicBezTo>
                    <a:pt x="39370" y="226580"/>
                    <a:pt x="119380" y="293890"/>
                    <a:pt x="161290" y="331990"/>
                  </a:cubicBezTo>
                  <a:cubicBezTo>
                    <a:pt x="194310" y="363740"/>
                    <a:pt x="255270" y="378980"/>
                    <a:pt x="266700" y="401840"/>
                  </a:cubicBezTo>
                  <a:cubicBezTo>
                    <a:pt x="273050" y="414540"/>
                    <a:pt x="270510" y="433590"/>
                    <a:pt x="264160" y="438670"/>
                  </a:cubicBezTo>
                  <a:cubicBezTo>
                    <a:pt x="256540" y="445020"/>
                    <a:pt x="232410" y="441210"/>
                    <a:pt x="227330" y="434860"/>
                  </a:cubicBezTo>
                  <a:cubicBezTo>
                    <a:pt x="222250" y="428510"/>
                    <a:pt x="223520" y="410730"/>
                    <a:pt x="227330" y="403110"/>
                  </a:cubicBezTo>
                  <a:cubicBezTo>
                    <a:pt x="231140" y="398030"/>
                    <a:pt x="242570" y="392950"/>
                    <a:pt x="248920" y="394220"/>
                  </a:cubicBezTo>
                  <a:cubicBezTo>
                    <a:pt x="256540" y="394220"/>
                    <a:pt x="266700" y="400570"/>
                    <a:pt x="269240" y="406920"/>
                  </a:cubicBezTo>
                  <a:cubicBezTo>
                    <a:pt x="273050" y="414540"/>
                    <a:pt x="271780" y="431050"/>
                    <a:pt x="265430" y="437400"/>
                  </a:cubicBezTo>
                  <a:cubicBezTo>
                    <a:pt x="260350" y="442480"/>
                    <a:pt x="247650" y="445020"/>
                    <a:pt x="234950" y="441210"/>
                  </a:cubicBezTo>
                  <a:cubicBezTo>
                    <a:pt x="208280" y="434860"/>
                    <a:pt x="154940" y="395490"/>
                    <a:pt x="123190" y="366280"/>
                  </a:cubicBezTo>
                  <a:cubicBezTo>
                    <a:pt x="91440" y="335800"/>
                    <a:pt x="64770" y="296430"/>
                    <a:pt x="43180" y="262140"/>
                  </a:cubicBezTo>
                  <a:cubicBezTo>
                    <a:pt x="24130" y="231660"/>
                    <a:pt x="0" y="191020"/>
                    <a:pt x="0" y="168160"/>
                  </a:cubicBezTo>
                  <a:cubicBezTo>
                    <a:pt x="0" y="155460"/>
                    <a:pt x="5080" y="150380"/>
                    <a:pt x="15240" y="138950"/>
                  </a:cubicBezTo>
                  <a:cubicBezTo>
                    <a:pt x="39370" y="107200"/>
                    <a:pt x="147320" y="10680"/>
                    <a:pt x="184150" y="1790"/>
                  </a:cubicBezTo>
                  <a:cubicBezTo>
                    <a:pt x="198120" y="-2020"/>
                    <a:pt x="212090" y="520"/>
                    <a:pt x="217170" y="6870"/>
                  </a:cubicBezTo>
                  <a:cubicBezTo>
                    <a:pt x="222250" y="13220"/>
                    <a:pt x="215900" y="41160"/>
                    <a:pt x="215900" y="41160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4920541" y="6969803"/>
            <a:ext cx="2286000" cy="2286000"/>
            <a:chOff x="0" y="0"/>
            <a:chExt cx="3048000" cy="30480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048000" cy="2946400"/>
            </a:xfrm>
            <a:custGeom>
              <a:avLst/>
              <a:gdLst/>
              <a:ahLst/>
              <a:cxnLst/>
              <a:rect r="r" b="b" t="t" l="l"/>
              <a:pathLst>
                <a:path h="29464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946400"/>
                  </a:lnTo>
                  <a:lnTo>
                    <a:pt x="0" y="2946400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2946400"/>
                  </a:moveTo>
                  <a:lnTo>
                    <a:pt x="3048000" y="2946400"/>
                  </a:lnTo>
                  <a:lnTo>
                    <a:pt x="2921000" y="3048000"/>
                  </a:lnTo>
                  <a:cubicBezTo>
                    <a:pt x="2921000" y="3048000"/>
                    <a:pt x="1930400" y="2971800"/>
                    <a:pt x="1828800" y="2971800"/>
                  </a:cubicBezTo>
                  <a:lnTo>
                    <a:pt x="1219200" y="2971800"/>
                  </a:lnTo>
                  <a:cubicBezTo>
                    <a:pt x="1117600" y="2971800"/>
                    <a:pt x="127000" y="3048000"/>
                    <a:pt x="127000" y="3048000"/>
                  </a:cubicBezTo>
                  <a:lnTo>
                    <a:pt x="0" y="2946400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2946400"/>
                  </a:lnTo>
                  <a:lnTo>
                    <a:pt x="12700" y="2946400"/>
                  </a:lnTo>
                  <a:lnTo>
                    <a:pt x="12700" y="2933700"/>
                  </a:lnTo>
                  <a:lnTo>
                    <a:pt x="3035300" y="2933700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2946400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3048000" cy="2517775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Was passiert mit den lokalen Backups?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655205" y="3998887"/>
            <a:ext cx="1252698" cy="1450435"/>
            <a:chOff x="0" y="0"/>
            <a:chExt cx="3048000" cy="352912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048000" cy="3427522"/>
            </a:xfrm>
            <a:custGeom>
              <a:avLst/>
              <a:gdLst/>
              <a:ahLst/>
              <a:cxnLst/>
              <a:rect r="r" b="b" t="t" l="l"/>
              <a:pathLst>
                <a:path h="342752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3427522"/>
                  </a:lnTo>
                  <a:lnTo>
                    <a:pt x="0" y="34275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048000" cy="3529122"/>
            </a:xfrm>
            <a:custGeom>
              <a:avLst/>
              <a:gdLst/>
              <a:ahLst/>
              <a:cxnLst/>
              <a:rect r="r" b="b" t="t" l="l"/>
              <a:pathLst>
                <a:path h="3529122" w="3048000">
                  <a:moveTo>
                    <a:pt x="0" y="3427522"/>
                  </a:moveTo>
                  <a:lnTo>
                    <a:pt x="3048000" y="3427522"/>
                  </a:lnTo>
                  <a:lnTo>
                    <a:pt x="2921000" y="3529122"/>
                  </a:lnTo>
                  <a:cubicBezTo>
                    <a:pt x="2921000" y="3529122"/>
                    <a:pt x="1930400" y="3452922"/>
                    <a:pt x="1828800" y="3452922"/>
                  </a:cubicBezTo>
                  <a:lnTo>
                    <a:pt x="1219200" y="3452922"/>
                  </a:lnTo>
                  <a:cubicBezTo>
                    <a:pt x="1117600" y="3452922"/>
                    <a:pt x="127000" y="3529122"/>
                    <a:pt x="127000" y="3529122"/>
                  </a:cubicBezTo>
                  <a:lnTo>
                    <a:pt x="0" y="3427522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3427522"/>
                  </a:lnTo>
                  <a:lnTo>
                    <a:pt x="12700" y="3427522"/>
                  </a:lnTo>
                  <a:lnTo>
                    <a:pt x="12700" y="3414822"/>
                  </a:lnTo>
                  <a:lnTo>
                    <a:pt x="3035300" y="3414822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34275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3048000" cy="2989372"/>
            </a:xfrm>
            <a:prstGeom prst="rect">
              <a:avLst/>
            </a:prstGeom>
          </p:spPr>
          <p:txBody>
            <a:bodyPr anchor="t" rtlCol="false" tIns="111351" lIns="111351" bIns="111351" rIns="111351"/>
            <a:lstStyle/>
            <a:p>
              <a:pPr algn="l">
                <a:lnSpc>
                  <a:spcPts val="1380"/>
                </a:lnSpc>
              </a:pPr>
              <a:r>
                <a:rPr lang="en-US" sz="98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Wie sieht die Architektur genau aus? Spiegelung? On-Premises + vers. Regions in der Cloud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7889558" y="6326095"/>
            <a:ext cx="9013401" cy="4057791"/>
          </a:xfrm>
          <a:custGeom>
            <a:avLst/>
            <a:gdLst/>
            <a:ahLst/>
            <a:cxnLst/>
            <a:rect r="r" b="b" t="t" l="l"/>
            <a:pathLst>
              <a:path h="4057791" w="9013401">
                <a:moveTo>
                  <a:pt x="0" y="0"/>
                </a:moveTo>
                <a:lnTo>
                  <a:pt x="9013401" y="0"/>
                </a:lnTo>
                <a:lnTo>
                  <a:pt x="9013401" y="4057791"/>
                </a:lnTo>
                <a:lnTo>
                  <a:pt x="0" y="40577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562100" y="3049791"/>
            <a:ext cx="180573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≤ 2 h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305675" y="5806088"/>
            <a:ext cx="5958497" cy="36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Getestete Restores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305675" y="6154636"/>
            <a:ext cx="5958497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Regelmäßige Wiederanlaufübung nach Notfallhandbuch.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19200" y="9319317"/>
            <a:ext cx="3207039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97A4"/>
                </a:solidFill>
                <a:latin typeface="IBM Plex Sans"/>
                <a:ea typeface="IBM Plex Sans"/>
                <a:cs typeface="IBM Plex Sans"/>
                <a:sym typeface="IBM Plex Sans"/>
              </a:rPr>
              <a:t>Cloud-Migration IoT-Telematik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324659" y="9319317"/>
            <a:ext cx="820341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97A4"/>
                </a:solidFill>
                <a:latin typeface="IBM Plex Sans"/>
                <a:ea typeface="IBM Plex Sans"/>
                <a:cs typeface="IBM Plex Sans"/>
                <a:sym typeface="IBM Plex Sans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62050"/>
            <a:ext cx="163250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0E7C86"/>
                </a:solidFill>
                <a:latin typeface="Arimo Bold"/>
                <a:ea typeface="Arimo Bold"/>
                <a:cs typeface="Arimo Bold"/>
                <a:sym typeface="Arimo Bold"/>
              </a:rPr>
              <a:t>IT-SICHERHEIT &amp; DATENSCHUTZ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10633"/>
            <a:ext cx="13735050" cy="605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172A3F"/>
                </a:solidFill>
                <a:latin typeface="Arimo Bold"/>
                <a:ea typeface="Arimo Bold"/>
                <a:cs typeface="Arimo Bold"/>
                <a:sym typeface="Arimo Bold"/>
              </a:rPr>
              <a:t>Sicherheit auf jeder Ebene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659266"/>
            <a:ext cx="7791450" cy="1763916"/>
            <a:chOff x="0" y="0"/>
            <a:chExt cx="10388600" cy="23518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88600" cy="2351786"/>
            </a:xfrm>
            <a:custGeom>
              <a:avLst/>
              <a:gdLst/>
              <a:ahLst/>
              <a:cxnLst/>
              <a:rect r="r" b="b" t="t" l="l"/>
              <a:pathLst>
                <a:path h="2351786" w="10388600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10190734" y="0"/>
                  </a:lnTo>
                  <a:cubicBezTo>
                    <a:pt x="10299954" y="0"/>
                    <a:pt x="10388600" y="88646"/>
                    <a:pt x="10388600" y="197866"/>
                  </a:cubicBezTo>
                  <a:lnTo>
                    <a:pt x="10388600" y="2153920"/>
                  </a:lnTo>
                  <a:cubicBezTo>
                    <a:pt x="10388600" y="2263267"/>
                    <a:pt x="10299954" y="2351786"/>
                    <a:pt x="10190734" y="2351786"/>
                  </a:cubicBezTo>
                  <a:lnTo>
                    <a:pt x="197866" y="2351786"/>
                  </a:lnTo>
                  <a:cubicBezTo>
                    <a:pt x="88646" y="2351913"/>
                    <a:pt x="0" y="2263267"/>
                    <a:pt x="0" y="215392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CE2E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571625" y="3011691"/>
            <a:ext cx="349891" cy="438150"/>
            <a:chOff x="0" y="0"/>
            <a:chExt cx="466522" cy="584200"/>
          </a:xfrm>
        </p:grpSpPr>
        <p:sp>
          <p:nvSpPr>
            <p:cNvPr name="Freeform 7" id="7" descr="Lock"/>
            <p:cNvSpPr/>
            <p:nvPr/>
          </p:nvSpPr>
          <p:spPr>
            <a:xfrm flipH="false" flipV="false" rot="0">
              <a:off x="0" y="0"/>
              <a:ext cx="466471" cy="584200"/>
            </a:xfrm>
            <a:custGeom>
              <a:avLst/>
              <a:gdLst/>
              <a:ahLst/>
              <a:cxnLst/>
              <a:rect r="r" b="b" t="t" l="l"/>
              <a:pathLst>
                <a:path h="584200" w="466471">
                  <a:moveTo>
                    <a:pt x="0" y="0"/>
                  </a:moveTo>
                  <a:lnTo>
                    <a:pt x="466471" y="0"/>
                  </a:lnTo>
                  <a:lnTo>
                    <a:pt x="466471" y="584200"/>
                  </a:lnTo>
                  <a:lnTo>
                    <a:pt x="0" y="58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358" r="-10" b="35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150116" y="3011691"/>
            <a:ext cx="670335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Transportverschlüsselung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50116" y="3392691"/>
            <a:ext cx="6703352" cy="716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MQTT über TLS 1.3 – die Fahrzeugdaten sind auf dem gesamten Weg geschützt.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77350" y="2659266"/>
            <a:ext cx="7791450" cy="1763916"/>
            <a:chOff x="0" y="0"/>
            <a:chExt cx="10388600" cy="23518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88600" cy="2351786"/>
            </a:xfrm>
            <a:custGeom>
              <a:avLst/>
              <a:gdLst/>
              <a:ahLst/>
              <a:cxnLst/>
              <a:rect r="r" b="b" t="t" l="l"/>
              <a:pathLst>
                <a:path h="2351786" w="10388600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10190734" y="0"/>
                  </a:lnTo>
                  <a:cubicBezTo>
                    <a:pt x="10299954" y="0"/>
                    <a:pt x="10388600" y="88646"/>
                    <a:pt x="10388600" y="197866"/>
                  </a:cubicBezTo>
                  <a:lnTo>
                    <a:pt x="10388600" y="2153920"/>
                  </a:lnTo>
                  <a:cubicBezTo>
                    <a:pt x="10388600" y="2263267"/>
                    <a:pt x="10299954" y="2351786"/>
                    <a:pt x="10190734" y="2351786"/>
                  </a:cubicBezTo>
                  <a:lnTo>
                    <a:pt x="197866" y="2351786"/>
                  </a:lnTo>
                  <a:cubicBezTo>
                    <a:pt x="88646" y="2351913"/>
                    <a:pt x="0" y="2263267"/>
                    <a:pt x="0" y="215392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CE2E7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629775" y="3011691"/>
            <a:ext cx="389630" cy="438150"/>
            <a:chOff x="0" y="0"/>
            <a:chExt cx="519506" cy="584200"/>
          </a:xfrm>
        </p:grpSpPr>
        <p:sp>
          <p:nvSpPr>
            <p:cNvPr name="Freeform 13" id="13" descr="Key"/>
            <p:cNvSpPr/>
            <p:nvPr/>
          </p:nvSpPr>
          <p:spPr>
            <a:xfrm flipH="false" flipV="false" rot="0">
              <a:off x="0" y="0"/>
              <a:ext cx="519557" cy="584200"/>
            </a:xfrm>
            <a:custGeom>
              <a:avLst/>
              <a:gdLst/>
              <a:ahLst/>
              <a:cxnLst/>
              <a:rect r="r" b="b" t="t" l="l"/>
              <a:pathLst>
                <a:path h="584200" w="519557">
                  <a:moveTo>
                    <a:pt x="0" y="0"/>
                  </a:moveTo>
                  <a:lnTo>
                    <a:pt x="519557" y="0"/>
                  </a:lnTo>
                  <a:lnTo>
                    <a:pt x="519557" y="584200"/>
                  </a:lnTo>
                  <a:lnTo>
                    <a:pt x="0" y="58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115" r="9" b="11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48005" y="3011691"/>
            <a:ext cx="666242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Geräteauthentifizierung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48005" y="3392691"/>
            <a:ext cx="6662423" cy="716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Jedes Gerät erhält eine eigene digitale Identität über X.509-Zertifikate.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19200" y="4689872"/>
            <a:ext cx="7791450" cy="1763916"/>
            <a:chOff x="0" y="0"/>
            <a:chExt cx="10388600" cy="23518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388600" cy="2351786"/>
            </a:xfrm>
            <a:custGeom>
              <a:avLst/>
              <a:gdLst/>
              <a:ahLst/>
              <a:cxnLst/>
              <a:rect r="r" b="b" t="t" l="l"/>
              <a:pathLst>
                <a:path h="2351786" w="10388600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10190734" y="0"/>
                  </a:lnTo>
                  <a:cubicBezTo>
                    <a:pt x="10299954" y="0"/>
                    <a:pt x="10388600" y="88646"/>
                    <a:pt x="10388600" y="197866"/>
                  </a:cubicBezTo>
                  <a:lnTo>
                    <a:pt x="10388600" y="2153920"/>
                  </a:lnTo>
                  <a:cubicBezTo>
                    <a:pt x="10388600" y="2263267"/>
                    <a:pt x="10299954" y="2351786"/>
                    <a:pt x="10190734" y="2351786"/>
                  </a:cubicBezTo>
                  <a:lnTo>
                    <a:pt x="197866" y="2351786"/>
                  </a:lnTo>
                  <a:cubicBezTo>
                    <a:pt x="88646" y="2351913"/>
                    <a:pt x="0" y="2263267"/>
                    <a:pt x="0" y="215392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CE2E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571625" y="5042297"/>
            <a:ext cx="438150" cy="438150"/>
            <a:chOff x="0" y="0"/>
            <a:chExt cx="584200" cy="584200"/>
          </a:xfrm>
        </p:grpSpPr>
        <p:sp>
          <p:nvSpPr>
            <p:cNvPr name="Freeform 19" id="19" descr="Users"/>
            <p:cNvSpPr/>
            <p:nvPr/>
          </p:nvSpPr>
          <p:spPr>
            <a:xfrm flipH="false" flipV="false" rot="0">
              <a:off x="0" y="0"/>
              <a:ext cx="584200" cy="584200"/>
            </a:xfrm>
            <a:custGeom>
              <a:avLst/>
              <a:gdLst/>
              <a:ahLst/>
              <a:cxnLst/>
              <a:rect r="r" b="b" t="t" l="l"/>
              <a:pathLst>
                <a:path h="584200" w="584200">
                  <a:moveTo>
                    <a:pt x="0" y="0"/>
                  </a:moveTo>
                  <a:lnTo>
                    <a:pt x="584200" y="0"/>
                  </a:lnTo>
                  <a:lnTo>
                    <a:pt x="584200" y="584200"/>
                  </a:lnTo>
                  <a:lnTo>
                    <a:pt x="0" y="58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238375" y="5042297"/>
            <a:ext cx="64758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Rollen- &amp; Rechtekonzept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38375" y="5423297"/>
            <a:ext cx="6475857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Zugriffe nach dem Least-Privilege-Prinzip über zentrales IAM.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77350" y="4689872"/>
            <a:ext cx="7791450" cy="1763916"/>
            <a:chOff x="0" y="0"/>
            <a:chExt cx="10388600" cy="23518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388600" cy="2351786"/>
            </a:xfrm>
            <a:custGeom>
              <a:avLst/>
              <a:gdLst/>
              <a:ahLst/>
              <a:cxnLst/>
              <a:rect r="r" b="b" t="t" l="l"/>
              <a:pathLst>
                <a:path h="2351786" w="10388600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10190734" y="0"/>
                  </a:lnTo>
                  <a:cubicBezTo>
                    <a:pt x="10299954" y="0"/>
                    <a:pt x="10388600" y="88646"/>
                    <a:pt x="10388600" y="197866"/>
                  </a:cubicBezTo>
                  <a:lnTo>
                    <a:pt x="10388600" y="2153920"/>
                  </a:lnTo>
                  <a:cubicBezTo>
                    <a:pt x="10388600" y="2263267"/>
                    <a:pt x="10299954" y="2351786"/>
                    <a:pt x="10190734" y="2351786"/>
                  </a:cubicBezTo>
                  <a:lnTo>
                    <a:pt x="197866" y="2351786"/>
                  </a:lnTo>
                  <a:cubicBezTo>
                    <a:pt x="88646" y="2351913"/>
                    <a:pt x="0" y="2263267"/>
                    <a:pt x="0" y="215392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CE2E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629775" y="5042297"/>
            <a:ext cx="393649" cy="438150"/>
            <a:chOff x="0" y="0"/>
            <a:chExt cx="524866" cy="584200"/>
          </a:xfrm>
        </p:grpSpPr>
        <p:sp>
          <p:nvSpPr>
            <p:cNvPr name="Freeform 25" id="25" descr="Verified"/>
            <p:cNvSpPr/>
            <p:nvPr/>
          </p:nvSpPr>
          <p:spPr>
            <a:xfrm flipH="false" flipV="false" rot="0">
              <a:off x="0" y="0"/>
              <a:ext cx="524891" cy="584200"/>
            </a:xfrm>
            <a:custGeom>
              <a:avLst/>
              <a:gdLst/>
              <a:ahLst/>
              <a:cxnLst/>
              <a:rect r="r" b="b" t="t" l="l"/>
              <a:pathLst>
                <a:path h="584200" w="524891">
                  <a:moveTo>
                    <a:pt x="0" y="0"/>
                  </a:moveTo>
                  <a:lnTo>
                    <a:pt x="524891" y="0"/>
                  </a:lnTo>
                  <a:lnTo>
                    <a:pt x="524891" y="584200"/>
                  </a:lnTo>
                  <a:lnTo>
                    <a:pt x="0" y="58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396" t="0" r="401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252024" y="5042297"/>
            <a:ext cx="665828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Datenschutz (DSGVO)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52024" y="5423297"/>
            <a:ext cx="6658280" cy="716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6673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Standortdaten pseudonymisiert, EU-Region, definiertes Löschkonzept.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9200" y="9319317"/>
            <a:ext cx="3207039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97A4"/>
                </a:solidFill>
                <a:latin typeface="IBM Plex Sans"/>
                <a:ea typeface="IBM Plex Sans"/>
                <a:cs typeface="IBM Plex Sans"/>
                <a:sym typeface="IBM Plex Sans"/>
              </a:rPr>
              <a:t>Cloud-Migration IoT-Telematik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324659" y="9319317"/>
            <a:ext cx="820341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97A4"/>
                </a:solidFill>
                <a:latin typeface="IBM Plex Sans"/>
                <a:ea typeface="IBM Plex Sans"/>
                <a:cs typeface="IBM Plex Sans"/>
                <a:sym typeface="IBM Plex Sans"/>
              </a:rPr>
              <a:t>09 / 12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756137" y="584364"/>
            <a:ext cx="2286000" cy="3275491"/>
            <a:chOff x="0" y="0"/>
            <a:chExt cx="3048000" cy="436732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048000" cy="4265722"/>
            </a:xfrm>
            <a:custGeom>
              <a:avLst/>
              <a:gdLst/>
              <a:ahLst/>
              <a:cxnLst/>
              <a:rect r="r" b="b" t="t" l="l"/>
              <a:pathLst>
                <a:path h="426572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265722"/>
                  </a:lnTo>
                  <a:lnTo>
                    <a:pt x="0" y="42657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48000" cy="4367322"/>
            </a:xfrm>
            <a:custGeom>
              <a:avLst/>
              <a:gdLst/>
              <a:ahLst/>
              <a:cxnLst/>
              <a:rect r="r" b="b" t="t" l="l"/>
              <a:pathLst>
                <a:path h="4367322" w="3048000">
                  <a:moveTo>
                    <a:pt x="0" y="4265722"/>
                  </a:moveTo>
                  <a:lnTo>
                    <a:pt x="3048000" y="4265722"/>
                  </a:lnTo>
                  <a:lnTo>
                    <a:pt x="2921000" y="4367322"/>
                  </a:lnTo>
                  <a:cubicBezTo>
                    <a:pt x="2921000" y="4367322"/>
                    <a:pt x="1930400" y="4291122"/>
                    <a:pt x="1828800" y="4291122"/>
                  </a:cubicBezTo>
                  <a:lnTo>
                    <a:pt x="1219200" y="4291122"/>
                  </a:lnTo>
                  <a:cubicBezTo>
                    <a:pt x="1117600" y="4291122"/>
                    <a:pt x="127000" y="4367322"/>
                    <a:pt x="127000" y="4367322"/>
                  </a:cubicBezTo>
                  <a:lnTo>
                    <a:pt x="0" y="4265722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4265722"/>
                  </a:lnTo>
                  <a:lnTo>
                    <a:pt x="12700" y="4265722"/>
                  </a:lnTo>
                  <a:lnTo>
                    <a:pt x="12700" y="4253022"/>
                  </a:lnTo>
                  <a:lnTo>
                    <a:pt x="3035300" y="4253022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42657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048000" cy="3837097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Warum muss ich die Fahrzeugdaten überhaupt schützen?</a:t>
              </a: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Datenschutz, Firmenintelligenz, ...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888730" y="2191702"/>
            <a:ext cx="1384935" cy="3195638"/>
            <a:chOff x="0" y="0"/>
            <a:chExt cx="1846580" cy="42608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50608" y="50800"/>
              <a:ext cx="1743959" cy="4158026"/>
            </a:xfrm>
            <a:custGeom>
              <a:avLst/>
              <a:gdLst/>
              <a:ahLst/>
              <a:cxnLst/>
              <a:rect r="r" b="b" t="t" l="l"/>
              <a:pathLst>
                <a:path h="4158026" w="1743959">
                  <a:moveTo>
                    <a:pt x="24322" y="0"/>
                  </a:moveTo>
                  <a:cubicBezTo>
                    <a:pt x="237682" y="21590"/>
                    <a:pt x="271972" y="36830"/>
                    <a:pt x="308802" y="53340"/>
                  </a:cubicBezTo>
                  <a:cubicBezTo>
                    <a:pt x="343092" y="69850"/>
                    <a:pt x="379922" y="90170"/>
                    <a:pt x="409132" y="110490"/>
                  </a:cubicBezTo>
                  <a:cubicBezTo>
                    <a:pt x="435802" y="130810"/>
                    <a:pt x="457392" y="151130"/>
                    <a:pt x="480252" y="175260"/>
                  </a:cubicBezTo>
                  <a:cubicBezTo>
                    <a:pt x="503112" y="199390"/>
                    <a:pt x="525972" y="228600"/>
                    <a:pt x="543752" y="257810"/>
                  </a:cubicBezTo>
                  <a:cubicBezTo>
                    <a:pt x="562802" y="285750"/>
                    <a:pt x="575502" y="304800"/>
                    <a:pt x="589472" y="346710"/>
                  </a:cubicBezTo>
                  <a:cubicBezTo>
                    <a:pt x="617412" y="427990"/>
                    <a:pt x="647892" y="603250"/>
                    <a:pt x="661862" y="726440"/>
                  </a:cubicBezTo>
                  <a:cubicBezTo>
                    <a:pt x="675832" y="840740"/>
                    <a:pt x="674562" y="943610"/>
                    <a:pt x="674562" y="1062990"/>
                  </a:cubicBezTo>
                  <a:cubicBezTo>
                    <a:pt x="674562" y="1193800"/>
                    <a:pt x="659322" y="1309370"/>
                    <a:pt x="656782" y="1479550"/>
                  </a:cubicBezTo>
                  <a:cubicBezTo>
                    <a:pt x="652972" y="1748790"/>
                    <a:pt x="679642" y="2218690"/>
                    <a:pt x="675832" y="2523490"/>
                  </a:cubicBezTo>
                  <a:cubicBezTo>
                    <a:pt x="672022" y="2759710"/>
                    <a:pt x="665672" y="2941320"/>
                    <a:pt x="646622" y="3153410"/>
                  </a:cubicBezTo>
                  <a:cubicBezTo>
                    <a:pt x="627572" y="3371850"/>
                    <a:pt x="575502" y="3657600"/>
                    <a:pt x="562802" y="3817620"/>
                  </a:cubicBezTo>
                  <a:cubicBezTo>
                    <a:pt x="555182" y="3907790"/>
                    <a:pt x="552642" y="3981450"/>
                    <a:pt x="556452" y="4029710"/>
                  </a:cubicBezTo>
                  <a:cubicBezTo>
                    <a:pt x="557722" y="4053840"/>
                    <a:pt x="552642" y="4071620"/>
                    <a:pt x="566612" y="4084320"/>
                  </a:cubicBezTo>
                  <a:cubicBezTo>
                    <a:pt x="585662" y="4103370"/>
                    <a:pt x="647892" y="4105910"/>
                    <a:pt x="684722" y="4107180"/>
                  </a:cubicBezTo>
                  <a:cubicBezTo>
                    <a:pt x="717742" y="4109720"/>
                    <a:pt x="738062" y="4103370"/>
                    <a:pt x="776162" y="4098290"/>
                  </a:cubicBezTo>
                  <a:cubicBezTo>
                    <a:pt x="843472" y="4089400"/>
                    <a:pt x="962852" y="4071620"/>
                    <a:pt x="1053022" y="4052570"/>
                  </a:cubicBezTo>
                  <a:cubicBezTo>
                    <a:pt x="1141922" y="4033520"/>
                    <a:pt x="1221932" y="4005580"/>
                    <a:pt x="1315912" y="3985260"/>
                  </a:cubicBezTo>
                  <a:cubicBezTo>
                    <a:pt x="1421322" y="3964940"/>
                    <a:pt x="1597852" y="3925570"/>
                    <a:pt x="1653732" y="3933190"/>
                  </a:cubicBezTo>
                  <a:cubicBezTo>
                    <a:pt x="1674052" y="3935730"/>
                    <a:pt x="1681672" y="3952240"/>
                    <a:pt x="1693102" y="3949700"/>
                  </a:cubicBezTo>
                  <a:cubicBezTo>
                    <a:pt x="1703262" y="3948430"/>
                    <a:pt x="1709612" y="3924300"/>
                    <a:pt x="1718502" y="3924300"/>
                  </a:cubicBezTo>
                  <a:cubicBezTo>
                    <a:pt x="1727392" y="3923030"/>
                    <a:pt x="1741362" y="3934460"/>
                    <a:pt x="1742632" y="3943350"/>
                  </a:cubicBezTo>
                  <a:cubicBezTo>
                    <a:pt x="1745172" y="3950970"/>
                    <a:pt x="1732472" y="3972560"/>
                    <a:pt x="1723582" y="3973830"/>
                  </a:cubicBezTo>
                  <a:cubicBezTo>
                    <a:pt x="1715962" y="3976370"/>
                    <a:pt x="1694372" y="3961130"/>
                    <a:pt x="1693102" y="3953510"/>
                  </a:cubicBezTo>
                  <a:cubicBezTo>
                    <a:pt x="1691832" y="3944620"/>
                    <a:pt x="1707072" y="3924300"/>
                    <a:pt x="1715962" y="3924300"/>
                  </a:cubicBezTo>
                  <a:cubicBezTo>
                    <a:pt x="1724852" y="3923030"/>
                    <a:pt x="1745172" y="3940810"/>
                    <a:pt x="1743902" y="3948430"/>
                  </a:cubicBezTo>
                  <a:cubicBezTo>
                    <a:pt x="1741362" y="3959860"/>
                    <a:pt x="1699452" y="3972560"/>
                    <a:pt x="1662622" y="3982720"/>
                  </a:cubicBezTo>
                  <a:cubicBezTo>
                    <a:pt x="1590232" y="4003040"/>
                    <a:pt x="1439102" y="4013200"/>
                    <a:pt x="1328612" y="4034790"/>
                  </a:cubicBezTo>
                  <a:cubicBezTo>
                    <a:pt x="1219392" y="4056380"/>
                    <a:pt x="1112712" y="4093210"/>
                    <a:pt x="1003492" y="4113530"/>
                  </a:cubicBezTo>
                  <a:cubicBezTo>
                    <a:pt x="896812" y="4133850"/>
                    <a:pt x="763462" y="4159250"/>
                    <a:pt x="680912" y="4157980"/>
                  </a:cubicBezTo>
                  <a:cubicBezTo>
                    <a:pt x="630112" y="4157980"/>
                    <a:pt x="586932" y="4149090"/>
                    <a:pt x="557722" y="4136390"/>
                  </a:cubicBezTo>
                  <a:cubicBezTo>
                    <a:pt x="539942" y="4128770"/>
                    <a:pt x="528512" y="4119880"/>
                    <a:pt x="519622" y="4104640"/>
                  </a:cubicBezTo>
                  <a:cubicBezTo>
                    <a:pt x="508192" y="4085590"/>
                    <a:pt x="506922" y="4061460"/>
                    <a:pt x="505652" y="4027170"/>
                  </a:cubicBezTo>
                  <a:cubicBezTo>
                    <a:pt x="500572" y="3962400"/>
                    <a:pt x="508192" y="3856990"/>
                    <a:pt x="518352" y="3746500"/>
                  </a:cubicBezTo>
                  <a:cubicBezTo>
                    <a:pt x="532322" y="3583940"/>
                    <a:pt x="578042" y="3351530"/>
                    <a:pt x="595822" y="3149600"/>
                  </a:cubicBezTo>
                  <a:cubicBezTo>
                    <a:pt x="614872" y="2943860"/>
                    <a:pt x="621222" y="2758440"/>
                    <a:pt x="625032" y="2523490"/>
                  </a:cubicBezTo>
                  <a:cubicBezTo>
                    <a:pt x="628842" y="2219960"/>
                    <a:pt x="602172" y="1747520"/>
                    <a:pt x="605982" y="1478280"/>
                  </a:cubicBezTo>
                  <a:cubicBezTo>
                    <a:pt x="608522" y="1309370"/>
                    <a:pt x="623762" y="1193800"/>
                    <a:pt x="623762" y="1062990"/>
                  </a:cubicBezTo>
                  <a:cubicBezTo>
                    <a:pt x="623762" y="947420"/>
                    <a:pt x="619952" y="820420"/>
                    <a:pt x="612332" y="732790"/>
                  </a:cubicBezTo>
                  <a:cubicBezTo>
                    <a:pt x="607252" y="673100"/>
                    <a:pt x="602172" y="638810"/>
                    <a:pt x="592012" y="585470"/>
                  </a:cubicBezTo>
                  <a:cubicBezTo>
                    <a:pt x="580582" y="519430"/>
                    <a:pt x="570422" y="433070"/>
                    <a:pt x="543752" y="369570"/>
                  </a:cubicBezTo>
                  <a:cubicBezTo>
                    <a:pt x="519622" y="309880"/>
                    <a:pt x="476442" y="250190"/>
                    <a:pt x="445962" y="212090"/>
                  </a:cubicBezTo>
                  <a:cubicBezTo>
                    <a:pt x="424372" y="186690"/>
                    <a:pt x="407862" y="172720"/>
                    <a:pt x="383732" y="154940"/>
                  </a:cubicBezTo>
                  <a:cubicBezTo>
                    <a:pt x="357062" y="134620"/>
                    <a:pt x="322772" y="116840"/>
                    <a:pt x="289752" y="101600"/>
                  </a:cubicBezTo>
                  <a:cubicBezTo>
                    <a:pt x="258002" y="85090"/>
                    <a:pt x="227522" y="71120"/>
                    <a:pt x="188152" y="62230"/>
                  </a:cubicBezTo>
                  <a:cubicBezTo>
                    <a:pt x="138622" y="50800"/>
                    <a:pt x="39562" y="63500"/>
                    <a:pt x="14162" y="48260"/>
                  </a:cubicBezTo>
                  <a:cubicBezTo>
                    <a:pt x="4002" y="41910"/>
                    <a:pt x="-1078" y="30480"/>
                    <a:pt x="192" y="22860"/>
                  </a:cubicBezTo>
                  <a:cubicBezTo>
                    <a:pt x="1462" y="13970"/>
                    <a:pt x="24322" y="0"/>
                    <a:pt x="24322" y="0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087928" y="5052060"/>
            <a:ext cx="222885" cy="446722"/>
            <a:chOff x="0" y="0"/>
            <a:chExt cx="297180" cy="59563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49280" y="50087"/>
              <a:ext cx="195805" cy="494743"/>
            </a:xfrm>
            <a:custGeom>
              <a:avLst/>
              <a:gdLst/>
              <a:ahLst/>
              <a:cxnLst/>
              <a:rect r="r" b="b" t="t" l="l"/>
              <a:pathLst>
                <a:path h="494743" w="195805">
                  <a:moveTo>
                    <a:pt x="45970" y="9603"/>
                  </a:moveTo>
                  <a:cubicBezTo>
                    <a:pt x="200910" y="240743"/>
                    <a:pt x="200910" y="249633"/>
                    <a:pt x="193290" y="268683"/>
                  </a:cubicBezTo>
                  <a:cubicBezTo>
                    <a:pt x="180590" y="304243"/>
                    <a:pt x="110740" y="360123"/>
                    <a:pt x="90420" y="400763"/>
                  </a:cubicBezTo>
                  <a:cubicBezTo>
                    <a:pt x="75180" y="431243"/>
                    <a:pt x="76450" y="471883"/>
                    <a:pt x="65020" y="485853"/>
                  </a:cubicBezTo>
                  <a:cubicBezTo>
                    <a:pt x="58670" y="492203"/>
                    <a:pt x="49780" y="494743"/>
                    <a:pt x="43430" y="494743"/>
                  </a:cubicBezTo>
                  <a:cubicBezTo>
                    <a:pt x="35810" y="494743"/>
                    <a:pt x="26920" y="488393"/>
                    <a:pt x="23110" y="482043"/>
                  </a:cubicBezTo>
                  <a:cubicBezTo>
                    <a:pt x="19300" y="475693"/>
                    <a:pt x="19300" y="464263"/>
                    <a:pt x="21840" y="457913"/>
                  </a:cubicBezTo>
                  <a:cubicBezTo>
                    <a:pt x="25650" y="451563"/>
                    <a:pt x="34540" y="445213"/>
                    <a:pt x="42160" y="443943"/>
                  </a:cubicBezTo>
                  <a:cubicBezTo>
                    <a:pt x="48510" y="442673"/>
                    <a:pt x="59940" y="446483"/>
                    <a:pt x="63750" y="452833"/>
                  </a:cubicBezTo>
                  <a:cubicBezTo>
                    <a:pt x="68830" y="459183"/>
                    <a:pt x="70100" y="475693"/>
                    <a:pt x="66290" y="483313"/>
                  </a:cubicBezTo>
                  <a:cubicBezTo>
                    <a:pt x="62480" y="489663"/>
                    <a:pt x="52320" y="494743"/>
                    <a:pt x="45970" y="494743"/>
                  </a:cubicBezTo>
                  <a:cubicBezTo>
                    <a:pt x="37080" y="494743"/>
                    <a:pt x="24380" y="487123"/>
                    <a:pt x="20570" y="476963"/>
                  </a:cubicBezTo>
                  <a:cubicBezTo>
                    <a:pt x="14220" y="461723"/>
                    <a:pt x="24380" y="429973"/>
                    <a:pt x="32000" y="407113"/>
                  </a:cubicBezTo>
                  <a:cubicBezTo>
                    <a:pt x="39620" y="382983"/>
                    <a:pt x="52320" y="360123"/>
                    <a:pt x="70100" y="337263"/>
                  </a:cubicBezTo>
                  <a:cubicBezTo>
                    <a:pt x="91690" y="308053"/>
                    <a:pt x="152650" y="287733"/>
                    <a:pt x="155190" y="250903"/>
                  </a:cubicBezTo>
                  <a:cubicBezTo>
                    <a:pt x="160270" y="196293"/>
                    <a:pt x="9140" y="75643"/>
                    <a:pt x="1520" y="33733"/>
                  </a:cubicBezTo>
                  <a:cubicBezTo>
                    <a:pt x="-2290" y="18493"/>
                    <a:pt x="1520" y="5793"/>
                    <a:pt x="7870" y="713"/>
                  </a:cubicBezTo>
                  <a:cubicBezTo>
                    <a:pt x="15490" y="-3097"/>
                    <a:pt x="45970" y="9603"/>
                    <a:pt x="45970" y="9603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783128" y="5271135"/>
            <a:ext cx="364808" cy="450532"/>
            <a:chOff x="0" y="0"/>
            <a:chExt cx="486410" cy="60071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46900" y="50739"/>
              <a:ext cx="387578" cy="501854"/>
            </a:xfrm>
            <a:custGeom>
              <a:avLst/>
              <a:gdLst/>
              <a:ahLst/>
              <a:cxnLst/>
              <a:rect r="r" b="b" t="t" l="l"/>
              <a:pathLst>
                <a:path h="501854" w="387578">
                  <a:moveTo>
                    <a:pt x="53430" y="17841"/>
                  </a:moveTo>
                  <a:cubicBezTo>
                    <a:pt x="162650" y="490281"/>
                    <a:pt x="323940" y="433131"/>
                    <a:pt x="363310" y="447101"/>
                  </a:cubicBezTo>
                  <a:cubicBezTo>
                    <a:pt x="376010" y="452181"/>
                    <a:pt x="386170" y="458531"/>
                    <a:pt x="387440" y="466151"/>
                  </a:cubicBezTo>
                  <a:cubicBezTo>
                    <a:pt x="388710" y="475041"/>
                    <a:pt x="376010" y="495361"/>
                    <a:pt x="367120" y="497901"/>
                  </a:cubicBezTo>
                  <a:cubicBezTo>
                    <a:pt x="359500" y="499171"/>
                    <a:pt x="337910" y="485201"/>
                    <a:pt x="337910" y="476311"/>
                  </a:cubicBezTo>
                  <a:cubicBezTo>
                    <a:pt x="336640" y="467421"/>
                    <a:pt x="351880" y="448371"/>
                    <a:pt x="360770" y="447101"/>
                  </a:cubicBezTo>
                  <a:cubicBezTo>
                    <a:pt x="368390" y="447101"/>
                    <a:pt x="387440" y="463611"/>
                    <a:pt x="387440" y="471231"/>
                  </a:cubicBezTo>
                  <a:cubicBezTo>
                    <a:pt x="388710" y="480121"/>
                    <a:pt x="381090" y="491551"/>
                    <a:pt x="369660" y="496631"/>
                  </a:cubicBezTo>
                  <a:cubicBezTo>
                    <a:pt x="344260" y="509331"/>
                    <a:pt x="255360" y="495361"/>
                    <a:pt x="207100" y="491551"/>
                  </a:cubicBezTo>
                  <a:cubicBezTo>
                    <a:pt x="166460" y="489011"/>
                    <a:pt x="122010" y="491551"/>
                    <a:pt x="95340" y="480121"/>
                  </a:cubicBezTo>
                  <a:cubicBezTo>
                    <a:pt x="77560" y="471231"/>
                    <a:pt x="68670" y="464881"/>
                    <a:pt x="57240" y="443291"/>
                  </a:cubicBezTo>
                  <a:cubicBezTo>
                    <a:pt x="26760" y="382331"/>
                    <a:pt x="-12610" y="78801"/>
                    <a:pt x="3900" y="25461"/>
                  </a:cubicBezTo>
                  <a:cubicBezTo>
                    <a:pt x="8980" y="10221"/>
                    <a:pt x="17870" y="1331"/>
                    <a:pt x="25490" y="61"/>
                  </a:cubicBezTo>
                  <a:cubicBezTo>
                    <a:pt x="34380" y="-1209"/>
                    <a:pt x="53430" y="17841"/>
                    <a:pt x="53430" y="17841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986010" y="5527358"/>
            <a:ext cx="192405" cy="302895"/>
            <a:chOff x="0" y="0"/>
            <a:chExt cx="256540" cy="4038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49488" y="49428"/>
              <a:ext cx="155537" cy="304030"/>
            </a:xfrm>
            <a:custGeom>
              <a:avLst/>
              <a:gdLst/>
              <a:ahLst/>
              <a:cxnLst/>
              <a:rect r="r" b="b" t="t" l="l"/>
              <a:pathLst>
                <a:path h="304030" w="155537">
                  <a:moveTo>
                    <a:pt x="38142" y="1372"/>
                  </a:moveTo>
                  <a:cubicBezTo>
                    <a:pt x="156252" y="87732"/>
                    <a:pt x="157522" y="123292"/>
                    <a:pt x="154982" y="152502"/>
                  </a:cubicBezTo>
                  <a:cubicBezTo>
                    <a:pt x="151172" y="182982"/>
                    <a:pt x="139742" y="216002"/>
                    <a:pt x="121962" y="240132"/>
                  </a:cubicBezTo>
                  <a:cubicBezTo>
                    <a:pt x="102912" y="265532"/>
                    <a:pt x="62272" y="296012"/>
                    <a:pt x="43222" y="302362"/>
                  </a:cubicBezTo>
                  <a:cubicBezTo>
                    <a:pt x="33062" y="304902"/>
                    <a:pt x="24172" y="304902"/>
                    <a:pt x="19092" y="299822"/>
                  </a:cubicBezTo>
                  <a:cubicBezTo>
                    <a:pt x="12742" y="296012"/>
                    <a:pt x="6392" y="279502"/>
                    <a:pt x="8932" y="271882"/>
                  </a:cubicBezTo>
                  <a:cubicBezTo>
                    <a:pt x="10202" y="264262"/>
                    <a:pt x="17822" y="256642"/>
                    <a:pt x="25442" y="254102"/>
                  </a:cubicBezTo>
                  <a:cubicBezTo>
                    <a:pt x="33062" y="252832"/>
                    <a:pt x="49572" y="259182"/>
                    <a:pt x="54652" y="265532"/>
                  </a:cubicBezTo>
                  <a:cubicBezTo>
                    <a:pt x="58462" y="270612"/>
                    <a:pt x="59732" y="283312"/>
                    <a:pt x="55922" y="289662"/>
                  </a:cubicBezTo>
                  <a:cubicBezTo>
                    <a:pt x="50842" y="296012"/>
                    <a:pt x="29252" y="304902"/>
                    <a:pt x="21632" y="301092"/>
                  </a:cubicBezTo>
                  <a:cubicBezTo>
                    <a:pt x="14012" y="298552"/>
                    <a:pt x="6392" y="284582"/>
                    <a:pt x="7662" y="274422"/>
                  </a:cubicBezTo>
                  <a:cubicBezTo>
                    <a:pt x="11472" y="255372"/>
                    <a:pt x="66082" y="232512"/>
                    <a:pt x="81322" y="209652"/>
                  </a:cubicBezTo>
                  <a:cubicBezTo>
                    <a:pt x="94022" y="191872"/>
                    <a:pt x="101642" y="172822"/>
                    <a:pt x="104182" y="152502"/>
                  </a:cubicBezTo>
                  <a:cubicBezTo>
                    <a:pt x="105452" y="133452"/>
                    <a:pt x="102912" y="109322"/>
                    <a:pt x="90212" y="91542"/>
                  </a:cubicBezTo>
                  <a:cubicBezTo>
                    <a:pt x="73702" y="67412"/>
                    <a:pt x="7662" y="49632"/>
                    <a:pt x="1312" y="30582"/>
                  </a:cubicBezTo>
                  <a:cubicBezTo>
                    <a:pt x="-2498" y="20422"/>
                    <a:pt x="2582" y="7722"/>
                    <a:pt x="8932" y="2642"/>
                  </a:cubicBezTo>
                  <a:cubicBezTo>
                    <a:pt x="15282" y="-2438"/>
                    <a:pt x="38142" y="1372"/>
                    <a:pt x="38142" y="1372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3971925" y="6139463"/>
            <a:ext cx="2286000" cy="2286000"/>
            <a:chOff x="0" y="0"/>
            <a:chExt cx="3048000" cy="3048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48000" cy="2946400"/>
            </a:xfrm>
            <a:custGeom>
              <a:avLst/>
              <a:gdLst/>
              <a:ahLst/>
              <a:cxnLst/>
              <a:rect r="r" b="b" t="t" l="l"/>
              <a:pathLst>
                <a:path h="29464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946400"/>
                  </a:lnTo>
                  <a:lnTo>
                    <a:pt x="0" y="2946400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2946400"/>
                  </a:moveTo>
                  <a:lnTo>
                    <a:pt x="3048000" y="2946400"/>
                  </a:lnTo>
                  <a:lnTo>
                    <a:pt x="2921000" y="3048000"/>
                  </a:lnTo>
                  <a:cubicBezTo>
                    <a:pt x="2921000" y="3048000"/>
                    <a:pt x="1930400" y="2971800"/>
                    <a:pt x="1828800" y="2971800"/>
                  </a:cubicBezTo>
                  <a:lnTo>
                    <a:pt x="1219200" y="2971800"/>
                  </a:lnTo>
                  <a:cubicBezTo>
                    <a:pt x="1117600" y="2971800"/>
                    <a:pt x="127000" y="3048000"/>
                    <a:pt x="127000" y="3048000"/>
                  </a:cubicBezTo>
                  <a:lnTo>
                    <a:pt x="0" y="2946400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2946400"/>
                  </a:lnTo>
                  <a:lnTo>
                    <a:pt x="12700" y="2946400"/>
                  </a:lnTo>
                  <a:lnTo>
                    <a:pt x="12700" y="2933700"/>
                  </a:lnTo>
                  <a:lnTo>
                    <a:pt x="3035300" y="2933700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2946400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3048000" cy="2517775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Was ist Least Privilege hier?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131481" y="791304"/>
            <a:ext cx="2286000" cy="2332516"/>
            <a:chOff x="0" y="0"/>
            <a:chExt cx="3048000" cy="311002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048000" cy="3008422"/>
            </a:xfrm>
            <a:custGeom>
              <a:avLst/>
              <a:gdLst/>
              <a:ahLst/>
              <a:cxnLst/>
              <a:rect r="r" b="b" t="t" l="l"/>
              <a:pathLst>
                <a:path h="300842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3008422"/>
                  </a:lnTo>
                  <a:lnTo>
                    <a:pt x="0" y="30084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48000" cy="3110022"/>
            </a:xfrm>
            <a:custGeom>
              <a:avLst/>
              <a:gdLst/>
              <a:ahLst/>
              <a:cxnLst/>
              <a:rect r="r" b="b" t="t" l="l"/>
              <a:pathLst>
                <a:path h="3110022" w="3048000">
                  <a:moveTo>
                    <a:pt x="0" y="3008422"/>
                  </a:moveTo>
                  <a:lnTo>
                    <a:pt x="3048000" y="3008422"/>
                  </a:lnTo>
                  <a:lnTo>
                    <a:pt x="2921000" y="3110022"/>
                  </a:lnTo>
                  <a:cubicBezTo>
                    <a:pt x="2921000" y="3110022"/>
                    <a:pt x="1930400" y="3033822"/>
                    <a:pt x="1828800" y="3033822"/>
                  </a:cubicBezTo>
                  <a:lnTo>
                    <a:pt x="1219200" y="3033822"/>
                  </a:lnTo>
                  <a:cubicBezTo>
                    <a:pt x="1117600" y="3033822"/>
                    <a:pt x="127000" y="3110022"/>
                    <a:pt x="127000" y="3110022"/>
                  </a:cubicBezTo>
                  <a:lnTo>
                    <a:pt x="0" y="3008422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3008422"/>
                  </a:lnTo>
                  <a:lnTo>
                    <a:pt x="12700" y="3008422"/>
                  </a:lnTo>
                  <a:lnTo>
                    <a:pt x="12700" y="2995722"/>
                  </a:lnTo>
                  <a:lnTo>
                    <a:pt x="3035300" y="2995722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30084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3048000" cy="2579797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Wie läuft das mit der Verschlüsselung mit Zertifikat? Privat öffentlich?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030075" y="6444263"/>
            <a:ext cx="2286000" cy="2961166"/>
            <a:chOff x="0" y="0"/>
            <a:chExt cx="3048000" cy="394822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048000" cy="3846622"/>
            </a:xfrm>
            <a:custGeom>
              <a:avLst/>
              <a:gdLst/>
              <a:ahLst/>
              <a:cxnLst/>
              <a:rect r="r" b="b" t="t" l="l"/>
              <a:pathLst>
                <a:path h="384662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3846622"/>
                  </a:lnTo>
                  <a:lnTo>
                    <a:pt x="0" y="38466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048000" cy="3948222"/>
            </a:xfrm>
            <a:custGeom>
              <a:avLst/>
              <a:gdLst/>
              <a:ahLst/>
              <a:cxnLst/>
              <a:rect r="r" b="b" t="t" l="l"/>
              <a:pathLst>
                <a:path h="3948222" w="3048000">
                  <a:moveTo>
                    <a:pt x="0" y="3846622"/>
                  </a:moveTo>
                  <a:lnTo>
                    <a:pt x="3048000" y="3846622"/>
                  </a:lnTo>
                  <a:lnTo>
                    <a:pt x="2921000" y="3948222"/>
                  </a:lnTo>
                  <a:cubicBezTo>
                    <a:pt x="2921000" y="3948222"/>
                    <a:pt x="1930400" y="3872022"/>
                    <a:pt x="1828800" y="3872022"/>
                  </a:cubicBezTo>
                  <a:lnTo>
                    <a:pt x="1219200" y="3872022"/>
                  </a:lnTo>
                  <a:cubicBezTo>
                    <a:pt x="1117600" y="3872022"/>
                    <a:pt x="127000" y="3948222"/>
                    <a:pt x="127000" y="3948222"/>
                  </a:cubicBezTo>
                  <a:lnTo>
                    <a:pt x="0" y="3846622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3846622"/>
                  </a:lnTo>
                  <a:lnTo>
                    <a:pt x="12700" y="3846622"/>
                  </a:lnTo>
                  <a:lnTo>
                    <a:pt x="12700" y="3833922"/>
                  </a:lnTo>
                  <a:lnTo>
                    <a:pt x="3035300" y="3833922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38466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3048000" cy="3417997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ACHTUNG!!! IMMER GEFRAGT: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Was sind denn schützenswerte Daten z.B. bei Standortdaten? 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62050"/>
            <a:ext cx="163250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0E7C86"/>
                </a:solidFill>
                <a:latin typeface="Arimo Bold"/>
                <a:ea typeface="Arimo Bold"/>
                <a:cs typeface="Arimo Bold"/>
                <a:sym typeface="Arimo Bold"/>
              </a:rPr>
              <a:t>UMSETZUNG &amp; QUALITÄTSSICHERUNG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10633"/>
            <a:ext cx="13735050" cy="605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172A3F"/>
                </a:solidFill>
                <a:latin typeface="Arimo Bold"/>
                <a:ea typeface="Arimo Bold"/>
                <a:cs typeface="Arimo Bold"/>
                <a:sym typeface="Arimo Bold"/>
              </a:rPr>
              <a:t>Migration in Schritten, abgesichert durch Tests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659266"/>
            <a:ext cx="3476625" cy="1161898"/>
            <a:chOff x="0" y="0"/>
            <a:chExt cx="4635500" cy="15491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35500" cy="1549146"/>
            </a:xfrm>
            <a:custGeom>
              <a:avLst/>
              <a:gdLst/>
              <a:ahLst/>
              <a:cxnLst/>
              <a:rect r="r" b="b" t="t" l="l"/>
              <a:pathLst>
                <a:path h="1549146" w="4635500">
                  <a:moveTo>
                    <a:pt x="0" y="172847"/>
                  </a:moveTo>
                  <a:cubicBezTo>
                    <a:pt x="0" y="77343"/>
                    <a:pt x="77343" y="0"/>
                    <a:pt x="172847" y="0"/>
                  </a:cubicBezTo>
                  <a:lnTo>
                    <a:pt x="4462653" y="0"/>
                  </a:lnTo>
                  <a:cubicBezTo>
                    <a:pt x="4558157" y="0"/>
                    <a:pt x="4635500" y="77343"/>
                    <a:pt x="4635500" y="172847"/>
                  </a:cubicBezTo>
                  <a:lnTo>
                    <a:pt x="4635500" y="1376299"/>
                  </a:lnTo>
                  <a:cubicBezTo>
                    <a:pt x="4635500" y="1471803"/>
                    <a:pt x="4558157" y="1549146"/>
                    <a:pt x="4462653" y="1549146"/>
                  </a:cubicBezTo>
                  <a:lnTo>
                    <a:pt x="172847" y="1549146"/>
                  </a:lnTo>
                  <a:cubicBezTo>
                    <a:pt x="77343" y="1549146"/>
                    <a:pt x="0" y="1471803"/>
                    <a:pt x="0" y="137629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CE2E7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495425" y="2840241"/>
            <a:ext cx="3011900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E7C86"/>
                </a:solidFill>
                <a:latin typeface="Arimo Bold"/>
                <a:ea typeface="Arimo Bold"/>
                <a:cs typeface="Arimo Bold"/>
                <a:sym typeface="Arimo Bold"/>
              </a:rPr>
              <a:t>Schritt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5425" y="3264989"/>
            <a:ext cx="3011900" cy="35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Vorbereitung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829175" y="3116313"/>
            <a:ext cx="381000" cy="247650"/>
            <a:chOff x="0" y="0"/>
            <a:chExt cx="508000" cy="330200"/>
          </a:xfrm>
        </p:grpSpPr>
        <p:sp>
          <p:nvSpPr>
            <p:cNvPr name="Freeform 9" id="9" descr="arrow-right"/>
            <p:cNvSpPr/>
            <p:nvPr/>
          </p:nvSpPr>
          <p:spPr>
            <a:xfrm flipH="false" flipV="false" rot="0">
              <a:off x="0" y="0"/>
              <a:ext cx="508000" cy="330200"/>
            </a:xfrm>
            <a:custGeom>
              <a:avLst/>
              <a:gdLst/>
              <a:ahLst/>
              <a:cxnLst/>
              <a:rect r="r" b="b" t="t" l="l"/>
              <a:pathLst>
                <a:path h="3302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343525" y="2659266"/>
            <a:ext cx="3476625" cy="1161898"/>
            <a:chOff x="0" y="0"/>
            <a:chExt cx="4635500" cy="15491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35500" cy="1549146"/>
            </a:xfrm>
            <a:custGeom>
              <a:avLst/>
              <a:gdLst/>
              <a:ahLst/>
              <a:cxnLst/>
              <a:rect r="r" b="b" t="t" l="l"/>
              <a:pathLst>
                <a:path h="1549146" w="4635500">
                  <a:moveTo>
                    <a:pt x="0" y="172847"/>
                  </a:moveTo>
                  <a:cubicBezTo>
                    <a:pt x="0" y="77343"/>
                    <a:pt x="77343" y="0"/>
                    <a:pt x="172847" y="0"/>
                  </a:cubicBezTo>
                  <a:lnTo>
                    <a:pt x="4462653" y="0"/>
                  </a:lnTo>
                  <a:cubicBezTo>
                    <a:pt x="4558157" y="0"/>
                    <a:pt x="4635500" y="77343"/>
                    <a:pt x="4635500" y="172847"/>
                  </a:cubicBezTo>
                  <a:lnTo>
                    <a:pt x="4635500" y="1376299"/>
                  </a:lnTo>
                  <a:cubicBezTo>
                    <a:pt x="4635500" y="1471803"/>
                    <a:pt x="4558157" y="1549146"/>
                    <a:pt x="4462653" y="1549146"/>
                  </a:cubicBezTo>
                  <a:lnTo>
                    <a:pt x="172847" y="1549146"/>
                  </a:lnTo>
                  <a:cubicBezTo>
                    <a:pt x="77343" y="1549146"/>
                    <a:pt x="0" y="1471803"/>
                    <a:pt x="0" y="137629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CE2E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5619750" y="2840241"/>
            <a:ext cx="3011900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E7C86"/>
                </a:solidFill>
                <a:latin typeface="Arimo Bold"/>
                <a:ea typeface="Arimo Bold"/>
                <a:cs typeface="Arimo Bold"/>
                <a:sym typeface="Arimo Bold"/>
              </a:rPr>
              <a:t>Schritt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19750" y="3264989"/>
            <a:ext cx="3011900" cy="35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Parallelbetrieb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953500" y="3116313"/>
            <a:ext cx="381000" cy="247650"/>
            <a:chOff x="0" y="0"/>
            <a:chExt cx="508000" cy="330200"/>
          </a:xfrm>
        </p:grpSpPr>
        <p:sp>
          <p:nvSpPr>
            <p:cNvPr name="Freeform 15" id="15" descr="arrow-right"/>
            <p:cNvSpPr/>
            <p:nvPr/>
          </p:nvSpPr>
          <p:spPr>
            <a:xfrm flipH="false" flipV="false" rot="0">
              <a:off x="0" y="0"/>
              <a:ext cx="508000" cy="330200"/>
            </a:xfrm>
            <a:custGeom>
              <a:avLst/>
              <a:gdLst/>
              <a:ahLst/>
              <a:cxnLst/>
              <a:rect r="r" b="b" t="t" l="l"/>
              <a:pathLst>
                <a:path h="3302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467850" y="2659266"/>
            <a:ext cx="3476625" cy="1161898"/>
            <a:chOff x="0" y="0"/>
            <a:chExt cx="4635500" cy="15491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35500" cy="1549146"/>
            </a:xfrm>
            <a:custGeom>
              <a:avLst/>
              <a:gdLst/>
              <a:ahLst/>
              <a:cxnLst/>
              <a:rect r="r" b="b" t="t" l="l"/>
              <a:pathLst>
                <a:path h="1549146" w="4635500">
                  <a:moveTo>
                    <a:pt x="0" y="172847"/>
                  </a:moveTo>
                  <a:cubicBezTo>
                    <a:pt x="0" y="77343"/>
                    <a:pt x="77343" y="0"/>
                    <a:pt x="172847" y="0"/>
                  </a:cubicBezTo>
                  <a:lnTo>
                    <a:pt x="4462653" y="0"/>
                  </a:lnTo>
                  <a:cubicBezTo>
                    <a:pt x="4558157" y="0"/>
                    <a:pt x="4635500" y="77343"/>
                    <a:pt x="4635500" y="172847"/>
                  </a:cubicBezTo>
                  <a:lnTo>
                    <a:pt x="4635500" y="1376299"/>
                  </a:lnTo>
                  <a:cubicBezTo>
                    <a:pt x="4635500" y="1471803"/>
                    <a:pt x="4558157" y="1549146"/>
                    <a:pt x="4462653" y="1549146"/>
                  </a:cubicBezTo>
                  <a:lnTo>
                    <a:pt x="172847" y="1549146"/>
                  </a:lnTo>
                  <a:cubicBezTo>
                    <a:pt x="77343" y="1549146"/>
                    <a:pt x="0" y="1471803"/>
                    <a:pt x="0" y="137629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CE2E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744075" y="2840241"/>
            <a:ext cx="3011900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E7C86"/>
                </a:solidFill>
                <a:latin typeface="Arimo Bold"/>
                <a:ea typeface="Arimo Bold"/>
                <a:cs typeface="Arimo Bold"/>
                <a:sym typeface="Arimo Bold"/>
              </a:rPr>
              <a:t>Schritt 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44075" y="3264989"/>
            <a:ext cx="3011900" cy="35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Cutover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077825" y="3116313"/>
            <a:ext cx="381000" cy="247650"/>
            <a:chOff x="0" y="0"/>
            <a:chExt cx="508000" cy="330200"/>
          </a:xfrm>
        </p:grpSpPr>
        <p:sp>
          <p:nvSpPr>
            <p:cNvPr name="Freeform 21" id="21" descr="arrow-right"/>
            <p:cNvSpPr/>
            <p:nvPr/>
          </p:nvSpPr>
          <p:spPr>
            <a:xfrm flipH="false" flipV="false" rot="0">
              <a:off x="0" y="0"/>
              <a:ext cx="508000" cy="330200"/>
            </a:xfrm>
            <a:custGeom>
              <a:avLst/>
              <a:gdLst/>
              <a:ahLst/>
              <a:cxnLst/>
              <a:rect r="r" b="b" t="t" l="l"/>
              <a:pathLst>
                <a:path h="3302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592175" y="2659266"/>
            <a:ext cx="3476625" cy="1161898"/>
            <a:chOff x="0" y="0"/>
            <a:chExt cx="4635500" cy="15491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35500" cy="1549146"/>
            </a:xfrm>
            <a:custGeom>
              <a:avLst/>
              <a:gdLst/>
              <a:ahLst/>
              <a:cxnLst/>
              <a:rect r="r" b="b" t="t" l="l"/>
              <a:pathLst>
                <a:path h="1549146" w="4635500">
                  <a:moveTo>
                    <a:pt x="0" y="172847"/>
                  </a:moveTo>
                  <a:cubicBezTo>
                    <a:pt x="0" y="77343"/>
                    <a:pt x="77343" y="0"/>
                    <a:pt x="172847" y="0"/>
                  </a:cubicBezTo>
                  <a:lnTo>
                    <a:pt x="4462653" y="0"/>
                  </a:lnTo>
                  <a:cubicBezTo>
                    <a:pt x="4558157" y="0"/>
                    <a:pt x="4635500" y="77343"/>
                    <a:pt x="4635500" y="172847"/>
                  </a:cubicBezTo>
                  <a:lnTo>
                    <a:pt x="4635500" y="1376299"/>
                  </a:lnTo>
                  <a:cubicBezTo>
                    <a:pt x="4635500" y="1471803"/>
                    <a:pt x="4558157" y="1549146"/>
                    <a:pt x="4462653" y="1549146"/>
                  </a:cubicBezTo>
                  <a:lnTo>
                    <a:pt x="172847" y="1549146"/>
                  </a:lnTo>
                  <a:cubicBezTo>
                    <a:pt x="77343" y="1549146"/>
                    <a:pt x="0" y="1471803"/>
                    <a:pt x="0" y="137629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CE2E7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3868400" y="2840241"/>
            <a:ext cx="3011900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E7C86"/>
                </a:solidFill>
                <a:latin typeface="Arimo Bold"/>
                <a:ea typeface="Arimo Bold"/>
                <a:cs typeface="Arimo Bold"/>
                <a:sym typeface="Arimo Bold"/>
              </a:rPr>
              <a:t>Schritt 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68400" y="3264989"/>
            <a:ext cx="3011900" cy="35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Nachbetreuung</a:t>
            </a:r>
          </a:p>
        </p:txBody>
      </p:sp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1219200" y="5516613"/>
          <a:ext cx="15811500" cy="3238500"/>
        </p:xfrm>
        <a:graphic>
          <a:graphicData uri="http://schemas.openxmlformats.org/drawingml/2006/table">
            <a:tbl>
              <a:tblPr/>
              <a:tblGrid>
                <a:gridCol w="4119292"/>
                <a:gridCol w="5375155"/>
                <a:gridCol w="6317053"/>
              </a:tblGrid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Testfall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Ziel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Erfolgskriterium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3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Lasttest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Skalierung bei Lastspitzen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10.000 Nachrichten/s stabil verarbeitet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Restore-Simulation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Wiederherstellung im Notfall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RTO ≤ 2 h nachweislich eingehalten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Integrationstest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Schnittstellen &amp; Datenfluss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Daten vollständig und korrekt übertragen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Failover-Test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Hochverfügbarkeit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Automatischer Umschwenk in unter 60 s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</a:tbl>
          </a:graphicData>
        </a:graphic>
      </p:graphicFrame>
      <p:sp>
        <p:nvSpPr>
          <p:cNvPr name="TextBox 27" id="27"/>
          <p:cNvSpPr txBox="true"/>
          <p:nvPr/>
        </p:nvSpPr>
        <p:spPr>
          <a:xfrm rot="0">
            <a:off x="1219200" y="9319317"/>
            <a:ext cx="3207039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97A4"/>
                </a:solidFill>
                <a:latin typeface="IBM Plex Sans"/>
                <a:ea typeface="IBM Plex Sans"/>
                <a:cs typeface="IBM Plex Sans"/>
                <a:sym typeface="IBM Plex Sans"/>
              </a:rPr>
              <a:t>Cloud-Migration IoT-Telematik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324659" y="9319317"/>
            <a:ext cx="820341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97A4"/>
                </a:solidFill>
                <a:latin typeface="IBM Plex Sans"/>
                <a:ea typeface="IBM Plex Sans"/>
                <a:cs typeface="IBM Plex Sans"/>
                <a:sym typeface="IBM Plex Sans"/>
              </a:rPr>
              <a:t>10 / 12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9200" y="4773663"/>
            <a:ext cx="30119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72A3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Absicherung durch Tests: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710674" y="3621138"/>
            <a:ext cx="3018551" cy="1841368"/>
            <a:chOff x="0" y="0"/>
            <a:chExt cx="5785283" cy="352912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85283" cy="3427522"/>
            </a:xfrm>
            <a:custGeom>
              <a:avLst/>
              <a:gdLst/>
              <a:ahLst/>
              <a:cxnLst/>
              <a:rect r="r" b="b" t="t" l="l"/>
              <a:pathLst>
                <a:path h="3427522" w="5785283">
                  <a:moveTo>
                    <a:pt x="0" y="0"/>
                  </a:moveTo>
                  <a:lnTo>
                    <a:pt x="5785283" y="0"/>
                  </a:lnTo>
                  <a:lnTo>
                    <a:pt x="5785283" y="3427522"/>
                  </a:lnTo>
                  <a:lnTo>
                    <a:pt x="0" y="34275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85283" cy="3529122"/>
            </a:xfrm>
            <a:custGeom>
              <a:avLst/>
              <a:gdLst/>
              <a:ahLst/>
              <a:cxnLst/>
              <a:rect r="r" b="b" t="t" l="l"/>
              <a:pathLst>
                <a:path h="3529122" w="5785283">
                  <a:moveTo>
                    <a:pt x="0" y="3427522"/>
                  </a:moveTo>
                  <a:lnTo>
                    <a:pt x="5785283" y="3427522"/>
                  </a:lnTo>
                  <a:lnTo>
                    <a:pt x="5658283" y="3529122"/>
                  </a:lnTo>
                  <a:cubicBezTo>
                    <a:pt x="5658283" y="3529122"/>
                    <a:pt x="4667683" y="3452922"/>
                    <a:pt x="4566083" y="3452922"/>
                  </a:cubicBezTo>
                  <a:lnTo>
                    <a:pt x="1219200" y="3452922"/>
                  </a:lnTo>
                  <a:cubicBezTo>
                    <a:pt x="1117600" y="3452922"/>
                    <a:pt x="127000" y="3529122"/>
                    <a:pt x="127000" y="3529122"/>
                  </a:cubicBezTo>
                  <a:lnTo>
                    <a:pt x="0" y="3427522"/>
                  </a:lnTo>
                  <a:lnTo>
                    <a:pt x="0" y="0"/>
                  </a:lnTo>
                  <a:lnTo>
                    <a:pt x="5785283" y="0"/>
                  </a:lnTo>
                  <a:lnTo>
                    <a:pt x="5785283" y="3427522"/>
                  </a:lnTo>
                  <a:lnTo>
                    <a:pt x="12700" y="3427522"/>
                  </a:lnTo>
                  <a:lnTo>
                    <a:pt x="12700" y="3414822"/>
                  </a:lnTo>
                  <a:lnTo>
                    <a:pt x="5772583" y="3414822"/>
                  </a:lnTo>
                  <a:lnTo>
                    <a:pt x="5772583" y="12700"/>
                  </a:lnTo>
                  <a:lnTo>
                    <a:pt x="12700" y="12700"/>
                  </a:lnTo>
                  <a:lnTo>
                    <a:pt x="12700" y="34275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5785283" cy="2998897"/>
            </a:xfrm>
            <a:prstGeom prst="rect">
              <a:avLst/>
            </a:prstGeom>
          </p:spPr>
          <p:txBody>
            <a:bodyPr anchor="t" rtlCol="false" tIns="141363" lIns="141363" bIns="141363" rIns="141363"/>
            <a:lstStyle/>
            <a:p>
              <a:pPr algn="l">
                <a:lnSpc>
                  <a:spcPts val="1753"/>
                </a:lnSpc>
              </a:pPr>
              <a:r>
                <a:rPr lang="en-US" sz="125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Was ist Parallelbetrieb? Gibt es alternative Rollout-Strategien?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839325" y="3621138"/>
            <a:ext cx="3018551" cy="1841368"/>
            <a:chOff x="0" y="0"/>
            <a:chExt cx="5785283" cy="352912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785283" cy="3427522"/>
            </a:xfrm>
            <a:custGeom>
              <a:avLst/>
              <a:gdLst/>
              <a:ahLst/>
              <a:cxnLst/>
              <a:rect r="r" b="b" t="t" l="l"/>
              <a:pathLst>
                <a:path h="3427522" w="5785283">
                  <a:moveTo>
                    <a:pt x="0" y="0"/>
                  </a:moveTo>
                  <a:lnTo>
                    <a:pt x="5785283" y="0"/>
                  </a:lnTo>
                  <a:lnTo>
                    <a:pt x="5785283" y="3427522"/>
                  </a:lnTo>
                  <a:lnTo>
                    <a:pt x="0" y="34275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85283" cy="3529122"/>
            </a:xfrm>
            <a:custGeom>
              <a:avLst/>
              <a:gdLst/>
              <a:ahLst/>
              <a:cxnLst/>
              <a:rect r="r" b="b" t="t" l="l"/>
              <a:pathLst>
                <a:path h="3529122" w="5785283">
                  <a:moveTo>
                    <a:pt x="0" y="3427522"/>
                  </a:moveTo>
                  <a:lnTo>
                    <a:pt x="5785283" y="3427522"/>
                  </a:lnTo>
                  <a:lnTo>
                    <a:pt x="5658283" y="3529122"/>
                  </a:lnTo>
                  <a:cubicBezTo>
                    <a:pt x="5658283" y="3529122"/>
                    <a:pt x="4667683" y="3452922"/>
                    <a:pt x="4566083" y="3452922"/>
                  </a:cubicBezTo>
                  <a:lnTo>
                    <a:pt x="1219200" y="3452922"/>
                  </a:lnTo>
                  <a:cubicBezTo>
                    <a:pt x="1117600" y="3452922"/>
                    <a:pt x="127000" y="3529122"/>
                    <a:pt x="127000" y="3529122"/>
                  </a:cubicBezTo>
                  <a:lnTo>
                    <a:pt x="0" y="3427522"/>
                  </a:lnTo>
                  <a:lnTo>
                    <a:pt x="0" y="0"/>
                  </a:lnTo>
                  <a:lnTo>
                    <a:pt x="5785283" y="0"/>
                  </a:lnTo>
                  <a:lnTo>
                    <a:pt x="5785283" y="3427522"/>
                  </a:lnTo>
                  <a:lnTo>
                    <a:pt x="12700" y="3427522"/>
                  </a:lnTo>
                  <a:lnTo>
                    <a:pt x="12700" y="3414822"/>
                  </a:lnTo>
                  <a:lnTo>
                    <a:pt x="5772583" y="3414822"/>
                  </a:lnTo>
                  <a:lnTo>
                    <a:pt x="5772583" y="12700"/>
                  </a:lnTo>
                  <a:lnTo>
                    <a:pt x="12700" y="12700"/>
                  </a:lnTo>
                  <a:lnTo>
                    <a:pt x="12700" y="34275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5785283" cy="2998897"/>
            </a:xfrm>
            <a:prstGeom prst="rect">
              <a:avLst/>
            </a:prstGeom>
          </p:spPr>
          <p:txBody>
            <a:bodyPr anchor="t" rtlCol="false" tIns="141363" lIns="141363" bIns="141363" rIns="141363"/>
            <a:lstStyle/>
            <a:p>
              <a:pPr algn="l">
                <a:lnSpc>
                  <a:spcPts val="1753"/>
                </a:lnSpc>
              </a:pPr>
              <a:r>
                <a:rPr lang="en-US" sz="125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Was passiert bei nem Cutover? Was muss vorher gemacht werden?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396256" y="388354"/>
            <a:ext cx="3018551" cy="1841368"/>
            <a:chOff x="0" y="0"/>
            <a:chExt cx="5785283" cy="352912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85283" cy="3427522"/>
            </a:xfrm>
            <a:custGeom>
              <a:avLst/>
              <a:gdLst/>
              <a:ahLst/>
              <a:cxnLst/>
              <a:rect r="r" b="b" t="t" l="l"/>
              <a:pathLst>
                <a:path h="3427522" w="5785283">
                  <a:moveTo>
                    <a:pt x="0" y="0"/>
                  </a:moveTo>
                  <a:lnTo>
                    <a:pt x="5785283" y="0"/>
                  </a:lnTo>
                  <a:lnTo>
                    <a:pt x="5785283" y="3427522"/>
                  </a:lnTo>
                  <a:lnTo>
                    <a:pt x="0" y="34275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785283" cy="3529122"/>
            </a:xfrm>
            <a:custGeom>
              <a:avLst/>
              <a:gdLst/>
              <a:ahLst/>
              <a:cxnLst/>
              <a:rect r="r" b="b" t="t" l="l"/>
              <a:pathLst>
                <a:path h="3529122" w="5785283">
                  <a:moveTo>
                    <a:pt x="0" y="3427522"/>
                  </a:moveTo>
                  <a:lnTo>
                    <a:pt x="5785283" y="3427522"/>
                  </a:lnTo>
                  <a:lnTo>
                    <a:pt x="5658283" y="3529122"/>
                  </a:lnTo>
                  <a:cubicBezTo>
                    <a:pt x="5658283" y="3529122"/>
                    <a:pt x="4667683" y="3452922"/>
                    <a:pt x="4566083" y="3452922"/>
                  </a:cubicBezTo>
                  <a:lnTo>
                    <a:pt x="1219200" y="3452922"/>
                  </a:lnTo>
                  <a:cubicBezTo>
                    <a:pt x="1117600" y="3452922"/>
                    <a:pt x="127000" y="3529122"/>
                    <a:pt x="127000" y="3529122"/>
                  </a:cubicBezTo>
                  <a:lnTo>
                    <a:pt x="0" y="3427522"/>
                  </a:lnTo>
                  <a:lnTo>
                    <a:pt x="0" y="0"/>
                  </a:lnTo>
                  <a:lnTo>
                    <a:pt x="5785283" y="0"/>
                  </a:lnTo>
                  <a:lnTo>
                    <a:pt x="5785283" y="3427522"/>
                  </a:lnTo>
                  <a:lnTo>
                    <a:pt x="12700" y="3427522"/>
                  </a:lnTo>
                  <a:lnTo>
                    <a:pt x="12700" y="3414822"/>
                  </a:lnTo>
                  <a:lnTo>
                    <a:pt x="5772583" y="3414822"/>
                  </a:lnTo>
                  <a:lnTo>
                    <a:pt x="5772583" y="12700"/>
                  </a:lnTo>
                  <a:lnTo>
                    <a:pt x="12700" y="12700"/>
                  </a:lnTo>
                  <a:lnTo>
                    <a:pt x="12700" y="34275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5785283" cy="2998897"/>
            </a:xfrm>
            <a:prstGeom prst="rect">
              <a:avLst/>
            </a:prstGeom>
          </p:spPr>
          <p:txBody>
            <a:bodyPr anchor="t" rtlCol="false" tIns="141363" lIns="141363" bIns="141363" rIns="141363"/>
            <a:lstStyle/>
            <a:p>
              <a:pPr algn="l">
                <a:lnSpc>
                  <a:spcPts val="1753"/>
                </a:lnSpc>
              </a:pPr>
              <a:r>
                <a:rPr lang="en-US" sz="125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Was ist der Plan fürs Rollback wenn es nicht funktioniert?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573624" y="8774163"/>
            <a:ext cx="3018551" cy="1841368"/>
            <a:chOff x="0" y="0"/>
            <a:chExt cx="5785283" cy="352912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785283" cy="3427522"/>
            </a:xfrm>
            <a:custGeom>
              <a:avLst/>
              <a:gdLst/>
              <a:ahLst/>
              <a:cxnLst/>
              <a:rect r="r" b="b" t="t" l="l"/>
              <a:pathLst>
                <a:path h="3427522" w="5785283">
                  <a:moveTo>
                    <a:pt x="0" y="0"/>
                  </a:moveTo>
                  <a:lnTo>
                    <a:pt x="5785283" y="0"/>
                  </a:lnTo>
                  <a:lnTo>
                    <a:pt x="5785283" y="3427522"/>
                  </a:lnTo>
                  <a:lnTo>
                    <a:pt x="0" y="34275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785283" cy="3529122"/>
            </a:xfrm>
            <a:custGeom>
              <a:avLst/>
              <a:gdLst/>
              <a:ahLst/>
              <a:cxnLst/>
              <a:rect r="r" b="b" t="t" l="l"/>
              <a:pathLst>
                <a:path h="3529122" w="5785283">
                  <a:moveTo>
                    <a:pt x="0" y="3427522"/>
                  </a:moveTo>
                  <a:lnTo>
                    <a:pt x="5785283" y="3427522"/>
                  </a:lnTo>
                  <a:lnTo>
                    <a:pt x="5658283" y="3529122"/>
                  </a:lnTo>
                  <a:cubicBezTo>
                    <a:pt x="5658283" y="3529122"/>
                    <a:pt x="4667683" y="3452922"/>
                    <a:pt x="4566083" y="3452922"/>
                  </a:cubicBezTo>
                  <a:lnTo>
                    <a:pt x="1219200" y="3452922"/>
                  </a:lnTo>
                  <a:cubicBezTo>
                    <a:pt x="1117600" y="3452922"/>
                    <a:pt x="127000" y="3529122"/>
                    <a:pt x="127000" y="3529122"/>
                  </a:cubicBezTo>
                  <a:lnTo>
                    <a:pt x="0" y="3427522"/>
                  </a:lnTo>
                  <a:lnTo>
                    <a:pt x="0" y="0"/>
                  </a:lnTo>
                  <a:lnTo>
                    <a:pt x="5785283" y="0"/>
                  </a:lnTo>
                  <a:lnTo>
                    <a:pt x="5785283" y="3427522"/>
                  </a:lnTo>
                  <a:lnTo>
                    <a:pt x="12700" y="3427522"/>
                  </a:lnTo>
                  <a:lnTo>
                    <a:pt x="12700" y="3414822"/>
                  </a:lnTo>
                  <a:lnTo>
                    <a:pt x="5772583" y="3414822"/>
                  </a:lnTo>
                  <a:lnTo>
                    <a:pt x="5772583" y="12700"/>
                  </a:lnTo>
                  <a:lnTo>
                    <a:pt x="12700" y="12700"/>
                  </a:lnTo>
                  <a:lnTo>
                    <a:pt x="12700" y="34275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5785283" cy="2998897"/>
            </a:xfrm>
            <a:prstGeom prst="rect">
              <a:avLst/>
            </a:prstGeom>
          </p:spPr>
          <p:txBody>
            <a:bodyPr anchor="t" rtlCol="false" tIns="141363" lIns="141363" bIns="141363" rIns="141363"/>
            <a:lstStyle/>
            <a:p>
              <a:pPr algn="l">
                <a:lnSpc>
                  <a:spcPts val="1753"/>
                </a:lnSpc>
              </a:pPr>
              <a:r>
                <a:rPr lang="en-US" sz="125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Was schwenkt denn hier um ?? 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647998" y="8045768"/>
            <a:ext cx="5323522" cy="767715"/>
            <a:chOff x="0" y="0"/>
            <a:chExt cx="7098030" cy="10236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47566" y="49671"/>
              <a:ext cx="7002053" cy="929522"/>
            </a:xfrm>
            <a:custGeom>
              <a:avLst/>
              <a:gdLst/>
              <a:ahLst/>
              <a:cxnLst/>
              <a:rect r="r" b="b" t="t" l="l"/>
              <a:pathLst>
                <a:path h="929522" w="7002053">
                  <a:moveTo>
                    <a:pt x="2597844" y="128129"/>
                  </a:moveTo>
                  <a:cubicBezTo>
                    <a:pt x="2187634" y="123049"/>
                    <a:pt x="2051744" y="84949"/>
                    <a:pt x="1851084" y="73519"/>
                  </a:cubicBezTo>
                  <a:cubicBezTo>
                    <a:pt x="1508184" y="51929"/>
                    <a:pt x="716974" y="30339"/>
                    <a:pt x="446464" y="68439"/>
                  </a:cubicBezTo>
                  <a:cubicBezTo>
                    <a:pt x="333434" y="84949"/>
                    <a:pt x="278824" y="116699"/>
                    <a:pt x="210244" y="138289"/>
                  </a:cubicBezTo>
                  <a:cubicBezTo>
                    <a:pt x="158174" y="154799"/>
                    <a:pt x="99754" y="166229"/>
                    <a:pt x="74354" y="184009"/>
                  </a:cubicBezTo>
                  <a:cubicBezTo>
                    <a:pt x="61654" y="192899"/>
                    <a:pt x="52764" y="196709"/>
                    <a:pt x="51494" y="211949"/>
                  </a:cubicBezTo>
                  <a:cubicBezTo>
                    <a:pt x="46414" y="253859"/>
                    <a:pt x="150554" y="373239"/>
                    <a:pt x="170874" y="467219"/>
                  </a:cubicBezTo>
                  <a:cubicBezTo>
                    <a:pt x="193734" y="571359"/>
                    <a:pt x="155634" y="751699"/>
                    <a:pt x="168334" y="813929"/>
                  </a:cubicBezTo>
                  <a:cubicBezTo>
                    <a:pt x="173414" y="839329"/>
                    <a:pt x="170874" y="853299"/>
                    <a:pt x="188654" y="864729"/>
                  </a:cubicBezTo>
                  <a:cubicBezTo>
                    <a:pt x="235644" y="896479"/>
                    <a:pt x="400744" y="877429"/>
                    <a:pt x="544254" y="872349"/>
                  </a:cubicBezTo>
                  <a:cubicBezTo>
                    <a:pt x="766504" y="863459"/>
                    <a:pt x="1125914" y="805039"/>
                    <a:pt x="1393884" y="787259"/>
                  </a:cubicBezTo>
                  <a:cubicBezTo>
                    <a:pt x="1630104" y="772019"/>
                    <a:pt x="1793934" y="772019"/>
                    <a:pt x="2066984" y="769479"/>
                  </a:cubicBezTo>
                  <a:cubicBezTo>
                    <a:pt x="2487354" y="764399"/>
                    <a:pt x="3202364" y="765669"/>
                    <a:pt x="3672264" y="775829"/>
                  </a:cubicBezTo>
                  <a:cubicBezTo>
                    <a:pt x="4040564" y="784719"/>
                    <a:pt x="4260274" y="808849"/>
                    <a:pt x="4656514" y="817739"/>
                  </a:cubicBezTo>
                  <a:cubicBezTo>
                    <a:pt x="5262304" y="830439"/>
                    <a:pt x="6859964" y="746619"/>
                    <a:pt x="6953944" y="820279"/>
                  </a:cubicBezTo>
                  <a:cubicBezTo>
                    <a:pt x="6965374" y="827899"/>
                    <a:pt x="6964104" y="845679"/>
                    <a:pt x="6961564" y="846949"/>
                  </a:cubicBezTo>
                  <a:cubicBezTo>
                    <a:pt x="6959024" y="848219"/>
                    <a:pt x="6946324" y="836789"/>
                    <a:pt x="6936164" y="824089"/>
                  </a:cubicBezTo>
                  <a:cubicBezTo>
                    <a:pt x="6908224" y="788529"/>
                    <a:pt x="6847264" y="666609"/>
                    <a:pt x="6818054" y="594219"/>
                  </a:cubicBezTo>
                  <a:cubicBezTo>
                    <a:pt x="6792654" y="533259"/>
                    <a:pt x="6786304" y="465949"/>
                    <a:pt x="6764714" y="420229"/>
                  </a:cubicBezTo>
                  <a:cubicBezTo>
                    <a:pt x="6749474" y="388479"/>
                    <a:pt x="6730424" y="361809"/>
                    <a:pt x="6712644" y="342759"/>
                  </a:cubicBezTo>
                  <a:cubicBezTo>
                    <a:pt x="6698674" y="327519"/>
                    <a:pt x="6691054" y="319899"/>
                    <a:pt x="6670734" y="307199"/>
                  </a:cubicBezTo>
                  <a:cubicBezTo>
                    <a:pt x="6632634" y="284339"/>
                    <a:pt x="6567864" y="251319"/>
                    <a:pt x="6487854" y="225919"/>
                  </a:cubicBezTo>
                  <a:cubicBezTo>
                    <a:pt x="6350694" y="182739"/>
                    <a:pt x="6100504" y="144639"/>
                    <a:pt x="5907464" y="116699"/>
                  </a:cubicBezTo>
                  <a:cubicBezTo>
                    <a:pt x="5720774" y="90029"/>
                    <a:pt x="5539164" y="70979"/>
                    <a:pt x="5349934" y="59549"/>
                  </a:cubicBezTo>
                  <a:cubicBezTo>
                    <a:pt x="5158164" y="48119"/>
                    <a:pt x="4971474" y="41769"/>
                    <a:pt x="4765734" y="51929"/>
                  </a:cubicBezTo>
                  <a:cubicBezTo>
                    <a:pt x="4537134" y="63359"/>
                    <a:pt x="4278054" y="114159"/>
                    <a:pt x="4040564" y="134479"/>
                  </a:cubicBezTo>
                  <a:cubicBezTo>
                    <a:pt x="3815774" y="154799"/>
                    <a:pt x="3577014" y="170039"/>
                    <a:pt x="3380164" y="177659"/>
                  </a:cubicBezTo>
                  <a:cubicBezTo>
                    <a:pt x="3220144" y="184009"/>
                    <a:pt x="3077904" y="187819"/>
                    <a:pt x="2945824" y="182739"/>
                  </a:cubicBezTo>
                  <a:cubicBezTo>
                    <a:pt x="2834064" y="177659"/>
                    <a:pt x="2672774" y="172579"/>
                    <a:pt x="2635944" y="153529"/>
                  </a:cubicBezTo>
                  <a:cubicBezTo>
                    <a:pt x="2625784" y="148449"/>
                    <a:pt x="2620704" y="143369"/>
                    <a:pt x="2619434" y="135749"/>
                  </a:cubicBezTo>
                  <a:cubicBezTo>
                    <a:pt x="2618164" y="128129"/>
                    <a:pt x="2624514" y="112889"/>
                    <a:pt x="2630864" y="107809"/>
                  </a:cubicBezTo>
                  <a:cubicBezTo>
                    <a:pt x="2637214" y="103999"/>
                    <a:pt x="2648644" y="102729"/>
                    <a:pt x="2654994" y="106539"/>
                  </a:cubicBezTo>
                  <a:cubicBezTo>
                    <a:pt x="2661344" y="110349"/>
                    <a:pt x="2670234" y="125589"/>
                    <a:pt x="2668964" y="134479"/>
                  </a:cubicBezTo>
                  <a:cubicBezTo>
                    <a:pt x="2668964" y="140829"/>
                    <a:pt x="2661344" y="150989"/>
                    <a:pt x="2654994" y="153529"/>
                  </a:cubicBezTo>
                  <a:cubicBezTo>
                    <a:pt x="2647374" y="156069"/>
                    <a:pt x="2629594" y="152259"/>
                    <a:pt x="2624514" y="145909"/>
                  </a:cubicBezTo>
                  <a:cubicBezTo>
                    <a:pt x="2619434" y="140829"/>
                    <a:pt x="2616894" y="129399"/>
                    <a:pt x="2619434" y="123049"/>
                  </a:cubicBezTo>
                  <a:cubicBezTo>
                    <a:pt x="2621974" y="115429"/>
                    <a:pt x="2630864" y="107809"/>
                    <a:pt x="2644834" y="103999"/>
                  </a:cubicBezTo>
                  <a:cubicBezTo>
                    <a:pt x="2688014" y="92569"/>
                    <a:pt x="2836604" y="126859"/>
                    <a:pt x="2945824" y="131939"/>
                  </a:cubicBezTo>
                  <a:cubicBezTo>
                    <a:pt x="3076634" y="137019"/>
                    <a:pt x="3225224" y="131939"/>
                    <a:pt x="3376354" y="126859"/>
                  </a:cubicBezTo>
                  <a:cubicBezTo>
                    <a:pt x="3549074" y="120509"/>
                    <a:pt x="3724334" y="110349"/>
                    <a:pt x="3926264" y="93839"/>
                  </a:cubicBezTo>
                  <a:cubicBezTo>
                    <a:pt x="4176454" y="72249"/>
                    <a:pt x="4613334" y="10019"/>
                    <a:pt x="4765734" y="1129"/>
                  </a:cubicBezTo>
                  <a:cubicBezTo>
                    <a:pt x="4824154" y="-1411"/>
                    <a:pt x="4830504" y="1129"/>
                    <a:pt x="4885114" y="1129"/>
                  </a:cubicBezTo>
                  <a:cubicBezTo>
                    <a:pt x="5013384" y="3669"/>
                    <a:pt x="5334694" y="6209"/>
                    <a:pt x="5521384" y="18909"/>
                  </a:cubicBezTo>
                  <a:cubicBezTo>
                    <a:pt x="5668704" y="30339"/>
                    <a:pt x="5780464" y="46849"/>
                    <a:pt x="5916354" y="67169"/>
                  </a:cubicBezTo>
                  <a:cubicBezTo>
                    <a:pt x="6063674" y="88759"/>
                    <a:pt x="6246554" y="114159"/>
                    <a:pt x="6374824" y="145909"/>
                  </a:cubicBezTo>
                  <a:cubicBezTo>
                    <a:pt x="6471344" y="168769"/>
                    <a:pt x="6553894" y="191629"/>
                    <a:pt x="6622474" y="224649"/>
                  </a:cubicBezTo>
                  <a:cubicBezTo>
                    <a:pt x="6674544" y="250049"/>
                    <a:pt x="6721534" y="280529"/>
                    <a:pt x="6752014" y="311009"/>
                  </a:cubicBezTo>
                  <a:cubicBezTo>
                    <a:pt x="6776144" y="335139"/>
                    <a:pt x="6787574" y="352919"/>
                    <a:pt x="6802814" y="384669"/>
                  </a:cubicBezTo>
                  <a:cubicBezTo>
                    <a:pt x="6825674" y="430389"/>
                    <a:pt x="6835834" y="505319"/>
                    <a:pt x="6862504" y="570089"/>
                  </a:cubicBezTo>
                  <a:cubicBezTo>
                    <a:pt x="6895524" y="647559"/>
                    <a:pt x="6975534" y="765669"/>
                    <a:pt x="6992044" y="813929"/>
                  </a:cubicBezTo>
                  <a:cubicBezTo>
                    <a:pt x="6998394" y="834249"/>
                    <a:pt x="7006014" y="846949"/>
                    <a:pt x="6999664" y="857109"/>
                  </a:cubicBezTo>
                  <a:cubicBezTo>
                    <a:pt x="6990774" y="871079"/>
                    <a:pt x="6967914" y="871079"/>
                    <a:pt x="6926004" y="877429"/>
                  </a:cubicBezTo>
                  <a:cubicBezTo>
                    <a:pt x="6696134" y="907909"/>
                    <a:pt x="5257224" y="882509"/>
                    <a:pt x="4656514" y="868539"/>
                  </a:cubicBezTo>
                  <a:cubicBezTo>
                    <a:pt x="4260274" y="859649"/>
                    <a:pt x="4048184" y="835519"/>
                    <a:pt x="3672264" y="826629"/>
                  </a:cubicBezTo>
                  <a:cubicBezTo>
                    <a:pt x="3168074" y="815199"/>
                    <a:pt x="2308284" y="813929"/>
                    <a:pt x="1898074" y="820279"/>
                  </a:cubicBezTo>
                  <a:cubicBezTo>
                    <a:pt x="1680904" y="824089"/>
                    <a:pt x="1586924" y="825359"/>
                    <a:pt x="1397694" y="838059"/>
                  </a:cubicBezTo>
                  <a:cubicBezTo>
                    <a:pt x="1150044" y="854569"/>
                    <a:pt x="766504" y="914259"/>
                    <a:pt x="542984" y="923149"/>
                  </a:cubicBezTo>
                  <a:cubicBezTo>
                    <a:pt x="399474" y="928229"/>
                    <a:pt x="250884" y="937119"/>
                    <a:pt x="187384" y="916799"/>
                  </a:cubicBezTo>
                  <a:cubicBezTo>
                    <a:pt x="159444" y="907909"/>
                    <a:pt x="145474" y="896479"/>
                    <a:pt x="134044" y="881239"/>
                  </a:cubicBezTo>
                  <a:cubicBezTo>
                    <a:pt x="125154" y="869809"/>
                    <a:pt x="123884" y="862189"/>
                    <a:pt x="120074" y="840599"/>
                  </a:cubicBezTo>
                  <a:cubicBezTo>
                    <a:pt x="108644" y="778369"/>
                    <a:pt x="142934" y="568819"/>
                    <a:pt x="116264" y="462139"/>
                  </a:cubicBezTo>
                  <a:cubicBezTo>
                    <a:pt x="94674" y="373239"/>
                    <a:pt x="13394" y="281799"/>
                    <a:pt x="3234" y="236079"/>
                  </a:cubicBezTo>
                  <a:cubicBezTo>
                    <a:pt x="-1846" y="217029"/>
                    <a:pt x="-576" y="206869"/>
                    <a:pt x="4504" y="192899"/>
                  </a:cubicBezTo>
                  <a:cubicBezTo>
                    <a:pt x="9584" y="177659"/>
                    <a:pt x="18474" y="162419"/>
                    <a:pt x="36254" y="148449"/>
                  </a:cubicBezTo>
                  <a:cubicBezTo>
                    <a:pt x="68004" y="124319"/>
                    <a:pt x="137854" y="109079"/>
                    <a:pt x="198814" y="88759"/>
                  </a:cubicBezTo>
                  <a:cubicBezTo>
                    <a:pt x="272474" y="64629"/>
                    <a:pt x="329624" y="34149"/>
                    <a:pt x="446464" y="17639"/>
                  </a:cubicBezTo>
                  <a:cubicBezTo>
                    <a:pt x="708084" y="-17921"/>
                    <a:pt x="1491674" y="15099"/>
                    <a:pt x="1749484" y="20179"/>
                  </a:cubicBezTo>
                  <a:cubicBezTo>
                    <a:pt x="1857434" y="21449"/>
                    <a:pt x="1895534" y="20179"/>
                    <a:pt x="1979354" y="27799"/>
                  </a:cubicBezTo>
                  <a:cubicBezTo>
                    <a:pt x="2083494" y="37959"/>
                    <a:pt x="2214304" y="72249"/>
                    <a:pt x="2323524" y="79869"/>
                  </a:cubicBezTo>
                  <a:cubicBezTo>
                    <a:pt x="2421314" y="86219"/>
                    <a:pt x="2564824" y="58279"/>
                    <a:pt x="2602924" y="78599"/>
                  </a:cubicBezTo>
                  <a:cubicBezTo>
                    <a:pt x="2616894" y="84949"/>
                    <a:pt x="2623244" y="97649"/>
                    <a:pt x="2623244" y="105269"/>
                  </a:cubicBezTo>
                  <a:cubicBezTo>
                    <a:pt x="2621974" y="114159"/>
                    <a:pt x="2597844" y="128129"/>
                    <a:pt x="2597844" y="128129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5944850" y="7850505"/>
            <a:ext cx="618172" cy="570548"/>
            <a:chOff x="0" y="0"/>
            <a:chExt cx="824230" cy="76073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50022" y="47122"/>
              <a:ext cx="727072" cy="662107"/>
            </a:xfrm>
            <a:custGeom>
              <a:avLst/>
              <a:gdLst/>
              <a:ahLst/>
              <a:cxnLst/>
              <a:rect r="r" b="b" t="t" l="l"/>
              <a:pathLst>
                <a:path h="662107" w="727072">
                  <a:moveTo>
                    <a:pt x="8398" y="618358"/>
                  </a:moveTo>
                  <a:cubicBezTo>
                    <a:pt x="221758" y="446908"/>
                    <a:pt x="263668" y="384678"/>
                    <a:pt x="330978" y="318638"/>
                  </a:cubicBezTo>
                  <a:cubicBezTo>
                    <a:pt x="426228" y="225928"/>
                    <a:pt x="625618" y="22728"/>
                    <a:pt x="685308" y="3678"/>
                  </a:cubicBezTo>
                  <a:cubicBezTo>
                    <a:pt x="703088" y="-2672"/>
                    <a:pt x="717058" y="-132"/>
                    <a:pt x="722138" y="6218"/>
                  </a:cubicBezTo>
                  <a:cubicBezTo>
                    <a:pt x="728488" y="12568"/>
                    <a:pt x="728488" y="31618"/>
                    <a:pt x="723408" y="36698"/>
                  </a:cubicBezTo>
                  <a:cubicBezTo>
                    <a:pt x="717058" y="44318"/>
                    <a:pt x="692928" y="46858"/>
                    <a:pt x="686578" y="41778"/>
                  </a:cubicBezTo>
                  <a:cubicBezTo>
                    <a:pt x="680228" y="36698"/>
                    <a:pt x="677688" y="11298"/>
                    <a:pt x="684038" y="4948"/>
                  </a:cubicBezTo>
                  <a:cubicBezTo>
                    <a:pt x="689118" y="-1402"/>
                    <a:pt x="714518" y="-1402"/>
                    <a:pt x="720868" y="4948"/>
                  </a:cubicBezTo>
                  <a:cubicBezTo>
                    <a:pt x="727218" y="10028"/>
                    <a:pt x="727218" y="25268"/>
                    <a:pt x="719598" y="41778"/>
                  </a:cubicBezTo>
                  <a:cubicBezTo>
                    <a:pt x="692928" y="97658"/>
                    <a:pt x="463058" y="260218"/>
                    <a:pt x="369078" y="352928"/>
                  </a:cubicBezTo>
                  <a:cubicBezTo>
                    <a:pt x="299228" y="420238"/>
                    <a:pt x="256048" y="483738"/>
                    <a:pt x="197628" y="537078"/>
                  </a:cubicBezTo>
                  <a:cubicBezTo>
                    <a:pt x="144288" y="585338"/>
                    <a:pt x="66818" y="656458"/>
                    <a:pt x="32528" y="661538"/>
                  </a:cubicBezTo>
                  <a:cubicBezTo>
                    <a:pt x="18558" y="664078"/>
                    <a:pt x="4588" y="657728"/>
                    <a:pt x="778" y="650108"/>
                  </a:cubicBezTo>
                  <a:cubicBezTo>
                    <a:pt x="-3032" y="643758"/>
                    <a:pt x="8398" y="618358"/>
                    <a:pt x="8398" y="618358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6164877" y="7691438"/>
            <a:ext cx="549593" cy="503872"/>
            <a:chOff x="0" y="0"/>
            <a:chExt cx="732790" cy="67183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50752" y="48788"/>
              <a:ext cx="637475" cy="572242"/>
            </a:xfrm>
            <a:custGeom>
              <a:avLst/>
              <a:gdLst/>
              <a:ahLst/>
              <a:cxnLst/>
              <a:rect r="r" b="b" t="t" l="l"/>
              <a:pathLst>
                <a:path h="572242" w="637475">
                  <a:moveTo>
                    <a:pt x="22908" y="89642"/>
                  </a:moveTo>
                  <a:cubicBezTo>
                    <a:pt x="378508" y="36302"/>
                    <a:pt x="461058" y="7092"/>
                    <a:pt x="500428" y="2012"/>
                  </a:cubicBezTo>
                  <a:cubicBezTo>
                    <a:pt x="518208" y="742"/>
                    <a:pt x="529638" y="-1798"/>
                    <a:pt x="539798" y="2012"/>
                  </a:cubicBezTo>
                  <a:cubicBezTo>
                    <a:pt x="548688" y="5822"/>
                    <a:pt x="553768" y="8362"/>
                    <a:pt x="561388" y="19792"/>
                  </a:cubicBezTo>
                  <a:cubicBezTo>
                    <a:pt x="579168" y="47732"/>
                    <a:pt x="603298" y="150602"/>
                    <a:pt x="613458" y="209022"/>
                  </a:cubicBezTo>
                  <a:cubicBezTo>
                    <a:pt x="622348" y="258552"/>
                    <a:pt x="623618" y="297922"/>
                    <a:pt x="626158" y="348722"/>
                  </a:cubicBezTo>
                  <a:cubicBezTo>
                    <a:pt x="628698" y="410952"/>
                    <a:pt x="647748" y="525252"/>
                    <a:pt x="629968" y="554462"/>
                  </a:cubicBezTo>
                  <a:cubicBezTo>
                    <a:pt x="622348" y="567162"/>
                    <a:pt x="604568" y="572242"/>
                    <a:pt x="595678" y="569702"/>
                  </a:cubicBezTo>
                  <a:cubicBezTo>
                    <a:pt x="588058" y="567162"/>
                    <a:pt x="580438" y="551922"/>
                    <a:pt x="580438" y="544302"/>
                  </a:cubicBezTo>
                  <a:cubicBezTo>
                    <a:pt x="580438" y="536682"/>
                    <a:pt x="586788" y="526522"/>
                    <a:pt x="593138" y="523982"/>
                  </a:cubicBezTo>
                  <a:cubicBezTo>
                    <a:pt x="600758" y="521442"/>
                    <a:pt x="618538" y="523982"/>
                    <a:pt x="623618" y="529062"/>
                  </a:cubicBezTo>
                  <a:cubicBezTo>
                    <a:pt x="628698" y="534142"/>
                    <a:pt x="632508" y="545572"/>
                    <a:pt x="629968" y="551922"/>
                  </a:cubicBezTo>
                  <a:cubicBezTo>
                    <a:pt x="627428" y="559542"/>
                    <a:pt x="614728" y="570972"/>
                    <a:pt x="607108" y="572242"/>
                  </a:cubicBezTo>
                  <a:cubicBezTo>
                    <a:pt x="598218" y="572242"/>
                    <a:pt x="588058" y="567162"/>
                    <a:pt x="581708" y="554462"/>
                  </a:cubicBezTo>
                  <a:cubicBezTo>
                    <a:pt x="558848" y="513822"/>
                    <a:pt x="580438" y="311892"/>
                    <a:pt x="563928" y="220452"/>
                  </a:cubicBezTo>
                  <a:cubicBezTo>
                    <a:pt x="552498" y="154412"/>
                    <a:pt x="552498" y="73132"/>
                    <a:pt x="513128" y="51542"/>
                  </a:cubicBezTo>
                  <a:cubicBezTo>
                    <a:pt x="472488" y="27412"/>
                    <a:pt x="388668" y="85832"/>
                    <a:pt x="315008" y="99802"/>
                  </a:cubicBezTo>
                  <a:cubicBezTo>
                    <a:pt x="228648" y="116312"/>
                    <a:pt x="72438" y="154412"/>
                    <a:pt x="27988" y="140442"/>
                  </a:cubicBezTo>
                  <a:cubicBezTo>
                    <a:pt x="11478" y="135362"/>
                    <a:pt x="48" y="123932"/>
                    <a:pt x="48" y="115042"/>
                  </a:cubicBezTo>
                  <a:cubicBezTo>
                    <a:pt x="-1222" y="107422"/>
                    <a:pt x="22908" y="89642"/>
                    <a:pt x="22908" y="89642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16585481" y="7291536"/>
            <a:ext cx="134763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DNS-Failover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5110936" y="548583"/>
            <a:ext cx="2286000" cy="2286000"/>
            <a:chOff x="0" y="0"/>
            <a:chExt cx="3048000" cy="30480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048000" cy="2946400"/>
            </a:xfrm>
            <a:custGeom>
              <a:avLst/>
              <a:gdLst/>
              <a:ahLst/>
              <a:cxnLst/>
              <a:rect r="r" b="b" t="t" l="l"/>
              <a:pathLst>
                <a:path h="29464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946400"/>
                  </a:lnTo>
                  <a:lnTo>
                    <a:pt x="0" y="2946400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2946400"/>
                  </a:moveTo>
                  <a:lnTo>
                    <a:pt x="3048000" y="2946400"/>
                  </a:lnTo>
                  <a:lnTo>
                    <a:pt x="2921000" y="3048000"/>
                  </a:lnTo>
                  <a:cubicBezTo>
                    <a:pt x="2921000" y="3048000"/>
                    <a:pt x="1930400" y="2971800"/>
                    <a:pt x="1828800" y="2971800"/>
                  </a:cubicBezTo>
                  <a:lnTo>
                    <a:pt x="1219200" y="2971800"/>
                  </a:lnTo>
                  <a:cubicBezTo>
                    <a:pt x="1117600" y="2971800"/>
                    <a:pt x="127000" y="3048000"/>
                    <a:pt x="127000" y="3048000"/>
                  </a:cubicBezTo>
                  <a:lnTo>
                    <a:pt x="0" y="2946400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2946400"/>
                  </a:lnTo>
                  <a:lnTo>
                    <a:pt x="12700" y="2946400"/>
                  </a:lnTo>
                  <a:lnTo>
                    <a:pt x="12700" y="2933700"/>
                  </a:lnTo>
                  <a:lnTo>
                    <a:pt x="3035300" y="2933700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2946400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3048000" cy="2517775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Würde man eine Hypercare-Phase machen? Was ist das überhaupt?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62050"/>
            <a:ext cx="163250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0E7C86"/>
                </a:solidFill>
                <a:latin typeface="Arimo Bold"/>
                <a:ea typeface="Arimo Bold"/>
                <a:cs typeface="Arimo Bold"/>
                <a:sym typeface="Arimo Bold"/>
              </a:rPr>
              <a:t>PROJEKTSTEUERUNG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10633"/>
            <a:ext cx="13735050" cy="605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172A3F"/>
                </a:solidFill>
                <a:latin typeface="Arimo Bold"/>
                <a:ea typeface="Arimo Bold"/>
                <a:cs typeface="Arimo Bold"/>
                <a:sym typeface="Arimo Bold"/>
              </a:rPr>
              <a:t>Geplant, kalkuliert, übergeben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219200" y="2659262"/>
          <a:ext cx="9848850" cy="4400550"/>
        </p:xfrm>
        <a:graphic>
          <a:graphicData uri="http://schemas.openxmlformats.org/drawingml/2006/table">
            <a:tbl>
              <a:tblPr/>
              <a:tblGrid>
                <a:gridCol w="5100391"/>
                <a:gridCol w="2374229"/>
                <a:gridCol w="2374229"/>
              </a:tblGrid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Projektphase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Dauer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Aufwand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3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Analyse &amp; Konzeption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 Wochen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 PT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Aufbau Cloud-Infrastruktur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 Wochen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12 PT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Migration &amp; Parallelbetrieb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 Wochen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 PT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Test &amp; Abnahme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 Woche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 PT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Rollout &amp; Schulung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 Woche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2E3A4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 PT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B5A6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Gesamt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B5A6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 Wochen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B5A6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39 PT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8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2"/>
                    </a:solidFill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11449050" y="2659266"/>
            <a:ext cx="5619750" cy="4539405"/>
            <a:chOff x="0" y="0"/>
            <a:chExt cx="7493000" cy="60525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93000" cy="6052566"/>
            </a:xfrm>
            <a:custGeom>
              <a:avLst/>
              <a:gdLst/>
              <a:ahLst/>
              <a:cxnLst/>
              <a:rect r="r" b="b" t="t" l="l"/>
              <a:pathLst>
                <a:path h="6052566" w="7493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7289800" y="0"/>
                  </a:lnTo>
                  <a:cubicBezTo>
                    <a:pt x="7402068" y="0"/>
                    <a:pt x="7493000" y="90932"/>
                    <a:pt x="7493000" y="203200"/>
                  </a:cubicBezTo>
                  <a:lnTo>
                    <a:pt x="7493000" y="5849366"/>
                  </a:lnTo>
                  <a:cubicBezTo>
                    <a:pt x="7493000" y="5961634"/>
                    <a:pt x="7402068" y="6052566"/>
                    <a:pt x="7289800" y="6052566"/>
                  </a:cubicBezTo>
                  <a:lnTo>
                    <a:pt x="203200" y="6052566"/>
                  </a:lnTo>
                  <a:cubicBezTo>
                    <a:pt x="90932" y="6052566"/>
                    <a:pt x="0" y="5961634"/>
                    <a:pt x="0" y="5849366"/>
                  </a:cubicBezTo>
                  <a:close/>
                </a:path>
              </a:pathLst>
            </a:custGeom>
            <a:solidFill>
              <a:srgbClr val="132033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791950" y="3002166"/>
            <a:ext cx="419100" cy="419100"/>
            <a:chOff x="0" y="0"/>
            <a:chExt cx="558800" cy="558800"/>
          </a:xfrm>
        </p:grpSpPr>
        <p:sp>
          <p:nvSpPr>
            <p:cNvPr name="Freeform 8" id="8" descr="GraduationCap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791950" y="3611766"/>
            <a:ext cx="508196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Übergabe &amp; Schulung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91950" y="4097541"/>
            <a:ext cx="5081968" cy="141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AFC0D2"/>
                </a:solidFill>
                <a:latin typeface="IBM Plex Sans"/>
                <a:ea typeface="IBM Plex Sans"/>
                <a:cs typeface="IBM Plex Sans"/>
                <a:sym typeface="IBM Plex Sans"/>
              </a:rPr>
              <a:t>Einweisung des Betriebsteams, vollständige Betriebsdokumentation und Notfallhandbuch – der Dienst geht kontrolliert in den Regelbetrieb über.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9200" y="9319317"/>
            <a:ext cx="3207039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97A4"/>
                </a:solidFill>
                <a:latin typeface="IBM Plex Sans"/>
                <a:ea typeface="IBM Plex Sans"/>
                <a:cs typeface="IBM Plex Sans"/>
                <a:sym typeface="IBM Plex Sans"/>
              </a:rPr>
              <a:t>Cloud-Migration IoT-Telematik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24659" y="9319317"/>
            <a:ext cx="820341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97A4"/>
                </a:solidFill>
                <a:latin typeface="IBM Plex Sans"/>
                <a:ea typeface="IBM Plex Sans"/>
                <a:cs typeface="IBM Plex Sans"/>
                <a:sym typeface="IBM Plex Sans"/>
              </a:rPr>
              <a:t>11 / 12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9200" y="7432124"/>
            <a:ext cx="12141696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ACHTUNG!!!!  MACHT KLAR, OB IHR DAS WIRKLICH UMGESETZT HABT!!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883140" y="1263968"/>
            <a:ext cx="473393" cy="1373505"/>
            <a:chOff x="0" y="0"/>
            <a:chExt cx="631190" cy="18313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800" y="50640"/>
              <a:ext cx="529590" cy="1730021"/>
            </a:xfrm>
            <a:custGeom>
              <a:avLst/>
              <a:gdLst/>
              <a:ahLst/>
              <a:cxnLst/>
              <a:rect r="r" b="b" t="t" l="l"/>
              <a:pathLst>
                <a:path h="1730021" w="529590">
                  <a:moveTo>
                    <a:pt x="529590" y="26830"/>
                  </a:moveTo>
                  <a:cubicBezTo>
                    <a:pt x="469900" y="384970"/>
                    <a:pt x="408940" y="619920"/>
                    <a:pt x="347980" y="819310"/>
                  </a:cubicBezTo>
                  <a:cubicBezTo>
                    <a:pt x="281940" y="1036480"/>
                    <a:pt x="160020" y="1333660"/>
                    <a:pt x="113030" y="1489870"/>
                  </a:cubicBezTo>
                  <a:cubicBezTo>
                    <a:pt x="88900" y="1571150"/>
                    <a:pt x="81280" y="1637190"/>
                    <a:pt x="64770" y="1679100"/>
                  </a:cubicBezTo>
                  <a:cubicBezTo>
                    <a:pt x="54610" y="1701960"/>
                    <a:pt x="46990" y="1722280"/>
                    <a:pt x="35560" y="1727360"/>
                  </a:cubicBezTo>
                  <a:cubicBezTo>
                    <a:pt x="29210" y="1731170"/>
                    <a:pt x="17780" y="1729900"/>
                    <a:pt x="12700" y="1726090"/>
                  </a:cubicBezTo>
                  <a:cubicBezTo>
                    <a:pt x="6350" y="1722280"/>
                    <a:pt x="0" y="1712120"/>
                    <a:pt x="0" y="1705770"/>
                  </a:cubicBezTo>
                  <a:cubicBezTo>
                    <a:pt x="1270" y="1696880"/>
                    <a:pt x="17780" y="1680370"/>
                    <a:pt x="26670" y="1679100"/>
                  </a:cubicBezTo>
                  <a:cubicBezTo>
                    <a:pt x="33020" y="1677830"/>
                    <a:pt x="43180" y="1685450"/>
                    <a:pt x="46990" y="1690530"/>
                  </a:cubicBezTo>
                  <a:cubicBezTo>
                    <a:pt x="50800" y="1696880"/>
                    <a:pt x="52070" y="1708310"/>
                    <a:pt x="49530" y="1714660"/>
                  </a:cubicBezTo>
                  <a:cubicBezTo>
                    <a:pt x="45720" y="1722280"/>
                    <a:pt x="30480" y="1731170"/>
                    <a:pt x="22860" y="1729900"/>
                  </a:cubicBezTo>
                  <a:cubicBezTo>
                    <a:pt x="13970" y="1727360"/>
                    <a:pt x="3810" y="1715930"/>
                    <a:pt x="1270" y="1699420"/>
                  </a:cubicBezTo>
                  <a:cubicBezTo>
                    <a:pt x="-6350" y="1661320"/>
                    <a:pt x="34290" y="1568610"/>
                    <a:pt x="64770" y="1474630"/>
                  </a:cubicBezTo>
                  <a:cubicBezTo>
                    <a:pt x="116840" y="1310800"/>
                    <a:pt x="233680" y="1022510"/>
                    <a:pt x="298450" y="806610"/>
                  </a:cubicBezTo>
                  <a:cubicBezTo>
                    <a:pt x="359410" y="608490"/>
                    <a:pt x="420370" y="376080"/>
                    <a:pt x="449580" y="230030"/>
                  </a:cubicBezTo>
                  <a:cubicBezTo>
                    <a:pt x="467360" y="142400"/>
                    <a:pt x="459740" y="48420"/>
                    <a:pt x="480060" y="17940"/>
                  </a:cubicBezTo>
                  <a:cubicBezTo>
                    <a:pt x="487680" y="5240"/>
                    <a:pt x="500380" y="-1110"/>
                    <a:pt x="509270" y="160"/>
                  </a:cubicBezTo>
                  <a:cubicBezTo>
                    <a:pt x="516890" y="2700"/>
                    <a:pt x="529590" y="26830"/>
                    <a:pt x="529590" y="26830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749790" y="2318385"/>
            <a:ext cx="566738" cy="359092"/>
            <a:chOff x="0" y="0"/>
            <a:chExt cx="755650" cy="4787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800" y="50142"/>
              <a:ext cx="656895" cy="376776"/>
            </a:xfrm>
            <a:custGeom>
              <a:avLst/>
              <a:gdLst/>
              <a:ahLst/>
              <a:cxnLst/>
              <a:rect r="r" b="b" t="t" l="l"/>
              <a:pathLst>
                <a:path h="376776" w="656895">
                  <a:moveTo>
                    <a:pt x="45720" y="10818"/>
                  </a:moveTo>
                  <a:cubicBezTo>
                    <a:pt x="298450" y="341018"/>
                    <a:pt x="553720" y="33678"/>
                    <a:pt x="618490" y="18438"/>
                  </a:cubicBezTo>
                  <a:cubicBezTo>
                    <a:pt x="636270" y="14628"/>
                    <a:pt x="648970" y="18438"/>
                    <a:pt x="654050" y="26058"/>
                  </a:cubicBezTo>
                  <a:cubicBezTo>
                    <a:pt x="659130" y="32408"/>
                    <a:pt x="656590" y="50188"/>
                    <a:pt x="652780" y="56538"/>
                  </a:cubicBezTo>
                  <a:cubicBezTo>
                    <a:pt x="647700" y="61618"/>
                    <a:pt x="637540" y="65428"/>
                    <a:pt x="629920" y="64158"/>
                  </a:cubicBezTo>
                  <a:cubicBezTo>
                    <a:pt x="622300" y="62888"/>
                    <a:pt x="609600" y="51458"/>
                    <a:pt x="608330" y="42568"/>
                  </a:cubicBezTo>
                  <a:cubicBezTo>
                    <a:pt x="607060" y="36218"/>
                    <a:pt x="610870" y="24788"/>
                    <a:pt x="615950" y="20978"/>
                  </a:cubicBezTo>
                  <a:cubicBezTo>
                    <a:pt x="623570" y="15898"/>
                    <a:pt x="647700" y="17168"/>
                    <a:pt x="652780" y="23518"/>
                  </a:cubicBezTo>
                  <a:cubicBezTo>
                    <a:pt x="657860" y="29868"/>
                    <a:pt x="657860" y="45108"/>
                    <a:pt x="647700" y="60348"/>
                  </a:cubicBezTo>
                  <a:cubicBezTo>
                    <a:pt x="615950" y="116228"/>
                    <a:pt x="326390" y="309268"/>
                    <a:pt x="254000" y="352448"/>
                  </a:cubicBezTo>
                  <a:cubicBezTo>
                    <a:pt x="228600" y="366418"/>
                    <a:pt x="214630" y="376578"/>
                    <a:pt x="199390" y="376578"/>
                  </a:cubicBezTo>
                  <a:cubicBezTo>
                    <a:pt x="189230" y="377848"/>
                    <a:pt x="180340" y="372768"/>
                    <a:pt x="173990" y="367688"/>
                  </a:cubicBezTo>
                  <a:cubicBezTo>
                    <a:pt x="165100" y="360068"/>
                    <a:pt x="163830" y="352448"/>
                    <a:pt x="154940" y="335938"/>
                  </a:cubicBezTo>
                  <a:cubicBezTo>
                    <a:pt x="128270" y="287678"/>
                    <a:pt x="2540" y="80668"/>
                    <a:pt x="0" y="32408"/>
                  </a:cubicBezTo>
                  <a:cubicBezTo>
                    <a:pt x="0" y="15898"/>
                    <a:pt x="6350" y="4468"/>
                    <a:pt x="13970" y="658"/>
                  </a:cubicBezTo>
                  <a:cubicBezTo>
                    <a:pt x="21590" y="-3152"/>
                    <a:pt x="45720" y="10818"/>
                    <a:pt x="45720" y="10818"/>
                  </a:cubicBezTo>
                </a:path>
              </a:pathLst>
            </a:custGeom>
            <a:solidFill>
              <a:srgbClr val="FF99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272385" y="32385"/>
            <a:ext cx="2286000" cy="2286000"/>
            <a:chOff x="0" y="0"/>
            <a:chExt cx="3048000" cy="304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48000" cy="2946400"/>
            </a:xfrm>
            <a:custGeom>
              <a:avLst/>
              <a:gdLst/>
              <a:ahLst/>
              <a:cxnLst/>
              <a:rect r="r" b="b" t="t" l="l"/>
              <a:pathLst>
                <a:path h="29464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946400"/>
                  </a:lnTo>
                  <a:lnTo>
                    <a:pt x="0" y="2946400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2946400"/>
                  </a:moveTo>
                  <a:lnTo>
                    <a:pt x="3048000" y="2946400"/>
                  </a:lnTo>
                  <a:lnTo>
                    <a:pt x="2921000" y="3048000"/>
                  </a:lnTo>
                  <a:cubicBezTo>
                    <a:pt x="2921000" y="3048000"/>
                    <a:pt x="1930400" y="2971800"/>
                    <a:pt x="1828800" y="2971800"/>
                  </a:cubicBezTo>
                  <a:lnTo>
                    <a:pt x="1219200" y="2971800"/>
                  </a:lnTo>
                  <a:cubicBezTo>
                    <a:pt x="1117600" y="2971800"/>
                    <a:pt x="127000" y="3048000"/>
                    <a:pt x="127000" y="3048000"/>
                  </a:cubicBezTo>
                  <a:lnTo>
                    <a:pt x="0" y="2946400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2946400"/>
                  </a:lnTo>
                  <a:lnTo>
                    <a:pt x="12700" y="2946400"/>
                  </a:lnTo>
                  <a:lnTo>
                    <a:pt x="12700" y="2933700"/>
                  </a:lnTo>
                  <a:lnTo>
                    <a:pt x="3035300" y="2933700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2946400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3048000" cy="2517775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Wie wurden PTs geschätzt? Waren diese realistisch?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258925" y="5509031"/>
            <a:ext cx="2286000" cy="3589816"/>
            <a:chOff x="0" y="0"/>
            <a:chExt cx="3048000" cy="47864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48000" cy="4684822"/>
            </a:xfrm>
            <a:custGeom>
              <a:avLst/>
              <a:gdLst/>
              <a:ahLst/>
              <a:cxnLst/>
              <a:rect r="r" b="b" t="t" l="l"/>
              <a:pathLst>
                <a:path h="468482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684822"/>
                  </a:lnTo>
                  <a:lnTo>
                    <a:pt x="0" y="46848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48000" cy="4786422"/>
            </a:xfrm>
            <a:custGeom>
              <a:avLst/>
              <a:gdLst/>
              <a:ahLst/>
              <a:cxnLst/>
              <a:rect r="r" b="b" t="t" l="l"/>
              <a:pathLst>
                <a:path h="4786422" w="3048000">
                  <a:moveTo>
                    <a:pt x="0" y="4684822"/>
                  </a:moveTo>
                  <a:lnTo>
                    <a:pt x="3048000" y="4684822"/>
                  </a:lnTo>
                  <a:lnTo>
                    <a:pt x="2921000" y="4786422"/>
                  </a:lnTo>
                  <a:cubicBezTo>
                    <a:pt x="2921000" y="4786422"/>
                    <a:pt x="1930400" y="4710222"/>
                    <a:pt x="1828800" y="4710222"/>
                  </a:cubicBezTo>
                  <a:lnTo>
                    <a:pt x="1219200" y="4710222"/>
                  </a:lnTo>
                  <a:cubicBezTo>
                    <a:pt x="1117600" y="4710222"/>
                    <a:pt x="127000" y="4786422"/>
                    <a:pt x="127000" y="4786422"/>
                  </a:cubicBezTo>
                  <a:lnTo>
                    <a:pt x="0" y="4684822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4684822"/>
                  </a:lnTo>
                  <a:lnTo>
                    <a:pt x="12700" y="4684822"/>
                  </a:lnTo>
                  <a:lnTo>
                    <a:pt x="12700" y="4672122"/>
                  </a:lnTo>
                  <a:lnTo>
                    <a:pt x="3035300" y="4672122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46848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048000" cy="4256197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Was ist eine Betriebsdokumentation/Notfallhandbuch?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Was gehört zu einer kontrollierten Übergabe?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62050"/>
            <a:ext cx="16325088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4FB6C0"/>
                </a:solidFill>
                <a:latin typeface="Arimo Bold"/>
                <a:ea typeface="Arimo Bold"/>
                <a:cs typeface="Arimo Bold"/>
                <a:sym typeface="Arimo Bold"/>
              </a:rPr>
              <a:t>FAZIT &amp; AUSBLICK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67783"/>
            <a:ext cx="15304770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4"/>
              </a:lnSpc>
            </a:pPr>
            <a:r>
              <a:rPr lang="en-US" sz="45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Der Datendienst läuft skalierbar und hochverfügbar in der Cloud – mit getestetem Backup- und Wiederherstellungskonzept.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5166274"/>
            <a:ext cx="5105400" cy="1413862"/>
            <a:chOff x="0" y="0"/>
            <a:chExt cx="6807200" cy="1885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07200" cy="1885188"/>
            </a:xfrm>
            <a:custGeom>
              <a:avLst/>
              <a:gdLst/>
              <a:ahLst/>
              <a:cxnLst/>
              <a:rect r="r" b="b" t="t" l="l"/>
              <a:pathLst>
                <a:path h="1885188" w="6807200">
                  <a:moveTo>
                    <a:pt x="0" y="198247"/>
                  </a:moveTo>
                  <a:cubicBezTo>
                    <a:pt x="0" y="88773"/>
                    <a:pt x="88773" y="0"/>
                    <a:pt x="198247" y="0"/>
                  </a:cubicBezTo>
                  <a:lnTo>
                    <a:pt x="6608953" y="0"/>
                  </a:lnTo>
                  <a:cubicBezTo>
                    <a:pt x="6718427" y="0"/>
                    <a:pt x="6807200" y="88773"/>
                    <a:pt x="6807200" y="198247"/>
                  </a:cubicBezTo>
                  <a:lnTo>
                    <a:pt x="6807200" y="1686941"/>
                  </a:lnTo>
                  <a:cubicBezTo>
                    <a:pt x="6807200" y="1796415"/>
                    <a:pt x="6718427" y="1885188"/>
                    <a:pt x="6608953" y="1885188"/>
                  </a:cubicBezTo>
                  <a:lnTo>
                    <a:pt x="198247" y="1885188"/>
                  </a:lnTo>
                  <a:cubicBezTo>
                    <a:pt x="88773" y="1885188"/>
                    <a:pt x="0" y="1796415"/>
                    <a:pt x="0" y="1686941"/>
                  </a:cubicBezTo>
                  <a:close/>
                </a:path>
              </a:pathLst>
            </a:custGeom>
            <a:solidFill>
              <a:srgbClr val="1C2E45"/>
            </a:solidFill>
            <a:ln w="9525" cap="sq">
              <a:solidFill>
                <a:srgbClr val="2C3B5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533525" y="5480599"/>
            <a:ext cx="361950" cy="361950"/>
            <a:chOff x="0" y="0"/>
            <a:chExt cx="482600" cy="482600"/>
          </a:xfrm>
        </p:grpSpPr>
        <p:sp>
          <p:nvSpPr>
            <p:cNvPr name="Freeform 7" id="7" descr="Check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0"/>
                  </a:moveTo>
                  <a:lnTo>
                    <a:pt x="482600" y="0"/>
                  </a:lnTo>
                  <a:lnTo>
                    <a:pt x="482600" y="482600"/>
                  </a:lnTo>
                  <a:lnTo>
                    <a:pt x="0" y="48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33525" y="5880649"/>
            <a:ext cx="4611053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4"/>
              </a:lnSpc>
            </a:pPr>
            <a:r>
              <a:rPr lang="en-US" sz="202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Verfügbarkeit von 99,9 % erreicht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591300" y="5166274"/>
            <a:ext cx="5105400" cy="1413862"/>
            <a:chOff x="0" y="0"/>
            <a:chExt cx="6807200" cy="18851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07200" cy="1885188"/>
            </a:xfrm>
            <a:custGeom>
              <a:avLst/>
              <a:gdLst/>
              <a:ahLst/>
              <a:cxnLst/>
              <a:rect r="r" b="b" t="t" l="l"/>
              <a:pathLst>
                <a:path h="1885188" w="6807200">
                  <a:moveTo>
                    <a:pt x="0" y="198247"/>
                  </a:moveTo>
                  <a:cubicBezTo>
                    <a:pt x="0" y="88773"/>
                    <a:pt x="88773" y="0"/>
                    <a:pt x="198247" y="0"/>
                  </a:cubicBezTo>
                  <a:lnTo>
                    <a:pt x="6608953" y="0"/>
                  </a:lnTo>
                  <a:cubicBezTo>
                    <a:pt x="6718427" y="0"/>
                    <a:pt x="6807200" y="88773"/>
                    <a:pt x="6807200" y="198247"/>
                  </a:cubicBezTo>
                  <a:lnTo>
                    <a:pt x="6807200" y="1686941"/>
                  </a:lnTo>
                  <a:cubicBezTo>
                    <a:pt x="6807200" y="1796415"/>
                    <a:pt x="6718427" y="1885188"/>
                    <a:pt x="6608953" y="1885188"/>
                  </a:cubicBezTo>
                  <a:lnTo>
                    <a:pt x="198247" y="1885188"/>
                  </a:lnTo>
                  <a:cubicBezTo>
                    <a:pt x="88773" y="1885188"/>
                    <a:pt x="0" y="1796415"/>
                    <a:pt x="0" y="1686941"/>
                  </a:cubicBezTo>
                  <a:close/>
                </a:path>
              </a:pathLst>
            </a:custGeom>
            <a:solidFill>
              <a:srgbClr val="1C2E45"/>
            </a:solidFill>
            <a:ln w="9525" cap="sq">
              <a:solidFill>
                <a:srgbClr val="2C3B52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905625" y="5480599"/>
            <a:ext cx="361950" cy="361950"/>
            <a:chOff x="0" y="0"/>
            <a:chExt cx="482600" cy="482600"/>
          </a:xfrm>
        </p:grpSpPr>
        <p:sp>
          <p:nvSpPr>
            <p:cNvPr name="Freeform 12" id="12" descr="Check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0"/>
                  </a:moveTo>
                  <a:lnTo>
                    <a:pt x="482600" y="0"/>
                  </a:lnTo>
                  <a:lnTo>
                    <a:pt x="482600" y="482600"/>
                  </a:lnTo>
                  <a:lnTo>
                    <a:pt x="0" y="48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905625" y="5880649"/>
            <a:ext cx="4611053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4"/>
              </a:lnSpc>
            </a:pPr>
            <a:r>
              <a:rPr lang="en-US" sz="202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RTO ≤ 2 h im Restore-Test bestätigt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963400" y="5166274"/>
            <a:ext cx="5105400" cy="1413862"/>
            <a:chOff x="0" y="0"/>
            <a:chExt cx="6807200" cy="1885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07200" cy="1885188"/>
            </a:xfrm>
            <a:custGeom>
              <a:avLst/>
              <a:gdLst/>
              <a:ahLst/>
              <a:cxnLst/>
              <a:rect r="r" b="b" t="t" l="l"/>
              <a:pathLst>
                <a:path h="1885188" w="6807200">
                  <a:moveTo>
                    <a:pt x="0" y="198247"/>
                  </a:moveTo>
                  <a:cubicBezTo>
                    <a:pt x="0" y="88773"/>
                    <a:pt x="88773" y="0"/>
                    <a:pt x="198247" y="0"/>
                  </a:cubicBezTo>
                  <a:lnTo>
                    <a:pt x="6608953" y="0"/>
                  </a:lnTo>
                  <a:cubicBezTo>
                    <a:pt x="6718427" y="0"/>
                    <a:pt x="6807200" y="88773"/>
                    <a:pt x="6807200" y="198247"/>
                  </a:cubicBezTo>
                  <a:lnTo>
                    <a:pt x="6807200" y="1686941"/>
                  </a:lnTo>
                  <a:cubicBezTo>
                    <a:pt x="6807200" y="1796415"/>
                    <a:pt x="6718427" y="1885188"/>
                    <a:pt x="6608953" y="1885188"/>
                  </a:cubicBezTo>
                  <a:lnTo>
                    <a:pt x="198247" y="1885188"/>
                  </a:lnTo>
                  <a:cubicBezTo>
                    <a:pt x="88773" y="1885188"/>
                    <a:pt x="0" y="1796415"/>
                    <a:pt x="0" y="1686941"/>
                  </a:cubicBezTo>
                  <a:close/>
                </a:path>
              </a:pathLst>
            </a:custGeom>
            <a:solidFill>
              <a:srgbClr val="1C2E45"/>
            </a:solidFill>
            <a:ln w="9525" cap="sq">
              <a:solidFill>
                <a:srgbClr val="2C3B5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277725" y="5480599"/>
            <a:ext cx="361950" cy="361950"/>
            <a:chOff x="0" y="0"/>
            <a:chExt cx="482600" cy="482600"/>
          </a:xfrm>
        </p:grpSpPr>
        <p:sp>
          <p:nvSpPr>
            <p:cNvPr name="Freeform 17" id="17" descr="Check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0"/>
                  </a:moveTo>
                  <a:lnTo>
                    <a:pt x="482600" y="0"/>
                  </a:lnTo>
                  <a:lnTo>
                    <a:pt x="482600" y="482600"/>
                  </a:lnTo>
                  <a:lnTo>
                    <a:pt x="0" y="48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277725" y="5880649"/>
            <a:ext cx="4611053" cy="42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4"/>
              </a:lnSpc>
            </a:pPr>
            <a:r>
              <a:rPr lang="en-US" sz="202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Migration ohne Datenverlust</a:t>
            </a:r>
          </a:p>
        </p:txBody>
      </p:sp>
      <p:sp>
        <p:nvSpPr>
          <p:cNvPr name="AutoShape 19" id="19"/>
          <p:cNvSpPr/>
          <p:nvPr/>
        </p:nvSpPr>
        <p:spPr>
          <a:xfrm rot="2040">
            <a:off x="1214438" y="8006953"/>
            <a:ext cx="15859125" cy="0"/>
          </a:xfrm>
          <a:prstGeom prst="line">
            <a:avLst/>
          </a:prstGeom>
          <a:ln cap="rnd" w="9525">
            <a:solidFill>
              <a:srgbClr val="2C3B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219200" y="8273653"/>
            <a:ext cx="11772900" cy="83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AFC0D2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Ausblick:</a:t>
            </a:r>
            <a:r>
              <a:rPr lang="en-US" sz="2100">
                <a:solidFill>
                  <a:srgbClr val="AFC0D2"/>
                </a:solidFill>
                <a:latin typeface="IBM Plex Sans"/>
                <a:ea typeface="IBM Plex Sans"/>
                <a:cs typeface="IBM Plex Sans"/>
                <a:sym typeface="IBM Plex Sans"/>
              </a:rPr>
              <a:t> Auf den gesicherten Sensordaten lässt sich Predictive Maintenance für die Flotte aufbauen.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390466" y="8610600"/>
            <a:ext cx="175453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4FB6C0"/>
                </a:solidFill>
                <a:latin typeface="Arimo Bold"/>
                <a:ea typeface="Arimo Bold"/>
                <a:cs typeface="Arimo Bold"/>
                <a:sym typeface="Arimo Bold"/>
              </a:rPr>
              <a:t>Vielen Dank.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247466" y="1028700"/>
            <a:ext cx="2286000" cy="3904141"/>
            <a:chOff x="0" y="0"/>
            <a:chExt cx="3048000" cy="52055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48000" cy="5103922"/>
            </a:xfrm>
            <a:custGeom>
              <a:avLst/>
              <a:gdLst/>
              <a:ahLst/>
              <a:cxnLst/>
              <a:rect r="r" b="b" t="t" l="l"/>
              <a:pathLst>
                <a:path h="510392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103922"/>
                  </a:lnTo>
                  <a:lnTo>
                    <a:pt x="0" y="5103922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48000" cy="5205522"/>
            </a:xfrm>
            <a:custGeom>
              <a:avLst/>
              <a:gdLst/>
              <a:ahLst/>
              <a:cxnLst/>
              <a:rect r="r" b="b" t="t" l="l"/>
              <a:pathLst>
                <a:path h="5205522" w="3048000">
                  <a:moveTo>
                    <a:pt x="0" y="5103922"/>
                  </a:moveTo>
                  <a:lnTo>
                    <a:pt x="3048000" y="5103922"/>
                  </a:lnTo>
                  <a:lnTo>
                    <a:pt x="2921000" y="5205522"/>
                  </a:lnTo>
                  <a:cubicBezTo>
                    <a:pt x="2921000" y="5205522"/>
                    <a:pt x="1930400" y="5129322"/>
                    <a:pt x="1828800" y="5129322"/>
                  </a:cubicBezTo>
                  <a:lnTo>
                    <a:pt x="1219200" y="5129322"/>
                  </a:lnTo>
                  <a:cubicBezTo>
                    <a:pt x="1117600" y="5129322"/>
                    <a:pt x="127000" y="5205522"/>
                    <a:pt x="127000" y="5205522"/>
                  </a:cubicBezTo>
                  <a:lnTo>
                    <a:pt x="0" y="5103922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5103922"/>
                  </a:lnTo>
                  <a:lnTo>
                    <a:pt x="12700" y="5103922"/>
                  </a:lnTo>
                  <a:lnTo>
                    <a:pt x="12700" y="5091222"/>
                  </a:lnTo>
                  <a:lnTo>
                    <a:pt x="3035300" y="5091222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510392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048000" cy="4675297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Sind die Ziele wirklich so erreicht worden?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⟶ Migration erfolgreich</a:t>
              </a: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⟶ Verfügbarkeit erst messbar nach nem Jahr Erfahrung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458700" y="7849321"/>
            <a:ext cx="2286000" cy="2286000"/>
            <a:chOff x="0" y="0"/>
            <a:chExt cx="3048000" cy="3048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48000" cy="2946400"/>
            </a:xfrm>
            <a:custGeom>
              <a:avLst/>
              <a:gdLst/>
              <a:ahLst/>
              <a:cxnLst/>
              <a:rect r="r" b="b" t="t" l="l"/>
              <a:pathLst>
                <a:path h="29464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946400"/>
                  </a:lnTo>
                  <a:lnTo>
                    <a:pt x="0" y="2946400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2946400"/>
                  </a:moveTo>
                  <a:lnTo>
                    <a:pt x="3048000" y="2946400"/>
                  </a:lnTo>
                  <a:lnTo>
                    <a:pt x="2921000" y="3048000"/>
                  </a:lnTo>
                  <a:cubicBezTo>
                    <a:pt x="2921000" y="3048000"/>
                    <a:pt x="1930400" y="2971800"/>
                    <a:pt x="1828800" y="2971800"/>
                  </a:cubicBezTo>
                  <a:lnTo>
                    <a:pt x="1219200" y="2971800"/>
                  </a:lnTo>
                  <a:cubicBezTo>
                    <a:pt x="1117600" y="2971800"/>
                    <a:pt x="127000" y="3048000"/>
                    <a:pt x="127000" y="3048000"/>
                  </a:cubicBezTo>
                  <a:lnTo>
                    <a:pt x="0" y="2946400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2946400"/>
                  </a:lnTo>
                  <a:lnTo>
                    <a:pt x="12700" y="2946400"/>
                  </a:lnTo>
                  <a:lnTo>
                    <a:pt x="12700" y="2933700"/>
                  </a:lnTo>
                  <a:lnTo>
                    <a:pt x="3035300" y="2933700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2946400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3048000" cy="2517775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Was ist der Plan von Predictive Maintenance? Was ist das?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DAHV0oyu9KA</dc:identifier>
  <dcterms:modified xsi:type="dcterms:W3CDTF">2011-08-01T06:04:30Z</dcterms:modified>
  <cp:revision>1</cp:revision>
  <dc:title>Gute Präsentation</dc:title>
</cp:coreProperties>
</file>