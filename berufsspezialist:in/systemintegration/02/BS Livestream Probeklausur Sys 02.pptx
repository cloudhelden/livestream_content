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Lst>
  <p:sldSz cx="18288000" cy="10287000"/>
  <p:notesSz cx="6858000" cy="9144000"/>
  <p:embeddedFontLst>
    <p:embeddedFont>
      <p:font typeface="Montserrat Bold" charset="1" panose="00000800000000000000"/>
      <p:regular r:id="rId41"/>
    </p:embeddedFont>
    <p:embeddedFont>
      <p:font typeface="DM Sans" charset="1" panose="00000000000000000000"/>
      <p:regular r:id="rId42"/>
    </p:embeddedFont>
    <p:embeddedFont>
      <p:font typeface="DM Sans Italics" charset="1" panose="00000000000000000000"/>
      <p:regular r:id="rId43"/>
    </p:embeddedFont>
    <p:embeddedFont>
      <p:font typeface="DM Sans Bold" charset="1" panose="00000000000000000000"/>
      <p:regular r:id="rId44"/>
    </p:embeddedFont>
    <p:embeddedFont>
      <p:font typeface="Montserrat" charset="1" panose="00000500000000000000"/>
      <p:regular r:id="rId4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fonts/font41.fntdata" Type="http://schemas.openxmlformats.org/officeDocument/2006/relationships/font"/><Relationship Id="rId42" Target="fonts/font42.fntdata" Type="http://schemas.openxmlformats.org/officeDocument/2006/relationships/font"/><Relationship Id="rId43" Target="fonts/font43.fntdata" Type="http://schemas.openxmlformats.org/officeDocument/2006/relationships/font"/><Relationship Id="rId44" Target="fonts/font44.fntdata" Type="http://schemas.openxmlformats.org/officeDocument/2006/relationships/font"/><Relationship Id="rId45" Target="fonts/font45.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11.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1029500" y="2264912"/>
            <a:ext cx="16334804" cy="3568951"/>
            <a:chOff x="0" y="0"/>
            <a:chExt cx="21779738" cy="4758601"/>
          </a:xfrm>
        </p:grpSpPr>
        <p:sp>
          <p:nvSpPr>
            <p:cNvPr name="Freeform 7" id="7"/>
            <p:cNvSpPr/>
            <p:nvPr/>
          </p:nvSpPr>
          <p:spPr>
            <a:xfrm flipH="false" flipV="false" rot="0">
              <a:off x="0" y="0"/>
              <a:ext cx="21779736" cy="4758598"/>
            </a:xfrm>
            <a:custGeom>
              <a:avLst/>
              <a:gdLst/>
              <a:ahLst/>
              <a:cxnLst/>
              <a:rect r="r" b="b" t="t" l="l"/>
              <a:pathLst>
                <a:path h="4758598" w="21779736">
                  <a:moveTo>
                    <a:pt x="0" y="0"/>
                  </a:moveTo>
                  <a:lnTo>
                    <a:pt x="21779736" y="0"/>
                  </a:lnTo>
                  <a:lnTo>
                    <a:pt x="21779736" y="4758598"/>
                  </a:lnTo>
                  <a:lnTo>
                    <a:pt x="0" y="4758598"/>
                  </a:lnTo>
                  <a:close/>
                </a:path>
              </a:pathLst>
            </a:custGeom>
            <a:blipFill>
              <a:blip r:embed="rId3">
                <a:alphaModFix amt="0"/>
              </a:blip>
              <a:stretch>
                <a:fillRect l="0" t="-39181" r="0" b="-39181"/>
              </a:stretch>
            </a:blipFill>
          </p:spPr>
        </p:sp>
        <p:sp>
          <p:nvSpPr>
            <p:cNvPr name="TextBox 8" id="8"/>
            <p:cNvSpPr txBox="true"/>
            <p:nvPr/>
          </p:nvSpPr>
          <p:spPr>
            <a:xfrm>
              <a:off x="0" y="9525"/>
              <a:ext cx="21779738" cy="4749076"/>
            </a:xfrm>
            <a:prstGeom prst="rect">
              <a:avLst/>
            </a:prstGeom>
          </p:spPr>
          <p:txBody>
            <a:bodyPr anchor="ctr" rtlCol="false" tIns="0" lIns="0" bIns="0" rIns="0"/>
            <a:lstStyle/>
            <a:p>
              <a:pPr algn="l">
                <a:lnSpc>
                  <a:spcPts val="8826"/>
                </a:lnSpc>
              </a:pPr>
              <a:r>
                <a:rPr lang="en-US" sz="7505" b="true">
                  <a:solidFill>
                    <a:srgbClr val="0C1D4B"/>
                  </a:solidFill>
                  <a:latin typeface="Montserrat Bold"/>
                  <a:ea typeface="Montserrat Bold"/>
                  <a:cs typeface="Montserrat Bold"/>
                  <a:sym typeface="Montserrat Bold"/>
                </a:rPr>
                <a:t>Systemintegration</a:t>
              </a:r>
            </a:p>
            <a:p>
              <a:pPr algn="l">
                <a:lnSpc>
                  <a:spcPts val="8826"/>
                </a:lnSpc>
              </a:pPr>
              <a:r>
                <a:rPr lang="en-US" sz="7505" b="true">
                  <a:solidFill>
                    <a:srgbClr val="0C1D4B"/>
                  </a:solidFill>
                  <a:latin typeface="Montserrat Bold"/>
                  <a:ea typeface="Montserrat Bold"/>
                  <a:cs typeface="Montserrat Bold"/>
                  <a:sym typeface="Montserrat Bold"/>
                </a:rPr>
                <a:t>&amp; Vernetzung II</a:t>
              </a:r>
            </a:p>
          </p:txBody>
        </p:sp>
      </p:grpSp>
      <p:grpSp>
        <p:nvGrpSpPr>
          <p:cNvPr name="Group 9" id="9"/>
          <p:cNvGrpSpPr/>
          <p:nvPr/>
        </p:nvGrpSpPr>
        <p:grpSpPr>
          <a:xfrm rot="0">
            <a:off x="1098137" y="6177029"/>
            <a:ext cx="12354049" cy="686333"/>
            <a:chOff x="0" y="0"/>
            <a:chExt cx="16472065" cy="915111"/>
          </a:xfrm>
        </p:grpSpPr>
        <p:sp>
          <p:nvSpPr>
            <p:cNvPr name="Freeform 10" id="10"/>
            <p:cNvSpPr/>
            <p:nvPr/>
          </p:nvSpPr>
          <p:spPr>
            <a:xfrm flipH="false" flipV="false" rot="0">
              <a:off x="0" y="0"/>
              <a:ext cx="16472069" cy="915115"/>
            </a:xfrm>
            <a:custGeom>
              <a:avLst/>
              <a:gdLst/>
              <a:ahLst/>
              <a:cxnLst/>
              <a:rect r="r" b="b" t="t" l="l"/>
              <a:pathLst>
                <a:path h="915115" w="16472069">
                  <a:moveTo>
                    <a:pt x="0" y="0"/>
                  </a:moveTo>
                  <a:lnTo>
                    <a:pt x="16472069" y="0"/>
                  </a:lnTo>
                  <a:lnTo>
                    <a:pt x="16472069" y="915115"/>
                  </a:lnTo>
                  <a:lnTo>
                    <a:pt x="0" y="915115"/>
                  </a:lnTo>
                  <a:close/>
                </a:path>
              </a:pathLst>
            </a:custGeom>
            <a:blipFill>
              <a:blip r:embed="rId3">
                <a:alphaModFix amt="0"/>
              </a:blip>
              <a:stretch>
                <a:fillRect l="0" t="-300730" r="0" b="-300730"/>
              </a:stretch>
            </a:blipFill>
          </p:spPr>
        </p:sp>
        <p:sp>
          <p:nvSpPr>
            <p:cNvPr name="TextBox 11" id="11"/>
            <p:cNvSpPr txBox="true"/>
            <p:nvPr/>
          </p:nvSpPr>
          <p:spPr>
            <a:xfrm>
              <a:off x="0" y="0"/>
              <a:ext cx="16472065" cy="915111"/>
            </a:xfrm>
            <a:prstGeom prst="rect">
              <a:avLst/>
            </a:prstGeom>
          </p:spPr>
          <p:txBody>
            <a:bodyPr anchor="ctr" rtlCol="false" tIns="0" lIns="0" bIns="0" rIns="0"/>
            <a:lstStyle/>
            <a:p>
              <a:pPr algn="l">
                <a:lnSpc>
                  <a:spcPts val="3062"/>
                </a:lnSpc>
              </a:pPr>
              <a:r>
                <a:rPr lang="en-US" b="true" sz="2551" spc="300">
                  <a:solidFill>
                    <a:srgbClr val="3C4F75"/>
                  </a:solidFill>
                  <a:latin typeface="Montserrat Bold"/>
                  <a:ea typeface="Montserrat Bold"/>
                  <a:cs typeface="Montserrat Bold"/>
                  <a:sym typeface="Montserrat Bold"/>
                </a:rPr>
                <a:t>PROBEKLAUSUR · PRÜFUNGSVORBEREITUNG</a:t>
              </a:r>
            </a:p>
          </p:txBody>
        </p:sp>
      </p:grpSp>
      <p:grpSp>
        <p:nvGrpSpPr>
          <p:cNvPr name="Group 12" id="12"/>
          <p:cNvGrpSpPr/>
          <p:nvPr/>
        </p:nvGrpSpPr>
        <p:grpSpPr>
          <a:xfrm rot="0">
            <a:off x="1098137" y="7000627"/>
            <a:ext cx="11667715" cy="686333"/>
            <a:chOff x="0" y="0"/>
            <a:chExt cx="15556954" cy="915111"/>
          </a:xfrm>
        </p:grpSpPr>
        <p:sp>
          <p:nvSpPr>
            <p:cNvPr name="Freeform 13" id="13"/>
            <p:cNvSpPr/>
            <p:nvPr/>
          </p:nvSpPr>
          <p:spPr>
            <a:xfrm flipH="false" flipV="false" rot="0">
              <a:off x="0" y="0"/>
              <a:ext cx="15556954" cy="915115"/>
            </a:xfrm>
            <a:custGeom>
              <a:avLst/>
              <a:gdLst/>
              <a:ahLst/>
              <a:cxnLst/>
              <a:rect r="r" b="b" t="t" l="l"/>
              <a:pathLst>
                <a:path h="915115" w="15556954">
                  <a:moveTo>
                    <a:pt x="0" y="0"/>
                  </a:moveTo>
                  <a:lnTo>
                    <a:pt x="15556954" y="0"/>
                  </a:lnTo>
                  <a:lnTo>
                    <a:pt x="15556954" y="915115"/>
                  </a:lnTo>
                  <a:lnTo>
                    <a:pt x="0" y="915115"/>
                  </a:lnTo>
                  <a:close/>
                </a:path>
              </a:pathLst>
            </a:custGeom>
            <a:blipFill>
              <a:blip r:embed="rId3">
                <a:alphaModFix amt="0"/>
              </a:blip>
              <a:stretch>
                <a:fillRect l="0" t="-281245" r="0" b="-281245"/>
              </a:stretch>
            </a:blipFill>
          </p:spPr>
        </p:sp>
        <p:sp>
          <p:nvSpPr>
            <p:cNvPr name="TextBox 14" id="14"/>
            <p:cNvSpPr txBox="true"/>
            <p:nvPr/>
          </p:nvSpPr>
          <p:spPr>
            <a:xfrm>
              <a:off x="0" y="0"/>
              <a:ext cx="15556954" cy="915111"/>
            </a:xfrm>
            <a:prstGeom prst="rect">
              <a:avLst/>
            </a:prstGeom>
          </p:spPr>
          <p:txBody>
            <a:bodyPr anchor="ctr" rtlCol="false" tIns="0" lIns="0" bIns="0" rIns="0"/>
            <a:lstStyle/>
            <a:p>
              <a:pPr algn="l">
                <a:lnSpc>
                  <a:spcPts val="2431"/>
                </a:lnSpc>
              </a:pPr>
              <a:r>
                <a:rPr lang="en-US" sz="2026">
                  <a:solidFill>
                    <a:srgbClr val="6B7280"/>
                  </a:solidFill>
                  <a:latin typeface="DM Sans"/>
                  <a:ea typeface="DM Sans"/>
                  <a:cs typeface="DM Sans"/>
                  <a:sym typeface="DM Sans"/>
                </a:rPr>
                <a:t>Geprüfte/r Berufsspezialist/in für Systemintegration und Vernetzung</a:t>
              </a:r>
            </a:p>
          </p:txBody>
        </p:sp>
      </p:grpSp>
      <p:grpSp>
        <p:nvGrpSpPr>
          <p:cNvPr name="Group 15" id="15"/>
          <p:cNvGrpSpPr/>
          <p:nvPr/>
        </p:nvGrpSpPr>
        <p:grpSpPr>
          <a:xfrm rot="0">
            <a:off x="13109019" y="6245657"/>
            <a:ext cx="4255284" cy="1743294"/>
            <a:chOff x="0" y="0"/>
            <a:chExt cx="5673712" cy="2324392"/>
          </a:xfrm>
        </p:grpSpPr>
        <p:sp>
          <p:nvSpPr>
            <p:cNvPr name="Freeform 16" id="16" descr="preencoded.png"/>
            <p:cNvSpPr/>
            <p:nvPr/>
          </p:nvSpPr>
          <p:spPr>
            <a:xfrm flipH="false" flipV="false" rot="0">
              <a:off x="0" y="0"/>
              <a:ext cx="5673725" cy="2324354"/>
            </a:xfrm>
            <a:custGeom>
              <a:avLst/>
              <a:gdLst/>
              <a:ahLst/>
              <a:cxnLst/>
              <a:rect r="r" b="b" t="t" l="l"/>
              <a:pathLst>
                <a:path h="2324354" w="5673725">
                  <a:moveTo>
                    <a:pt x="0" y="0"/>
                  </a:moveTo>
                  <a:lnTo>
                    <a:pt x="5673725" y="0"/>
                  </a:lnTo>
                  <a:lnTo>
                    <a:pt x="5673725" y="2324354"/>
                  </a:lnTo>
                  <a:lnTo>
                    <a:pt x="0" y="2324354"/>
                  </a:lnTo>
                  <a:lnTo>
                    <a:pt x="0" y="0"/>
                  </a:lnTo>
                  <a:close/>
                </a:path>
              </a:pathLst>
            </a:custGeom>
            <a:blipFill>
              <a:blip r:embed="rId2"/>
              <a:stretch>
                <a:fillRect l="-71" t="0" r="-71" b="-1"/>
              </a:stretch>
            </a:blipFill>
          </p:spPr>
        </p:sp>
      </p:grpSp>
      <p:grpSp>
        <p:nvGrpSpPr>
          <p:cNvPr name="Group 17" id="17"/>
          <p:cNvGrpSpPr/>
          <p:nvPr/>
        </p:nvGrpSpPr>
        <p:grpSpPr>
          <a:xfrm rot="0">
            <a:off x="12834490" y="8098765"/>
            <a:ext cx="4804353" cy="549069"/>
            <a:chOff x="0" y="0"/>
            <a:chExt cx="6405804" cy="732092"/>
          </a:xfrm>
        </p:grpSpPr>
        <p:sp>
          <p:nvSpPr>
            <p:cNvPr name="Freeform 18" id="18"/>
            <p:cNvSpPr/>
            <p:nvPr/>
          </p:nvSpPr>
          <p:spPr>
            <a:xfrm flipH="false" flipV="false" rot="0">
              <a:off x="0" y="0"/>
              <a:ext cx="6405805" cy="732092"/>
            </a:xfrm>
            <a:custGeom>
              <a:avLst/>
              <a:gdLst/>
              <a:ahLst/>
              <a:cxnLst/>
              <a:rect r="r" b="b" t="t" l="l"/>
              <a:pathLst>
                <a:path h="732092" w="6405805">
                  <a:moveTo>
                    <a:pt x="0" y="0"/>
                  </a:moveTo>
                  <a:lnTo>
                    <a:pt x="6405805" y="0"/>
                  </a:lnTo>
                  <a:lnTo>
                    <a:pt x="6405805" y="732092"/>
                  </a:lnTo>
                  <a:lnTo>
                    <a:pt x="0" y="732092"/>
                  </a:lnTo>
                  <a:close/>
                </a:path>
              </a:pathLst>
            </a:custGeom>
            <a:blipFill>
              <a:blip r:embed="rId3">
                <a:alphaModFix amt="0"/>
              </a:blip>
              <a:stretch>
                <a:fillRect l="0" t="-120494" r="0" b="-120494"/>
              </a:stretch>
            </a:blipFill>
          </p:spPr>
        </p:sp>
        <p:sp>
          <p:nvSpPr>
            <p:cNvPr name="TextBox 19" id="19"/>
            <p:cNvSpPr txBox="true"/>
            <p:nvPr/>
          </p:nvSpPr>
          <p:spPr>
            <a:xfrm>
              <a:off x="0" y="0"/>
              <a:ext cx="6405804" cy="732092"/>
            </a:xfrm>
            <a:prstGeom prst="rect">
              <a:avLst/>
            </a:prstGeom>
          </p:spPr>
          <p:txBody>
            <a:bodyPr anchor="ctr" rtlCol="false" tIns="0" lIns="0" bIns="0" rIns="0"/>
            <a:lstStyle/>
            <a:p>
              <a:pPr algn="ctr">
                <a:lnSpc>
                  <a:spcPts val="2161"/>
                </a:lnSpc>
              </a:pPr>
              <a:r>
                <a:rPr lang="en-US" sz="1801" i="true">
                  <a:solidFill>
                    <a:srgbClr val="0C1D4B"/>
                  </a:solidFill>
                  <a:latin typeface="DM Sans Italics"/>
                  <a:ea typeface="DM Sans Italics"/>
                  <a:cs typeface="DM Sans Italics"/>
                  <a:sym typeface="DM Sans Italics"/>
                </a:rPr>
                <a:t>Zwei Situationsaufgaben · IHK-Format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1</a:t>
              </a:r>
            </a:p>
          </p:txBody>
        </p:sp>
      </p:grpSp>
      <p:grpSp>
        <p:nvGrpSpPr>
          <p:cNvPr name="Group 12" id="12"/>
          <p:cNvGrpSpPr/>
          <p:nvPr/>
        </p:nvGrpSpPr>
        <p:grpSpPr>
          <a:xfrm rot="0">
            <a:off x="1029500" y="1304039"/>
            <a:ext cx="12354049" cy="1235402"/>
            <a:chOff x="0" y="0"/>
            <a:chExt cx="16472065" cy="1647203"/>
          </a:xfrm>
        </p:grpSpPr>
        <p:sp>
          <p:nvSpPr>
            <p:cNvPr name="Freeform 13" id="13"/>
            <p:cNvSpPr/>
            <p:nvPr/>
          </p:nvSpPr>
          <p:spPr>
            <a:xfrm flipH="false" flipV="false" rot="0">
              <a:off x="0" y="0"/>
              <a:ext cx="16472069" cy="1647207"/>
            </a:xfrm>
            <a:custGeom>
              <a:avLst/>
              <a:gdLst/>
              <a:ahLst/>
              <a:cxnLst/>
              <a:rect r="r" b="b" t="t" l="l"/>
              <a:pathLst>
                <a:path h="1647207" w="16472069">
                  <a:moveTo>
                    <a:pt x="0" y="0"/>
                  </a:moveTo>
                  <a:lnTo>
                    <a:pt x="16472069" y="0"/>
                  </a:lnTo>
                  <a:lnTo>
                    <a:pt x="16472069" y="1647207"/>
                  </a:lnTo>
                  <a:lnTo>
                    <a:pt x="0" y="1647207"/>
                  </a:lnTo>
                  <a:close/>
                </a:path>
              </a:pathLst>
            </a:custGeom>
            <a:blipFill>
              <a:blip r:embed="rId3">
                <a:alphaModFix amt="0"/>
              </a:blip>
              <a:stretch>
                <a:fillRect l="0" t="-144850" r="0" b="-144850"/>
              </a:stretch>
            </a:blipFill>
          </p:spPr>
        </p:sp>
        <p:sp>
          <p:nvSpPr>
            <p:cNvPr name="TextBox 14" id="14"/>
            <p:cNvSpPr txBox="true"/>
            <p:nvPr/>
          </p:nvSpPr>
          <p:spPr>
            <a:xfrm>
              <a:off x="0" y="0"/>
              <a:ext cx="16472065" cy="1647203"/>
            </a:xfrm>
            <a:prstGeom prst="rect">
              <a:avLst/>
            </a:prstGeom>
          </p:spPr>
          <p:txBody>
            <a:bodyPr anchor="ctr" rtlCol="false" tIns="0" lIns="0" bIns="0" rIns="0"/>
            <a:lstStyle/>
            <a:p>
              <a:pPr algn="l">
                <a:lnSpc>
                  <a:spcPts val="6845"/>
                </a:lnSpc>
              </a:pPr>
              <a:r>
                <a:rPr lang="en-US" sz="5704" b="true">
                  <a:solidFill>
                    <a:srgbClr val="0C1D4B"/>
                  </a:solidFill>
                  <a:latin typeface="Montserrat Bold"/>
                  <a:ea typeface="Montserrat Bold"/>
                  <a:cs typeface="Montserrat Bold"/>
                  <a:sym typeface="Montserrat Bold"/>
                </a:rPr>
                <a:t>Ablauf des Streams</a:t>
              </a:r>
            </a:p>
          </p:txBody>
        </p:sp>
      </p:grpSp>
      <p:grpSp>
        <p:nvGrpSpPr>
          <p:cNvPr name="Group 15" id="15"/>
          <p:cNvGrpSpPr/>
          <p:nvPr/>
        </p:nvGrpSpPr>
        <p:grpSpPr>
          <a:xfrm rot="0">
            <a:off x="1225877" y="2969171"/>
            <a:ext cx="870118" cy="870118"/>
            <a:chOff x="0" y="0"/>
            <a:chExt cx="1160158" cy="1160158"/>
          </a:xfrm>
        </p:grpSpPr>
        <p:sp>
          <p:nvSpPr>
            <p:cNvPr name="Freeform 16" id="16"/>
            <p:cNvSpPr/>
            <p:nvPr/>
          </p:nvSpPr>
          <p:spPr>
            <a:xfrm flipH="false" flipV="false" rot="0">
              <a:off x="0" y="0"/>
              <a:ext cx="1160145" cy="1160145"/>
            </a:xfrm>
            <a:custGeom>
              <a:avLst/>
              <a:gdLst/>
              <a:ahLst/>
              <a:cxnLst/>
              <a:rect r="r" b="b" t="t" l="l"/>
              <a:pathLst>
                <a:path h="1160145" w="1160145">
                  <a:moveTo>
                    <a:pt x="0" y="187071"/>
                  </a:moveTo>
                  <a:cubicBezTo>
                    <a:pt x="0" y="83820"/>
                    <a:pt x="83820" y="0"/>
                    <a:pt x="187071" y="0"/>
                  </a:cubicBezTo>
                  <a:lnTo>
                    <a:pt x="973074" y="0"/>
                  </a:lnTo>
                  <a:cubicBezTo>
                    <a:pt x="1076452" y="0"/>
                    <a:pt x="1160145" y="83820"/>
                    <a:pt x="1160145" y="187071"/>
                  </a:cubicBezTo>
                  <a:lnTo>
                    <a:pt x="1160145" y="973074"/>
                  </a:lnTo>
                  <a:cubicBezTo>
                    <a:pt x="1160145" y="1076452"/>
                    <a:pt x="1076325" y="1160145"/>
                    <a:pt x="973074" y="1160145"/>
                  </a:cubicBezTo>
                  <a:lnTo>
                    <a:pt x="187071" y="1160145"/>
                  </a:lnTo>
                  <a:cubicBezTo>
                    <a:pt x="83820" y="1160145"/>
                    <a:pt x="0" y="1076325"/>
                    <a:pt x="0" y="973074"/>
                  </a:cubicBezTo>
                  <a:close/>
                </a:path>
              </a:pathLst>
            </a:custGeom>
            <a:solidFill>
              <a:srgbClr val="5CE1E6"/>
            </a:solidFill>
            <a:ln w="19065" cap="sq">
              <a:solidFill>
                <a:srgbClr val="5CE1E6"/>
              </a:solidFill>
              <a:prstDash val="solid"/>
              <a:miter/>
            </a:ln>
          </p:spPr>
        </p:sp>
      </p:grpSp>
      <p:grpSp>
        <p:nvGrpSpPr>
          <p:cNvPr name="Group 17" id="17"/>
          <p:cNvGrpSpPr/>
          <p:nvPr/>
        </p:nvGrpSpPr>
        <p:grpSpPr>
          <a:xfrm rot="0">
            <a:off x="1235402" y="2978696"/>
            <a:ext cx="851059" cy="851059"/>
            <a:chOff x="0" y="0"/>
            <a:chExt cx="1134745" cy="1134745"/>
          </a:xfrm>
        </p:grpSpPr>
        <p:sp>
          <p:nvSpPr>
            <p:cNvPr name="Freeform 18" id="18"/>
            <p:cNvSpPr/>
            <p:nvPr/>
          </p:nvSpPr>
          <p:spPr>
            <a:xfrm flipH="false" flipV="false" rot="0">
              <a:off x="0" y="0"/>
              <a:ext cx="1134743" cy="1134743"/>
            </a:xfrm>
            <a:custGeom>
              <a:avLst/>
              <a:gdLst/>
              <a:ahLst/>
              <a:cxnLst/>
              <a:rect r="r" b="b" t="t" l="l"/>
              <a:pathLst>
                <a:path h="1134743" w="1134743">
                  <a:moveTo>
                    <a:pt x="0" y="0"/>
                  </a:moveTo>
                  <a:lnTo>
                    <a:pt x="1134743" y="0"/>
                  </a:lnTo>
                  <a:lnTo>
                    <a:pt x="1134743" y="1134743"/>
                  </a:lnTo>
                  <a:lnTo>
                    <a:pt x="0" y="1134743"/>
                  </a:lnTo>
                  <a:close/>
                </a:path>
              </a:pathLst>
            </a:custGeom>
            <a:blipFill>
              <a:blip r:embed="rId3">
                <a:alphaModFix amt="0"/>
              </a:blip>
              <a:stretch>
                <a:fillRect l="-78303" t="0" r="-78303" b="0"/>
              </a:stretch>
            </a:blipFill>
          </p:spPr>
        </p:sp>
        <p:sp>
          <p:nvSpPr>
            <p:cNvPr name="TextBox 19" id="19"/>
            <p:cNvSpPr txBox="true"/>
            <p:nvPr/>
          </p:nvSpPr>
          <p:spPr>
            <a:xfrm>
              <a:off x="0" y="0"/>
              <a:ext cx="1134745" cy="1134745"/>
            </a:xfrm>
            <a:prstGeom prst="rect">
              <a:avLst/>
            </a:prstGeom>
          </p:spPr>
          <p:txBody>
            <a:bodyPr anchor="ctr" rtlCol="false" tIns="0" lIns="0" bIns="0" rIns="0"/>
            <a:lstStyle/>
            <a:p>
              <a:pPr algn="ctr">
                <a:lnSpc>
                  <a:spcPts val="3963"/>
                </a:lnSpc>
              </a:pPr>
              <a:r>
                <a:rPr lang="en-US" sz="3302" b="true">
                  <a:solidFill>
                    <a:srgbClr val="0C1D4B"/>
                  </a:solidFill>
                  <a:latin typeface="Montserrat Bold"/>
                  <a:ea typeface="Montserrat Bold"/>
                  <a:cs typeface="Montserrat Bold"/>
                  <a:sym typeface="Montserrat Bold"/>
                </a:rPr>
                <a:t>1</a:t>
              </a:r>
            </a:p>
          </p:txBody>
        </p:sp>
      </p:grpSp>
      <p:grpSp>
        <p:nvGrpSpPr>
          <p:cNvPr name="Group 20" id="20"/>
          <p:cNvGrpSpPr/>
          <p:nvPr/>
        </p:nvGrpSpPr>
        <p:grpSpPr>
          <a:xfrm rot="0">
            <a:off x="2470814" y="2868882"/>
            <a:ext cx="15236666" cy="617706"/>
            <a:chOff x="0" y="0"/>
            <a:chExt cx="20315555" cy="823608"/>
          </a:xfrm>
        </p:grpSpPr>
        <p:sp>
          <p:nvSpPr>
            <p:cNvPr name="Freeform 21" id="21"/>
            <p:cNvSpPr/>
            <p:nvPr/>
          </p:nvSpPr>
          <p:spPr>
            <a:xfrm flipH="false" flipV="false" rot="0">
              <a:off x="0" y="0"/>
              <a:ext cx="20315552" cy="823603"/>
            </a:xfrm>
            <a:custGeom>
              <a:avLst/>
              <a:gdLst/>
              <a:ahLst/>
              <a:cxnLst/>
              <a:rect r="r" b="b" t="t" l="l"/>
              <a:pathLst>
                <a:path h="823603" w="20315552">
                  <a:moveTo>
                    <a:pt x="0" y="0"/>
                  </a:moveTo>
                  <a:lnTo>
                    <a:pt x="20315552" y="0"/>
                  </a:lnTo>
                  <a:lnTo>
                    <a:pt x="20315552" y="823603"/>
                  </a:lnTo>
                  <a:lnTo>
                    <a:pt x="0" y="823603"/>
                  </a:lnTo>
                  <a:close/>
                </a:path>
              </a:pathLst>
            </a:custGeom>
            <a:blipFill>
              <a:blip r:embed="rId3">
                <a:alphaModFix amt="0"/>
              </a:blip>
              <a:stretch>
                <a:fillRect l="0" t="-430630" r="0" b="-430631"/>
              </a:stretch>
            </a:blipFill>
          </p:spPr>
        </p:sp>
        <p:sp>
          <p:nvSpPr>
            <p:cNvPr name="TextBox 22" id="22"/>
            <p:cNvSpPr txBox="true"/>
            <p:nvPr/>
          </p:nvSpPr>
          <p:spPr>
            <a:xfrm>
              <a:off x="0" y="0"/>
              <a:ext cx="20315555" cy="823608"/>
            </a:xfrm>
            <a:prstGeom prst="rect">
              <a:avLst/>
            </a:prstGeom>
          </p:spPr>
          <p:txBody>
            <a:bodyPr anchor="ctr" rtlCol="false" tIns="0" lIns="0" bIns="0" rIns="0"/>
            <a:lstStyle/>
            <a:p>
              <a:pPr algn="l">
                <a:lnSpc>
                  <a:spcPts val="3422"/>
                </a:lnSpc>
              </a:pPr>
              <a:r>
                <a:rPr lang="en-US" sz="2852" b="true">
                  <a:solidFill>
                    <a:srgbClr val="0C1D4B"/>
                  </a:solidFill>
                  <a:latin typeface="Montserrat Bold"/>
                  <a:ea typeface="Montserrat Bold"/>
                  <a:cs typeface="Montserrat Bold"/>
                  <a:sym typeface="Montserrat Bold"/>
                </a:rPr>
                <a:t>Ausgangssituation vorstellen</a:t>
              </a:r>
            </a:p>
          </p:txBody>
        </p:sp>
      </p:grpSp>
      <p:sp>
        <p:nvSpPr>
          <p:cNvPr name="TextBox 23" id="23"/>
          <p:cNvSpPr txBox="true"/>
          <p:nvPr/>
        </p:nvSpPr>
        <p:spPr>
          <a:xfrm rot="0">
            <a:off x="2470814" y="3454937"/>
            <a:ext cx="15373931" cy="841534"/>
          </a:xfrm>
          <a:prstGeom prst="rect">
            <a:avLst/>
          </a:prstGeom>
        </p:spPr>
        <p:txBody>
          <a:bodyPr anchor="t" rtlCol="false" tIns="0" lIns="0" bIns="0" rIns="0">
            <a:spAutoFit/>
          </a:bodyPr>
          <a:lstStyle/>
          <a:p>
            <a:pPr algn="l">
              <a:lnSpc>
                <a:spcPts val="2341"/>
              </a:lnSpc>
            </a:pPr>
            <a:r>
              <a:rPr lang="en-US" sz="1951">
                <a:solidFill>
                  <a:srgbClr val="23262B"/>
                </a:solidFill>
                <a:latin typeface="DM Sans"/>
                <a:ea typeface="DM Sans"/>
                <a:cs typeface="DM Sans"/>
                <a:sym typeface="DM Sans"/>
              </a:rPr>
              <a:t>Jede Situationsaufgabe beschreibt ein fiktives Vorhaben – CampusTech Smart Building und MobilPlus Nahverkehr.</a:t>
            </a:r>
          </a:p>
        </p:txBody>
      </p:sp>
      <p:grpSp>
        <p:nvGrpSpPr>
          <p:cNvPr name="Group 24" id="24"/>
          <p:cNvGrpSpPr/>
          <p:nvPr/>
        </p:nvGrpSpPr>
        <p:grpSpPr>
          <a:xfrm rot="0">
            <a:off x="1225877" y="4561465"/>
            <a:ext cx="870118" cy="870118"/>
            <a:chOff x="0" y="0"/>
            <a:chExt cx="1160158" cy="1160158"/>
          </a:xfrm>
        </p:grpSpPr>
        <p:sp>
          <p:nvSpPr>
            <p:cNvPr name="Freeform 25" id="25"/>
            <p:cNvSpPr/>
            <p:nvPr/>
          </p:nvSpPr>
          <p:spPr>
            <a:xfrm flipH="false" flipV="false" rot="0">
              <a:off x="0" y="0"/>
              <a:ext cx="1160145" cy="1160145"/>
            </a:xfrm>
            <a:custGeom>
              <a:avLst/>
              <a:gdLst/>
              <a:ahLst/>
              <a:cxnLst/>
              <a:rect r="r" b="b" t="t" l="l"/>
              <a:pathLst>
                <a:path h="1160145" w="1160145">
                  <a:moveTo>
                    <a:pt x="0" y="187071"/>
                  </a:moveTo>
                  <a:cubicBezTo>
                    <a:pt x="0" y="83820"/>
                    <a:pt x="83820" y="0"/>
                    <a:pt x="187071" y="0"/>
                  </a:cubicBezTo>
                  <a:lnTo>
                    <a:pt x="973074" y="0"/>
                  </a:lnTo>
                  <a:cubicBezTo>
                    <a:pt x="1076452" y="0"/>
                    <a:pt x="1160145" y="83820"/>
                    <a:pt x="1160145" y="187071"/>
                  </a:cubicBezTo>
                  <a:lnTo>
                    <a:pt x="1160145" y="973074"/>
                  </a:lnTo>
                  <a:cubicBezTo>
                    <a:pt x="1160145" y="1076452"/>
                    <a:pt x="1076325" y="1160145"/>
                    <a:pt x="973074" y="1160145"/>
                  </a:cubicBezTo>
                  <a:lnTo>
                    <a:pt x="187071" y="1160145"/>
                  </a:lnTo>
                  <a:cubicBezTo>
                    <a:pt x="83820" y="1160145"/>
                    <a:pt x="0" y="1076325"/>
                    <a:pt x="0" y="973074"/>
                  </a:cubicBezTo>
                  <a:close/>
                </a:path>
              </a:pathLst>
            </a:custGeom>
            <a:solidFill>
              <a:srgbClr val="5CE1E6"/>
            </a:solidFill>
            <a:ln w="19065" cap="sq">
              <a:solidFill>
                <a:srgbClr val="5CE1E6"/>
              </a:solidFill>
              <a:prstDash val="solid"/>
              <a:miter/>
            </a:ln>
          </p:spPr>
        </p:sp>
      </p:grpSp>
      <p:grpSp>
        <p:nvGrpSpPr>
          <p:cNvPr name="Group 26" id="26"/>
          <p:cNvGrpSpPr/>
          <p:nvPr/>
        </p:nvGrpSpPr>
        <p:grpSpPr>
          <a:xfrm rot="0">
            <a:off x="1235402" y="4571000"/>
            <a:ext cx="851059" cy="851059"/>
            <a:chOff x="0" y="0"/>
            <a:chExt cx="1134745" cy="1134745"/>
          </a:xfrm>
        </p:grpSpPr>
        <p:sp>
          <p:nvSpPr>
            <p:cNvPr name="Freeform 27" id="27"/>
            <p:cNvSpPr/>
            <p:nvPr/>
          </p:nvSpPr>
          <p:spPr>
            <a:xfrm flipH="false" flipV="false" rot="0">
              <a:off x="0" y="0"/>
              <a:ext cx="1134743" cy="1134743"/>
            </a:xfrm>
            <a:custGeom>
              <a:avLst/>
              <a:gdLst/>
              <a:ahLst/>
              <a:cxnLst/>
              <a:rect r="r" b="b" t="t" l="l"/>
              <a:pathLst>
                <a:path h="1134743" w="1134743">
                  <a:moveTo>
                    <a:pt x="0" y="0"/>
                  </a:moveTo>
                  <a:lnTo>
                    <a:pt x="1134743" y="0"/>
                  </a:lnTo>
                  <a:lnTo>
                    <a:pt x="1134743" y="1134743"/>
                  </a:lnTo>
                  <a:lnTo>
                    <a:pt x="0" y="1134743"/>
                  </a:lnTo>
                  <a:close/>
                </a:path>
              </a:pathLst>
            </a:custGeom>
            <a:blipFill>
              <a:blip r:embed="rId3">
                <a:alphaModFix amt="0"/>
              </a:blip>
              <a:stretch>
                <a:fillRect l="-78303" t="0" r="-78303" b="0"/>
              </a:stretch>
            </a:blipFill>
          </p:spPr>
        </p:sp>
        <p:sp>
          <p:nvSpPr>
            <p:cNvPr name="TextBox 28" id="28"/>
            <p:cNvSpPr txBox="true"/>
            <p:nvPr/>
          </p:nvSpPr>
          <p:spPr>
            <a:xfrm>
              <a:off x="0" y="0"/>
              <a:ext cx="1134745" cy="1134745"/>
            </a:xfrm>
            <a:prstGeom prst="rect">
              <a:avLst/>
            </a:prstGeom>
          </p:spPr>
          <p:txBody>
            <a:bodyPr anchor="ctr" rtlCol="false" tIns="0" lIns="0" bIns="0" rIns="0"/>
            <a:lstStyle/>
            <a:p>
              <a:pPr algn="ctr">
                <a:lnSpc>
                  <a:spcPts val="3963"/>
                </a:lnSpc>
              </a:pPr>
              <a:r>
                <a:rPr lang="en-US" sz="3302" b="true">
                  <a:solidFill>
                    <a:srgbClr val="0C1D4B"/>
                  </a:solidFill>
                  <a:latin typeface="Montserrat Bold"/>
                  <a:ea typeface="Montserrat Bold"/>
                  <a:cs typeface="Montserrat Bold"/>
                  <a:sym typeface="Montserrat Bold"/>
                </a:rPr>
                <a:t>2</a:t>
              </a:r>
            </a:p>
          </p:txBody>
        </p:sp>
      </p:grpSp>
      <p:grpSp>
        <p:nvGrpSpPr>
          <p:cNvPr name="Group 29" id="29"/>
          <p:cNvGrpSpPr/>
          <p:nvPr/>
        </p:nvGrpSpPr>
        <p:grpSpPr>
          <a:xfrm rot="0">
            <a:off x="2470814" y="4461186"/>
            <a:ext cx="15236666" cy="617706"/>
            <a:chOff x="0" y="0"/>
            <a:chExt cx="20315555" cy="823608"/>
          </a:xfrm>
        </p:grpSpPr>
        <p:sp>
          <p:nvSpPr>
            <p:cNvPr name="Freeform 30" id="30"/>
            <p:cNvSpPr/>
            <p:nvPr/>
          </p:nvSpPr>
          <p:spPr>
            <a:xfrm flipH="false" flipV="false" rot="0">
              <a:off x="0" y="0"/>
              <a:ext cx="20315552" cy="823603"/>
            </a:xfrm>
            <a:custGeom>
              <a:avLst/>
              <a:gdLst/>
              <a:ahLst/>
              <a:cxnLst/>
              <a:rect r="r" b="b" t="t" l="l"/>
              <a:pathLst>
                <a:path h="823603" w="20315552">
                  <a:moveTo>
                    <a:pt x="0" y="0"/>
                  </a:moveTo>
                  <a:lnTo>
                    <a:pt x="20315552" y="0"/>
                  </a:lnTo>
                  <a:lnTo>
                    <a:pt x="20315552" y="823603"/>
                  </a:lnTo>
                  <a:lnTo>
                    <a:pt x="0" y="823603"/>
                  </a:lnTo>
                  <a:close/>
                </a:path>
              </a:pathLst>
            </a:custGeom>
            <a:blipFill>
              <a:blip r:embed="rId3">
                <a:alphaModFix amt="0"/>
              </a:blip>
              <a:stretch>
                <a:fillRect l="0" t="-430630" r="0" b="-430631"/>
              </a:stretch>
            </a:blipFill>
          </p:spPr>
        </p:sp>
        <p:sp>
          <p:nvSpPr>
            <p:cNvPr name="TextBox 31" id="31"/>
            <p:cNvSpPr txBox="true"/>
            <p:nvPr/>
          </p:nvSpPr>
          <p:spPr>
            <a:xfrm>
              <a:off x="0" y="0"/>
              <a:ext cx="20315555" cy="823608"/>
            </a:xfrm>
            <a:prstGeom prst="rect">
              <a:avLst/>
            </a:prstGeom>
          </p:spPr>
          <p:txBody>
            <a:bodyPr anchor="ctr" rtlCol="false" tIns="0" lIns="0" bIns="0" rIns="0"/>
            <a:lstStyle/>
            <a:p>
              <a:pPr algn="l">
                <a:lnSpc>
                  <a:spcPts val="3422"/>
                </a:lnSpc>
              </a:pPr>
              <a:r>
                <a:rPr lang="en-US" sz="2852" b="true">
                  <a:solidFill>
                    <a:srgbClr val="0C1D4B"/>
                  </a:solidFill>
                  <a:latin typeface="Montserrat Bold"/>
                  <a:ea typeface="Montserrat Bold"/>
                  <a:cs typeface="Montserrat Bold"/>
                  <a:sym typeface="Montserrat Bold"/>
                </a:rPr>
                <a:t>Aufgaben durcharbeiten</a:t>
              </a:r>
            </a:p>
          </p:txBody>
        </p:sp>
      </p:grpSp>
      <p:sp>
        <p:nvSpPr>
          <p:cNvPr name="TextBox 32" id="32"/>
          <p:cNvSpPr txBox="true"/>
          <p:nvPr/>
        </p:nvSpPr>
        <p:spPr>
          <a:xfrm rot="0">
            <a:off x="2470814" y="5047231"/>
            <a:ext cx="15373931" cy="841534"/>
          </a:xfrm>
          <a:prstGeom prst="rect">
            <a:avLst/>
          </a:prstGeom>
        </p:spPr>
        <p:txBody>
          <a:bodyPr anchor="t" rtlCol="false" tIns="0" lIns="0" bIns="0" rIns="0">
            <a:spAutoFit/>
          </a:bodyPr>
          <a:lstStyle/>
          <a:p>
            <a:pPr algn="l">
              <a:lnSpc>
                <a:spcPts val="2341"/>
              </a:lnSpc>
            </a:pPr>
            <a:r>
              <a:rPr lang="en-US" sz="1951">
                <a:solidFill>
                  <a:srgbClr val="23262B"/>
                </a:solidFill>
                <a:latin typeface="DM Sans"/>
                <a:ea typeface="DM Sans"/>
                <a:cs typeface="DM Sans"/>
                <a:sym typeface="DM Sans"/>
              </a:rPr>
              <a:t>Pro Teilaufgabe zeigen wir zuerst die Frage mit Hinweisen und danach die ausgearbeitete Lösung.</a:t>
            </a:r>
          </a:p>
        </p:txBody>
      </p:sp>
      <p:grpSp>
        <p:nvGrpSpPr>
          <p:cNvPr name="Group 33" id="33"/>
          <p:cNvGrpSpPr/>
          <p:nvPr/>
        </p:nvGrpSpPr>
        <p:grpSpPr>
          <a:xfrm rot="0">
            <a:off x="1225877" y="6153769"/>
            <a:ext cx="870118" cy="870118"/>
            <a:chOff x="0" y="0"/>
            <a:chExt cx="1160158" cy="1160158"/>
          </a:xfrm>
        </p:grpSpPr>
        <p:sp>
          <p:nvSpPr>
            <p:cNvPr name="Freeform 34" id="34"/>
            <p:cNvSpPr/>
            <p:nvPr/>
          </p:nvSpPr>
          <p:spPr>
            <a:xfrm flipH="false" flipV="false" rot="0">
              <a:off x="0" y="0"/>
              <a:ext cx="1160145" cy="1160145"/>
            </a:xfrm>
            <a:custGeom>
              <a:avLst/>
              <a:gdLst/>
              <a:ahLst/>
              <a:cxnLst/>
              <a:rect r="r" b="b" t="t" l="l"/>
              <a:pathLst>
                <a:path h="1160145" w="1160145">
                  <a:moveTo>
                    <a:pt x="0" y="187071"/>
                  </a:moveTo>
                  <a:cubicBezTo>
                    <a:pt x="0" y="83820"/>
                    <a:pt x="83820" y="0"/>
                    <a:pt x="187071" y="0"/>
                  </a:cubicBezTo>
                  <a:lnTo>
                    <a:pt x="973074" y="0"/>
                  </a:lnTo>
                  <a:cubicBezTo>
                    <a:pt x="1076452" y="0"/>
                    <a:pt x="1160145" y="83820"/>
                    <a:pt x="1160145" y="187071"/>
                  </a:cubicBezTo>
                  <a:lnTo>
                    <a:pt x="1160145" y="973074"/>
                  </a:lnTo>
                  <a:cubicBezTo>
                    <a:pt x="1160145" y="1076452"/>
                    <a:pt x="1076325" y="1160145"/>
                    <a:pt x="973074" y="1160145"/>
                  </a:cubicBezTo>
                  <a:lnTo>
                    <a:pt x="187071" y="1160145"/>
                  </a:lnTo>
                  <a:cubicBezTo>
                    <a:pt x="83820" y="1160145"/>
                    <a:pt x="0" y="1076325"/>
                    <a:pt x="0" y="973074"/>
                  </a:cubicBezTo>
                  <a:close/>
                </a:path>
              </a:pathLst>
            </a:custGeom>
            <a:solidFill>
              <a:srgbClr val="5CE1E6"/>
            </a:solidFill>
            <a:ln w="19065" cap="sq">
              <a:solidFill>
                <a:srgbClr val="5CE1E6"/>
              </a:solidFill>
              <a:prstDash val="solid"/>
              <a:miter/>
            </a:ln>
          </p:spPr>
        </p:sp>
      </p:grpSp>
      <p:grpSp>
        <p:nvGrpSpPr>
          <p:cNvPr name="Group 35" id="35"/>
          <p:cNvGrpSpPr/>
          <p:nvPr/>
        </p:nvGrpSpPr>
        <p:grpSpPr>
          <a:xfrm rot="0">
            <a:off x="1235402" y="6163304"/>
            <a:ext cx="851059" cy="851059"/>
            <a:chOff x="0" y="0"/>
            <a:chExt cx="1134745" cy="1134745"/>
          </a:xfrm>
        </p:grpSpPr>
        <p:sp>
          <p:nvSpPr>
            <p:cNvPr name="Freeform 36" id="36"/>
            <p:cNvSpPr/>
            <p:nvPr/>
          </p:nvSpPr>
          <p:spPr>
            <a:xfrm flipH="false" flipV="false" rot="0">
              <a:off x="0" y="0"/>
              <a:ext cx="1134743" cy="1134743"/>
            </a:xfrm>
            <a:custGeom>
              <a:avLst/>
              <a:gdLst/>
              <a:ahLst/>
              <a:cxnLst/>
              <a:rect r="r" b="b" t="t" l="l"/>
              <a:pathLst>
                <a:path h="1134743" w="1134743">
                  <a:moveTo>
                    <a:pt x="0" y="0"/>
                  </a:moveTo>
                  <a:lnTo>
                    <a:pt x="1134743" y="0"/>
                  </a:lnTo>
                  <a:lnTo>
                    <a:pt x="1134743" y="1134743"/>
                  </a:lnTo>
                  <a:lnTo>
                    <a:pt x="0" y="1134743"/>
                  </a:lnTo>
                  <a:close/>
                </a:path>
              </a:pathLst>
            </a:custGeom>
            <a:blipFill>
              <a:blip r:embed="rId3">
                <a:alphaModFix amt="0"/>
              </a:blip>
              <a:stretch>
                <a:fillRect l="-78303" t="0" r="-78303" b="0"/>
              </a:stretch>
            </a:blipFill>
          </p:spPr>
        </p:sp>
        <p:sp>
          <p:nvSpPr>
            <p:cNvPr name="TextBox 37" id="37"/>
            <p:cNvSpPr txBox="true"/>
            <p:nvPr/>
          </p:nvSpPr>
          <p:spPr>
            <a:xfrm>
              <a:off x="0" y="0"/>
              <a:ext cx="1134745" cy="1134745"/>
            </a:xfrm>
            <a:prstGeom prst="rect">
              <a:avLst/>
            </a:prstGeom>
          </p:spPr>
          <p:txBody>
            <a:bodyPr anchor="ctr" rtlCol="false" tIns="0" lIns="0" bIns="0" rIns="0"/>
            <a:lstStyle/>
            <a:p>
              <a:pPr algn="ctr">
                <a:lnSpc>
                  <a:spcPts val="3963"/>
                </a:lnSpc>
              </a:pPr>
              <a:r>
                <a:rPr lang="en-US" sz="3302" b="true">
                  <a:solidFill>
                    <a:srgbClr val="0C1D4B"/>
                  </a:solidFill>
                  <a:latin typeface="Montserrat Bold"/>
                  <a:ea typeface="Montserrat Bold"/>
                  <a:cs typeface="Montserrat Bold"/>
                  <a:sym typeface="Montserrat Bold"/>
                </a:rPr>
                <a:t>3</a:t>
              </a:r>
            </a:p>
          </p:txBody>
        </p:sp>
      </p:grpSp>
      <p:grpSp>
        <p:nvGrpSpPr>
          <p:cNvPr name="Group 38" id="38"/>
          <p:cNvGrpSpPr/>
          <p:nvPr/>
        </p:nvGrpSpPr>
        <p:grpSpPr>
          <a:xfrm rot="0">
            <a:off x="2470814" y="6053490"/>
            <a:ext cx="15236666" cy="617706"/>
            <a:chOff x="0" y="0"/>
            <a:chExt cx="20315555" cy="823608"/>
          </a:xfrm>
        </p:grpSpPr>
        <p:sp>
          <p:nvSpPr>
            <p:cNvPr name="Freeform 39" id="39"/>
            <p:cNvSpPr/>
            <p:nvPr/>
          </p:nvSpPr>
          <p:spPr>
            <a:xfrm flipH="false" flipV="false" rot="0">
              <a:off x="0" y="0"/>
              <a:ext cx="20315552" cy="823603"/>
            </a:xfrm>
            <a:custGeom>
              <a:avLst/>
              <a:gdLst/>
              <a:ahLst/>
              <a:cxnLst/>
              <a:rect r="r" b="b" t="t" l="l"/>
              <a:pathLst>
                <a:path h="823603" w="20315552">
                  <a:moveTo>
                    <a:pt x="0" y="0"/>
                  </a:moveTo>
                  <a:lnTo>
                    <a:pt x="20315552" y="0"/>
                  </a:lnTo>
                  <a:lnTo>
                    <a:pt x="20315552" y="823603"/>
                  </a:lnTo>
                  <a:lnTo>
                    <a:pt x="0" y="823603"/>
                  </a:lnTo>
                  <a:close/>
                </a:path>
              </a:pathLst>
            </a:custGeom>
            <a:blipFill>
              <a:blip r:embed="rId3">
                <a:alphaModFix amt="0"/>
              </a:blip>
              <a:stretch>
                <a:fillRect l="0" t="-430630" r="0" b="-430631"/>
              </a:stretch>
            </a:blipFill>
          </p:spPr>
        </p:sp>
        <p:sp>
          <p:nvSpPr>
            <p:cNvPr name="TextBox 40" id="40"/>
            <p:cNvSpPr txBox="true"/>
            <p:nvPr/>
          </p:nvSpPr>
          <p:spPr>
            <a:xfrm>
              <a:off x="0" y="0"/>
              <a:ext cx="20315555" cy="823608"/>
            </a:xfrm>
            <a:prstGeom prst="rect">
              <a:avLst/>
            </a:prstGeom>
          </p:spPr>
          <p:txBody>
            <a:bodyPr anchor="ctr" rtlCol="false" tIns="0" lIns="0" bIns="0" rIns="0"/>
            <a:lstStyle/>
            <a:p>
              <a:pPr algn="l">
                <a:lnSpc>
                  <a:spcPts val="3422"/>
                </a:lnSpc>
              </a:pPr>
              <a:r>
                <a:rPr lang="en-US" sz="2852" b="true">
                  <a:solidFill>
                    <a:srgbClr val="0C1D4B"/>
                  </a:solidFill>
                  <a:latin typeface="Montserrat Bold"/>
                  <a:ea typeface="Montserrat Bold"/>
                  <a:cs typeface="Montserrat Bold"/>
                  <a:sym typeface="Montserrat Bold"/>
                </a:rPr>
                <a:t>Punkte &amp; AFB einordnen</a:t>
              </a:r>
            </a:p>
          </p:txBody>
        </p:sp>
      </p:grpSp>
      <p:sp>
        <p:nvSpPr>
          <p:cNvPr name="TextBox 41" id="41"/>
          <p:cNvSpPr txBox="true"/>
          <p:nvPr/>
        </p:nvSpPr>
        <p:spPr>
          <a:xfrm rot="0">
            <a:off x="2470814" y="6639535"/>
            <a:ext cx="15373931" cy="841534"/>
          </a:xfrm>
          <a:prstGeom prst="rect">
            <a:avLst/>
          </a:prstGeom>
        </p:spPr>
        <p:txBody>
          <a:bodyPr anchor="t" rtlCol="false" tIns="0" lIns="0" bIns="0" rIns="0">
            <a:spAutoFit/>
          </a:bodyPr>
          <a:lstStyle/>
          <a:p>
            <a:pPr algn="l">
              <a:lnSpc>
                <a:spcPts val="2341"/>
              </a:lnSpc>
            </a:pPr>
            <a:r>
              <a:rPr lang="en-US" sz="1951">
                <a:solidFill>
                  <a:srgbClr val="23262B"/>
                </a:solidFill>
                <a:latin typeface="DM Sans"/>
                <a:ea typeface="DM Sans"/>
                <a:cs typeface="DM Sans"/>
                <a:sym typeface="DM Sans"/>
              </a:rPr>
              <a:t>Zu jeder Aufgabe schauen wir auf den Anforderungsbereich (AFB I–III) und die Punktlogik.</a:t>
            </a:r>
          </a:p>
        </p:txBody>
      </p:sp>
      <p:grpSp>
        <p:nvGrpSpPr>
          <p:cNvPr name="Group 42" id="42"/>
          <p:cNvGrpSpPr/>
          <p:nvPr/>
        </p:nvGrpSpPr>
        <p:grpSpPr>
          <a:xfrm rot="0">
            <a:off x="1225877" y="7746063"/>
            <a:ext cx="870118" cy="870118"/>
            <a:chOff x="0" y="0"/>
            <a:chExt cx="1160158" cy="1160158"/>
          </a:xfrm>
        </p:grpSpPr>
        <p:sp>
          <p:nvSpPr>
            <p:cNvPr name="Freeform 43" id="43"/>
            <p:cNvSpPr/>
            <p:nvPr/>
          </p:nvSpPr>
          <p:spPr>
            <a:xfrm flipH="false" flipV="false" rot="0">
              <a:off x="0" y="0"/>
              <a:ext cx="1160145" cy="1160145"/>
            </a:xfrm>
            <a:custGeom>
              <a:avLst/>
              <a:gdLst/>
              <a:ahLst/>
              <a:cxnLst/>
              <a:rect r="r" b="b" t="t" l="l"/>
              <a:pathLst>
                <a:path h="1160145" w="1160145">
                  <a:moveTo>
                    <a:pt x="0" y="187071"/>
                  </a:moveTo>
                  <a:cubicBezTo>
                    <a:pt x="0" y="83820"/>
                    <a:pt x="83820" y="0"/>
                    <a:pt x="187071" y="0"/>
                  </a:cubicBezTo>
                  <a:lnTo>
                    <a:pt x="973074" y="0"/>
                  </a:lnTo>
                  <a:cubicBezTo>
                    <a:pt x="1076452" y="0"/>
                    <a:pt x="1160145" y="83820"/>
                    <a:pt x="1160145" y="187071"/>
                  </a:cubicBezTo>
                  <a:lnTo>
                    <a:pt x="1160145" y="973074"/>
                  </a:lnTo>
                  <a:cubicBezTo>
                    <a:pt x="1160145" y="1076452"/>
                    <a:pt x="1076325" y="1160145"/>
                    <a:pt x="973074" y="1160145"/>
                  </a:cubicBezTo>
                  <a:lnTo>
                    <a:pt x="187071" y="1160145"/>
                  </a:lnTo>
                  <a:cubicBezTo>
                    <a:pt x="83820" y="1160145"/>
                    <a:pt x="0" y="1076325"/>
                    <a:pt x="0" y="973074"/>
                  </a:cubicBezTo>
                  <a:close/>
                </a:path>
              </a:pathLst>
            </a:custGeom>
            <a:solidFill>
              <a:srgbClr val="5CE1E6"/>
            </a:solidFill>
            <a:ln w="19065" cap="sq">
              <a:solidFill>
                <a:srgbClr val="5CE1E6"/>
              </a:solidFill>
              <a:prstDash val="solid"/>
              <a:miter/>
            </a:ln>
          </p:spPr>
        </p:sp>
      </p:grpSp>
      <p:grpSp>
        <p:nvGrpSpPr>
          <p:cNvPr name="Group 44" id="44"/>
          <p:cNvGrpSpPr/>
          <p:nvPr/>
        </p:nvGrpSpPr>
        <p:grpSpPr>
          <a:xfrm rot="0">
            <a:off x="1235402" y="7755598"/>
            <a:ext cx="851059" cy="851059"/>
            <a:chOff x="0" y="0"/>
            <a:chExt cx="1134745" cy="1134745"/>
          </a:xfrm>
        </p:grpSpPr>
        <p:sp>
          <p:nvSpPr>
            <p:cNvPr name="Freeform 45" id="45"/>
            <p:cNvSpPr/>
            <p:nvPr/>
          </p:nvSpPr>
          <p:spPr>
            <a:xfrm flipH="false" flipV="false" rot="0">
              <a:off x="0" y="0"/>
              <a:ext cx="1134743" cy="1134743"/>
            </a:xfrm>
            <a:custGeom>
              <a:avLst/>
              <a:gdLst/>
              <a:ahLst/>
              <a:cxnLst/>
              <a:rect r="r" b="b" t="t" l="l"/>
              <a:pathLst>
                <a:path h="1134743" w="1134743">
                  <a:moveTo>
                    <a:pt x="0" y="0"/>
                  </a:moveTo>
                  <a:lnTo>
                    <a:pt x="1134743" y="0"/>
                  </a:lnTo>
                  <a:lnTo>
                    <a:pt x="1134743" y="1134743"/>
                  </a:lnTo>
                  <a:lnTo>
                    <a:pt x="0" y="1134743"/>
                  </a:lnTo>
                  <a:close/>
                </a:path>
              </a:pathLst>
            </a:custGeom>
            <a:blipFill>
              <a:blip r:embed="rId3">
                <a:alphaModFix amt="0"/>
              </a:blip>
              <a:stretch>
                <a:fillRect l="-78303" t="0" r="-78303" b="0"/>
              </a:stretch>
            </a:blipFill>
          </p:spPr>
        </p:sp>
        <p:sp>
          <p:nvSpPr>
            <p:cNvPr name="TextBox 46" id="46"/>
            <p:cNvSpPr txBox="true"/>
            <p:nvPr/>
          </p:nvSpPr>
          <p:spPr>
            <a:xfrm>
              <a:off x="0" y="0"/>
              <a:ext cx="1134745" cy="1134745"/>
            </a:xfrm>
            <a:prstGeom prst="rect">
              <a:avLst/>
            </a:prstGeom>
          </p:spPr>
          <p:txBody>
            <a:bodyPr anchor="ctr" rtlCol="false" tIns="0" lIns="0" bIns="0" rIns="0"/>
            <a:lstStyle/>
            <a:p>
              <a:pPr algn="ctr">
                <a:lnSpc>
                  <a:spcPts val="3963"/>
                </a:lnSpc>
              </a:pPr>
              <a:r>
                <a:rPr lang="en-US" sz="3302" b="true">
                  <a:solidFill>
                    <a:srgbClr val="0C1D4B"/>
                  </a:solidFill>
                  <a:latin typeface="Montserrat Bold"/>
                  <a:ea typeface="Montserrat Bold"/>
                  <a:cs typeface="Montserrat Bold"/>
                  <a:sym typeface="Montserrat Bold"/>
                </a:rPr>
                <a:t>4</a:t>
              </a:r>
            </a:p>
          </p:txBody>
        </p:sp>
      </p:grpSp>
      <p:grpSp>
        <p:nvGrpSpPr>
          <p:cNvPr name="Group 47" id="47"/>
          <p:cNvGrpSpPr/>
          <p:nvPr/>
        </p:nvGrpSpPr>
        <p:grpSpPr>
          <a:xfrm rot="0">
            <a:off x="2470814" y="7645784"/>
            <a:ext cx="15236666" cy="617706"/>
            <a:chOff x="0" y="0"/>
            <a:chExt cx="20315555" cy="823608"/>
          </a:xfrm>
        </p:grpSpPr>
        <p:sp>
          <p:nvSpPr>
            <p:cNvPr name="Freeform 48" id="48"/>
            <p:cNvSpPr/>
            <p:nvPr/>
          </p:nvSpPr>
          <p:spPr>
            <a:xfrm flipH="false" flipV="false" rot="0">
              <a:off x="0" y="0"/>
              <a:ext cx="20315552" cy="823603"/>
            </a:xfrm>
            <a:custGeom>
              <a:avLst/>
              <a:gdLst/>
              <a:ahLst/>
              <a:cxnLst/>
              <a:rect r="r" b="b" t="t" l="l"/>
              <a:pathLst>
                <a:path h="823603" w="20315552">
                  <a:moveTo>
                    <a:pt x="0" y="0"/>
                  </a:moveTo>
                  <a:lnTo>
                    <a:pt x="20315552" y="0"/>
                  </a:lnTo>
                  <a:lnTo>
                    <a:pt x="20315552" y="823603"/>
                  </a:lnTo>
                  <a:lnTo>
                    <a:pt x="0" y="823603"/>
                  </a:lnTo>
                  <a:close/>
                </a:path>
              </a:pathLst>
            </a:custGeom>
            <a:blipFill>
              <a:blip r:embed="rId3">
                <a:alphaModFix amt="0"/>
              </a:blip>
              <a:stretch>
                <a:fillRect l="0" t="-430630" r="0" b="-430631"/>
              </a:stretch>
            </a:blipFill>
          </p:spPr>
        </p:sp>
        <p:sp>
          <p:nvSpPr>
            <p:cNvPr name="TextBox 49" id="49"/>
            <p:cNvSpPr txBox="true"/>
            <p:nvPr/>
          </p:nvSpPr>
          <p:spPr>
            <a:xfrm>
              <a:off x="0" y="0"/>
              <a:ext cx="20315555" cy="823608"/>
            </a:xfrm>
            <a:prstGeom prst="rect">
              <a:avLst/>
            </a:prstGeom>
          </p:spPr>
          <p:txBody>
            <a:bodyPr anchor="ctr" rtlCol="false" tIns="0" lIns="0" bIns="0" rIns="0"/>
            <a:lstStyle/>
            <a:p>
              <a:pPr algn="l">
                <a:lnSpc>
                  <a:spcPts val="3422"/>
                </a:lnSpc>
              </a:pPr>
              <a:r>
                <a:rPr lang="en-US" sz="2852" b="true">
                  <a:solidFill>
                    <a:srgbClr val="0C1D4B"/>
                  </a:solidFill>
                  <a:latin typeface="Montserrat Bold"/>
                  <a:ea typeface="Montserrat Bold"/>
                  <a:cs typeface="Montserrat Bold"/>
                  <a:sym typeface="Montserrat Bold"/>
                </a:rPr>
                <a:t>Kahoot zur Festigung</a:t>
              </a:r>
            </a:p>
          </p:txBody>
        </p:sp>
      </p:grpSp>
      <p:sp>
        <p:nvSpPr>
          <p:cNvPr name="TextBox 50" id="50"/>
          <p:cNvSpPr txBox="true"/>
          <p:nvPr/>
        </p:nvSpPr>
        <p:spPr>
          <a:xfrm rot="0">
            <a:off x="2470814" y="8231829"/>
            <a:ext cx="15373931" cy="841534"/>
          </a:xfrm>
          <a:prstGeom prst="rect">
            <a:avLst/>
          </a:prstGeom>
        </p:spPr>
        <p:txBody>
          <a:bodyPr anchor="t" rtlCol="false" tIns="0" lIns="0" bIns="0" rIns="0">
            <a:spAutoFit/>
          </a:bodyPr>
          <a:lstStyle/>
          <a:p>
            <a:pPr algn="l">
              <a:lnSpc>
                <a:spcPts val="2341"/>
              </a:lnSpc>
            </a:pPr>
            <a:r>
              <a:rPr lang="en-US" sz="1951">
                <a:solidFill>
                  <a:srgbClr val="23262B"/>
                </a:solidFill>
                <a:latin typeface="DM Sans"/>
                <a:ea typeface="DM Sans"/>
                <a:cs typeface="DM Sans"/>
                <a:sym typeface="DM Sans"/>
              </a:rPr>
              <a:t>Zum Abschluss festigen wir die besprochenen Inhalte in einem kurzen Quiz.</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2</a:t>
              </a:r>
            </a:p>
          </p:txBody>
        </p:sp>
      </p:grpSp>
      <p:grpSp>
        <p:nvGrpSpPr>
          <p:cNvPr name="Group 12" id="12"/>
          <p:cNvGrpSpPr/>
          <p:nvPr/>
        </p:nvGrpSpPr>
        <p:grpSpPr>
          <a:xfrm rot="0">
            <a:off x="1029500" y="1235402"/>
            <a:ext cx="16472068" cy="1098137"/>
            <a:chOff x="0" y="0"/>
            <a:chExt cx="21962758" cy="1464183"/>
          </a:xfrm>
        </p:grpSpPr>
        <p:sp>
          <p:nvSpPr>
            <p:cNvPr name="Freeform 13" id="13"/>
            <p:cNvSpPr/>
            <p:nvPr/>
          </p:nvSpPr>
          <p:spPr>
            <a:xfrm flipH="false" flipV="false" rot="0">
              <a:off x="0" y="0"/>
              <a:ext cx="21962759" cy="1464184"/>
            </a:xfrm>
            <a:custGeom>
              <a:avLst/>
              <a:gdLst/>
              <a:ahLst/>
              <a:cxnLst/>
              <a:rect r="r" b="b" t="t" l="l"/>
              <a:pathLst>
                <a:path h="1464184" w="21962759">
                  <a:moveTo>
                    <a:pt x="0" y="0"/>
                  </a:moveTo>
                  <a:lnTo>
                    <a:pt x="21962759" y="0"/>
                  </a:lnTo>
                  <a:lnTo>
                    <a:pt x="21962759" y="1464184"/>
                  </a:lnTo>
                  <a:lnTo>
                    <a:pt x="0" y="1464184"/>
                  </a:lnTo>
                  <a:close/>
                </a:path>
              </a:pathLst>
            </a:custGeom>
            <a:blipFill>
              <a:blip r:embed="rId3">
                <a:alphaModFix amt="0"/>
              </a:blip>
              <a:stretch>
                <a:fillRect l="0" t="-242275" r="0" b="-242275"/>
              </a:stretch>
            </a:blipFill>
          </p:spPr>
        </p:sp>
        <p:sp>
          <p:nvSpPr>
            <p:cNvPr name="TextBox 14" id="14"/>
            <p:cNvSpPr txBox="true"/>
            <p:nvPr/>
          </p:nvSpPr>
          <p:spPr>
            <a:xfrm>
              <a:off x="0" y="0"/>
              <a:ext cx="21962758" cy="1464183"/>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So wird bewertet – die drei Anforderungsbereiche</a:t>
              </a:r>
            </a:p>
          </p:txBody>
        </p:sp>
      </p:grpSp>
      <p:grpSp>
        <p:nvGrpSpPr>
          <p:cNvPr name="Group 15" id="15"/>
          <p:cNvGrpSpPr/>
          <p:nvPr/>
        </p:nvGrpSpPr>
        <p:grpSpPr>
          <a:xfrm rot="0">
            <a:off x="1070686" y="2223726"/>
            <a:ext cx="16472068" cy="549069"/>
            <a:chOff x="0" y="0"/>
            <a:chExt cx="21962758" cy="732092"/>
          </a:xfrm>
        </p:grpSpPr>
        <p:sp>
          <p:nvSpPr>
            <p:cNvPr name="Freeform 16" id="16"/>
            <p:cNvSpPr/>
            <p:nvPr/>
          </p:nvSpPr>
          <p:spPr>
            <a:xfrm flipH="false" flipV="false" rot="0">
              <a:off x="0" y="0"/>
              <a:ext cx="21962759" cy="732092"/>
            </a:xfrm>
            <a:custGeom>
              <a:avLst/>
              <a:gdLst/>
              <a:ahLst/>
              <a:cxnLst/>
              <a:rect r="r" b="b" t="t" l="l"/>
              <a:pathLst>
                <a:path h="732092" w="21962759">
                  <a:moveTo>
                    <a:pt x="0" y="0"/>
                  </a:moveTo>
                  <a:lnTo>
                    <a:pt x="21962759" y="0"/>
                  </a:lnTo>
                  <a:lnTo>
                    <a:pt x="21962759" y="732092"/>
                  </a:lnTo>
                  <a:lnTo>
                    <a:pt x="0" y="732092"/>
                  </a:lnTo>
                  <a:close/>
                </a:path>
              </a:pathLst>
            </a:custGeom>
            <a:blipFill>
              <a:blip r:embed="rId3">
                <a:alphaModFix amt="0"/>
              </a:blip>
              <a:stretch>
                <a:fillRect l="0" t="-534551" r="0" b="-534551"/>
              </a:stretch>
            </a:blipFill>
          </p:spPr>
        </p:sp>
        <p:sp>
          <p:nvSpPr>
            <p:cNvPr name="TextBox 17" id="17"/>
            <p:cNvSpPr txBox="true"/>
            <p:nvPr/>
          </p:nvSpPr>
          <p:spPr>
            <a:xfrm>
              <a:off x="0" y="9525"/>
              <a:ext cx="21962758" cy="722567"/>
            </a:xfrm>
            <a:prstGeom prst="rect">
              <a:avLst/>
            </a:prstGeom>
          </p:spPr>
          <p:txBody>
            <a:bodyPr anchor="ctr" rtlCol="false" tIns="0" lIns="0" bIns="0" rIns="0"/>
            <a:lstStyle/>
            <a:p>
              <a:pPr algn="l">
                <a:lnSpc>
                  <a:spcPts val="2341"/>
                </a:lnSpc>
              </a:pPr>
              <a:r>
                <a:rPr lang="en-US" sz="1951">
                  <a:solidFill>
                    <a:srgbClr val="6B7280"/>
                  </a:solidFill>
                  <a:latin typeface="DM Sans"/>
                  <a:ea typeface="DM Sans"/>
                  <a:cs typeface="DM Sans"/>
                  <a:sym typeface="DM Sans"/>
                </a:rPr>
                <a:t>Punktvergabe pro Lösungselement: AFB I = 1 Punkt · AFB II = 2 Punkte · AFB III = 3 Punkte</a:t>
              </a:r>
            </a:p>
          </p:txBody>
        </p:sp>
      </p:grpSp>
      <p:grpSp>
        <p:nvGrpSpPr>
          <p:cNvPr name="Group 18" id="18"/>
          <p:cNvGrpSpPr/>
          <p:nvPr/>
        </p:nvGrpSpPr>
        <p:grpSpPr>
          <a:xfrm rot="0">
            <a:off x="1017584" y="3076594"/>
            <a:ext cx="5322351" cy="5994959"/>
            <a:chOff x="0" y="0"/>
            <a:chExt cx="7096468" cy="7993278"/>
          </a:xfrm>
        </p:grpSpPr>
        <p:sp>
          <p:nvSpPr>
            <p:cNvPr name="Freeform 19" id="19"/>
            <p:cNvSpPr/>
            <p:nvPr/>
          </p:nvSpPr>
          <p:spPr>
            <a:xfrm flipH="false" flipV="false" rot="0">
              <a:off x="0" y="0"/>
              <a:ext cx="7096379" cy="7993253"/>
            </a:xfrm>
            <a:custGeom>
              <a:avLst/>
              <a:gdLst/>
              <a:ahLst/>
              <a:cxnLst/>
              <a:rect r="r" b="b" t="t" l="l"/>
              <a:pathLst>
                <a:path h="7993253" w="7096379">
                  <a:moveTo>
                    <a:pt x="0" y="110236"/>
                  </a:moveTo>
                  <a:cubicBezTo>
                    <a:pt x="0" y="49403"/>
                    <a:pt x="49403" y="0"/>
                    <a:pt x="110236" y="0"/>
                  </a:cubicBezTo>
                  <a:lnTo>
                    <a:pt x="6986143" y="0"/>
                  </a:lnTo>
                  <a:cubicBezTo>
                    <a:pt x="7047103" y="0"/>
                    <a:pt x="7096379" y="49403"/>
                    <a:pt x="7096379" y="110236"/>
                  </a:cubicBezTo>
                  <a:lnTo>
                    <a:pt x="7096379" y="7883017"/>
                  </a:lnTo>
                  <a:cubicBezTo>
                    <a:pt x="7096379" y="7943977"/>
                    <a:pt x="7046976" y="7993253"/>
                    <a:pt x="6986143" y="7993253"/>
                  </a:cubicBezTo>
                  <a:lnTo>
                    <a:pt x="110236" y="7993253"/>
                  </a:lnTo>
                  <a:cubicBezTo>
                    <a:pt x="49276" y="7993253"/>
                    <a:pt x="0" y="7943850"/>
                    <a:pt x="0" y="7883017"/>
                  </a:cubicBezTo>
                  <a:close/>
                </a:path>
              </a:pathLst>
            </a:custGeom>
            <a:solidFill>
              <a:srgbClr val="FFFFFF"/>
            </a:solidFill>
            <a:ln w="23831" cap="sq">
              <a:solidFill>
                <a:srgbClr val="2F8F4E"/>
              </a:solidFill>
              <a:prstDash val="solid"/>
              <a:miter/>
            </a:ln>
          </p:spPr>
        </p:sp>
      </p:grpSp>
      <p:grpSp>
        <p:nvGrpSpPr>
          <p:cNvPr name="Group 20" id="20"/>
          <p:cNvGrpSpPr/>
          <p:nvPr/>
        </p:nvGrpSpPr>
        <p:grpSpPr>
          <a:xfrm rot="0">
            <a:off x="1019975" y="3833946"/>
            <a:ext cx="5317579" cy="664216"/>
            <a:chOff x="0" y="0"/>
            <a:chExt cx="7090105" cy="885622"/>
          </a:xfrm>
        </p:grpSpPr>
        <p:sp>
          <p:nvSpPr>
            <p:cNvPr name="Freeform 21" id="21"/>
            <p:cNvSpPr/>
            <p:nvPr/>
          </p:nvSpPr>
          <p:spPr>
            <a:xfrm flipH="false" flipV="false" rot="0">
              <a:off x="0" y="0"/>
              <a:ext cx="7090156" cy="885571"/>
            </a:xfrm>
            <a:custGeom>
              <a:avLst/>
              <a:gdLst/>
              <a:ahLst/>
              <a:cxnLst/>
              <a:rect r="r" b="b" t="t" l="l"/>
              <a:pathLst>
                <a:path h="885571" w="7090156">
                  <a:moveTo>
                    <a:pt x="0" y="0"/>
                  </a:moveTo>
                  <a:lnTo>
                    <a:pt x="7090156" y="0"/>
                  </a:lnTo>
                  <a:lnTo>
                    <a:pt x="7090156" y="885571"/>
                  </a:lnTo>
                  <a:lnTo>
                    <a:pt x="0" y="885571"/>
                  </a:lnTo>
                  <a:close/>
                </a:path>
              </a:pathLst>
            </a:custGeom>
            <a:solidFill>
              <a:srgbClr val="2F8F4E"/>
            </a:solidFill>
            <a:ln w="19065" cap="sq">
              <a:solidFill>
                <a:srgbClr val="2F8F4E"/>
              </a:solidFill>
              <a:prstDash val="solid"/>
              <a:miter/>
            </a:ln>
          </p:spPr>
        </p:sp>
      </p:grpSp>
      <p:grpSp>
        <p:nvGrpSpPr>
          <p:cNvPr name="Group 22" id="22"/>
          <p:cNvGrpSpPr/>
          <p:nvPr/>
        </p:nvGrpSpPr>
        <p:grpSpPr>
          <a:xfrm rot="0">
            <a:off x="1019975" y="3078985"/>
            <a:ext cx="5317579" cy="1419187"/>
            <a:chOff x="0" y="0"/>
            <a:chExt cx="7090105" cy="1892249"/>
          </a:xfrm>
        </p:grpSpPr>
        <p:sp>
          <p:nvSpPr>
            <p:cNvPr name="Freeform 23" id="23"/>
            <p:cNvSpPr/>
            <p:nvPr/>
          </p:nvSpPr>
          <p:spPr>
            <a:xfrm flipH="false" flipV="false" rot="0">
              <a:off x="0" y="0"/>
              <a:ext cx="7090029" cy="1892173"/>
            </a:xfrm>
            <a:custGeom>
              <a:avLst/>
              <a:gdLst/>
              <a:ahLst/>
              <a:cxnLst/>
              <a:rect r="r" b="b" t="t" l="l"/>
              <a:pathLst>
                <a:path h="1892173" w="7090029">
                  <a:moveTo>
                    <a:pt x="0" y="111252"/>
                  </a:moveTo>
                  <a:cubicBezTo>
                    <a:pt x="0" y="49784"/>
                    <a:pt x="49784" y="0"/>
                    <a:pt x="111252" y="0"/>
                  </a:cubicBezTo>
                  <a:lnTo>
                    <a:pt x="6978777" y="0"/>
                  </a:lnTo>
                  <a:cubicBezTo>
                    <a:pt x="7040245" y="0"/>
                    <a:pt x="7090029" y="49784"/>
                    <a:pt x="7090029" y="111252"/>
                  </a:cubicBezTo>
                  <a:lnTo>
                    <a:pt x="7090029" y="1780921"/>
                  </a:lnTo>
                  <a:cubicBezTo>
                    <a:pt x="7090029" y="1842389"/>
                    <a:pt x="7040245" y="1892173"/>
                    <a:pt x="6978777" y="1892173"/>
                  </a:cubicBezTo>
                  <a:lnTo>
                    <a:pt x="111252" y="1892173"/>
                  </a:lnTo>
                  <a:cubicBezTo>
                    <a:pt x="49784" y="1892300"/>
                    <a:pt x="0" y="1842389"/>
                    <a:pt x="0" y="1780921"/>
                  </a:cubicBezTo>
                  <a:close/>
                </a:path>
              </a:pathLst>
            </a:custGeom>
            <a:solidFill>
              <a:srgbClr val="2F8F4E"/>
            </a:solidFill>
            <a:ln w="19065" cap="sq">
              <a:solidFill>
                <a:srgbClr val="2F8F4E"/>
              </a:solidFill>
              <a:prstDash val="solid"/>
              <a:miter/>
            </a:ln>
          </p:spPr>
        </p:sp>
      </p:grpSp>
      <p:grpSp>
        <p:nvGrpSpPr>
          <p:cNvPr name="Group 24" id="24"/>
          <p:cNvGrpSpPr/>
          <p:nvPr/>
        </p:nvGrpSpPr>
        <p:grpSpPr>
          <a:xfrm rot="0">
            <a:off x="1304039" y="3225784"/>
            <a:ext cx="4749451" cy="1180500"/>
            <a:chOff x="0" y="0"/>
            <a:chExt cx="6332601" cy="1574000"/>
          </a:xfrm>
        </p:grpSpPr>
        <p:sp>
          <p:nvSpPr>
            <p:cNvPr name="Freeform 25" id="25"/>
            <p:cNvSpPr/>
            <p:nvPr/>
          </p:nvSpPr>
          <p:spPr>
            <a:xfrm flipH="false" flipV="false" rot="0">
              <a:off x="0" y="0"/>
              <a:ext cx="6332595" cy="1573998"/>
            </a:xfrm>
            <a:custGeom>
              <a:avLst/>
              <a:gdLst/>
              <a:ahLst/>
              <a:cxnLst/>
              <a:rect r="r" b="b" t="t" l="l"/>
              <a:pathLst>
                <a:path h="1573998" w="6332595">
                  <a:moveTo>
                    <a:pt x="0" y="0"/>
                  </a:moveTo>
                  <a:lnTo>
                    <a:pt x="6332595" y="0"/>
                  </a:lnTo>
                  <a:lnTo>
                    <a:pt x="6332595" y="1573998"/>
                  </a:lnTo>
                  <a:lnTo>
                    <a:pt x="0" y="1573998"/>
                  </a:lnTo>
                  <a:close/>
                </a:path>
              </a:pathLst>
            </a:custGeom>
            <a:blipFill>
              <a:blip r:embed="rId3">
                <a:alphaModFix amt="0"/>
              </a:blip>
              <a:stretch>
                <a:fillRect l="0" t="-28393" r="0" b="-28393"/>
              </a:stretch>
            </a:blipFill>
          </p:spPr>
        </p:sp>
        <p:sp>
          <p:nvSpPr>
            <p:cNvPr name="TextBox 26" id="26"/>
            <p:cNvSpPr txBox="true"/>
            <p:nvPr/>
          </p:nvSpPr>
          <p:spPr>
            <a:xfrm>
              <a:off x="0" y="19050"/>
              <a:ext cx="6332601" cy="1554950"/>
            </a:xfrm>
            <a:prstGeom prst="rect">
              <a:avLst/>
            </a:prstGeom>
          </p:spPr>
          <p:txBody>
            <a:bodyPr anchor="ctr" rtlCol="false" tIns="0" lIns="0" bIns="0" rIns="0"/>
            <a:lstStyle/>
            <a:p>
              <a:pPr algn="l">
                <a:lnSpc>
                  <a:spcPts val="4449"/>
                </a:lnSpc>
              </a:pPr>
              <a:r>
                <a:rPr lang="en-US" sz="3903" b="true">
                  <a:solidFill>
                    <a:srgbClr val="FFFFFF"/>
                  </a:solidFill>
                  <a:latin typeface="Montserrat Bold"/>
                  <a:ea typeface="Montserrat Bold"/>
                  <a:cs typeface="Montserrat Bold"/>
                  <a:sym typeface="Montserrat Bold"/>
                </a:rPr>
                <a:t>AFB I</a:t>
              </a:r>
            </a:p>
            <a:p>
              <a:pPr algn="l">
                <a:lnSpc>
                  <a:spcPts val="2224"/>
                </a:lnSpc>
              </a:pPr>
              <a:r>
                <a:rPr lang="en-US" sz="1951" b="true">
                  <a:solidFill>
                    <a:srgbClr val="FFFFFF"/>
                  </a:solidFill>
                  <a:latin typeface="Montserrat Bold"/>
                  <a:ea typeface="Montserrat Bold"/>
                  <a:cs typeface="Montserrat Bold"/>
                  <a:sym typeface="Montserrat Bold"/>
                </a:rPr>
                <a:t>Reproduktion</a:t>
              </a:r>
            </a:p>
          </p:txBody>
        </p:sp>
      </p:grpSp>
      <p:grpSp>
        <p:nvGrpSpPr>
          <p:cNvPr name="Group 27" id="27"/>
          <p:cNvGrpSpPr/>
          <p:nvPr/>
        </p:nvGrpSpPr>
        <p:grpSpPr>
          <a:xfrm rot="0">
            <a:off x="1304039" y="4735716"/>
            <a:ext cx="4749451" cy="549069"/>
            <a:chOff x="0" y="0"/>
            <a:chExt cx="6332601" cy="732092"/>
          </a:xfrm>
        </p:grpSpPr>
        <p:sp>
          <p:nvSpPr>
            <p:cNvPr name="Freeform 28" id="28"/>
            <p:cNvSpPr/>
            <p:nvPr/>
          </p:nvSpPr>
          <p:spPr>
            <a:xfrm flipH="false" flipV="false" rot="0">
              <a:off x="0" y="0"/>
              <a:ext cx="6332595" cy="732092"/>
            </a:xfrm>
            <a:custGeom>
              <a:avLst/>
              <a:gdLst/>
              <a:ahLst/>
              <a:cxnLst/>
              <a:rect r="r" b="b" t="t" l="l"/>
              <a:pathLst>
                <a:path h="732092" w="6332595">
                  <a:moveTo>
                    <a:pt x="0" y="0"/>
                  </a:moveTo>
                  <a:lnTo>
                    <a:pt x="6332595" y="0"/>
                  </a:lnTo>
                  <a:lnTo>
                    <a:pt x="6332595" y="732092"/>
                  </a:lnTo>
                  <a:lnTo>
                    <a:pt x="0" y="732092"/>
                  </a:lnTo>
                  <a:close/>
                </a:path>
              </a:pathLst>
            </a:custGeom>
            <a:blipFill>
              <a:blip r:embed="rId3">
                <a:alphaModFix amt="0"/>
              </a:blip>
              <a:stretch>
                <a:fillRect l="0" t="-118545" r="0" b="-118545"/>
              </a:stretch>
            </a:blipFill>
          </p:spPr>
        </p:sp>
        <p:sp>
          <p:nvSpPr>
            <p:cNvPr name="TextBox 29" id="29"/>
            <p:cNvSpPr txBox="true"/>
            <p:nvPr/>
          </p:nvSpPr>
          <p:spPr>
            <a:xfrm>
              <a:off x="0" y="0"/>
              <a:ext cx="6332601" cy="732092"/>
            </a:xfrm>
            <a:prstGeom prst="rect">
              <a:avLst/>
            </a:prstGeom>
          </p:spPr>
          <p:txBody>
            <a:bodyPr anchor="ctr" rtlCol="false" tIns="0" lIns="0" bIns="0" rIns="0"/>
            <a:lstStyle/>
            <a:p>
              <a:pPr algn="l">
                <a:lnSpc>
                  <a:spcPts val="2521"/>
                </a:lnSpc>
              </a:pPr>
              <a:r>
                <a:rPr lang="en-US" sz="2101" b="true">
                  <a:solidFill>
                    <a:srgbClr val="2F8F4E"/>
                  </a:solidFill>
                  <a:latin typeface="Montserrat Bold"/>
                  <a:ea typeface="Montserrat Bold"/>
                  <a:cs typeface="Montserrat Bold"/>
                  <a:sym typeface="Montserrat Bold"/>
                </a:rPr>
                <a:t>1 Punkt / Element</a:t>
              </a:r>
            </a:p>
          </p:txBody>
        </p:sp>
      </p:grpSp>
      <p:grpSp>
        <p:nvGrpSpPr>
          <p:cNvPr name="Group 30" id="30"/>
          <p:cNvGrpSpPr/>
          <p:nvPr/>
        </p:nvGrpSpPr>
        <p:grpSpPr>
          <a:xfrm rot="0">
            <a:off x="1304039" y="5449510"/>
            <a:ext cx="4749451" cy="411804"/>
            <a:chOff x="0" y="0"/>
            <a:chExt cx="6332601" cy="549072"/>
          </a:xfrm>
        </p:grpSpPr>
        <p:sp>
          <p:nvSpPr>
            <p:cNvPr name="Freeform 31" id="31"/>
            <p:cNvSpPr/>
            <p:nvPr/>
          </p:nvSpPr>
          <p:spPr>
            <a:xfrm flipH="false" flipV="false" rot="0">
              <a:off x="0" y="0"/>
              <a:ext cx="6332595" cy="549069"/>
            </a:xfrm>
            <a:custGeom>
              <a:avLst/>
              <a:gdLst/>
              <a:ahLst/>
              <a:cxnLst/>
              <a:rect r="r" b="b" t="t" l="l"/>
              <a:pathLst>
                <a:path h="549069" w="6332595">
                  <a:moveTo>
                    <a:pt x="0" y="0"/>
                  </a:moveTo>
                  <a:lnTo>
                    <a:pt x="6332595" y="0"/>
                  </a:lnTo>
                  <a:lnTo>
                    <a:pt x="6332595" y="549069"/>
                  </a:lnTo>
                  <a:lnTo>
                    <a:pt x="0" y="549069"/>
                  </a:lnTo>
                  <a:close/>
                </a:path>
              </a:pathLst>
            </a:custGeom>
            <a:blipFill>
              <a:blip r:embed="rId3">
                <a:alphaModFix amt="0"/>
              </a:blip>
              <a:stretch>
                <a:fillRect l="0" t="-174727" r="0" b="-174727"/>
              </a:stretch>
            </a:blipFill>
          </p:spPr>
        </p:sp>
        <p:sp>
          <p:nvSpPr>
            <p:cNvPr name="TextBox 32" id="32"/>
            <p:cNvSpPr txBox="true"/>
            <p:nvPr/>
          </p:nvSpPr>
          <p:spPr>
            <a:xfrm>
              <a:off x="0" y="0"/>
              <a:ext cx="6332601" cy="549072"/>
            </a:xfrm>
            <a:prstGeom prst="rect">
              <a:avLst/>
            </a:prstGeom>
          </p:spPr>
          <p:txBody>
            <a:bodyPr anchor="ctr" rtlCol="false" tIns="0" lIns="0" bIns="0" rIns="0"/>
            <a:lstStyle/>
            <a:p>
              <a:pPr algn="l">
                <a:lnSpc>
                  <a:spcPts val="1891"/>
                </a:lnSpc>
              </a:pPr>
              <a:r>
                <a:rPr lang="en-US" b="true" sz="1576" spc="150">
                  <a:solidFill>
                    <a:srgbClr val="6B7280"/>
                  </a:solidFill>
                  <a:latin typeface="Montserrat Bold"/>
                  <a:ea typeface="Montserrat Bold"/>
                  <a:cs typeface="Montserrat Bold"/>
                  <a:sym typeface="Montserrat Bold"/>
                </a:rPr>
                <a:t>Operatoren</a:t>
              </a:r>
            </a:p>
          </p:txBody>
        </p:sp>
      </p:grpSp>
      <p:sp>
        <p:nvSpPr>
          <p:cNvPr name="TextBox 33" id="33"/>
          <p:cNvSpPr txBox="true"/>
          <p:nvPr/>
        </p:nvSpPr>
        <p:spPr>
          <a:xfrm rot="0">
            <a:off x="1304039" y="5833853"/>
            <a:ext cx="4749451" cy="1304039"/>
          </a:xfrm>
          <a:prstGeom prst="rect">
            <a:avLst/>
          </a:prstGeom>
        </p:spPr>
        <p:txBody>
          <a:bodyPr anchor="t" rtlCol="false" tIns="0" lIns="0" bIns="0" rIns="0">
            <a:spAutoFit/>
          </a:bodyPr>
          <a:lstStyle/>
          <a:p>
            <a:pPr algn="l">
              <a:lnSpc>
                <a:spcPts val="2251"/>
              </a:lnSpc>
            </a:pPr>
            <a:r>
              <a:rPr lang="en-US" sz="1876">
                <a:solidFill>
                  <a:srgbClr val="23262B"/>
                </a:solidFill>
                <a:latin typeface="DM Sans"/>
                <a:ea typeface="DM Sans"/>
                <a:cs typeface="DM Sans"/>
                <a:sym typeface="DM Sans"/>
              </a:rPr>
              <a:t>nennen · benennen · identifizieren · aufzählen</a:t>
            </a:r>
          </a:p>
        </p:txBody>
      </p:sp>
      <p:grpSp>
        <p:nvGrpSpPr>
          <p:cNvPr name="Group 34" id="34"/>
          <p:cNvGrpSpPr/>
          <p:nvPr/>
        </p:nvGrpSpPr>
        <p:grpSpPr>
          <a:xfrm rot="0">
            <a:off x="1304039" y="7179078"/>
            <a:ext cx="4749451" cy="411804"/>
            <a:chOff x="0" y="0"/>
            <a:chExt cx="6332601" cy="549072"/>
          </a:xfrm>
        </p:grpSpPr>
        <p:sp>
          <p:nvSpPr>
            <p:cNvPr name="Freeform 35" id="35"/>
            <p:cNvSpPr/>
            <p:nvPr/>
          </p:nvSpPr>
          <p:spPr>
            <a:xfrm flipH="false" flipV="false" rot="0">
              <a:off x="0" y="0"/>
              <a:ext cx="6332595" cy="549069"/>
            </a:xfrm>
            <a:custGeom>
              <a:avLst/>
              <a:gdLst/>
              <a:ahLst/>
              <a:cxnLst/>
              <a:rect r="r" b="b" t="t" l="l"/>
              <a:pathLst>
                <a:path h="549069" w="6332595">
                  <a:moveTo>
                    <a:pt x="0" y="0"/>
                  </a:moveTo>
                  <a:lnTo>
                    <a:pt x="6332595" y="0"/>
                  </a:lnTo>
                  <a:lnTo>
                    <a:pt x="6332595" y="549069"/>
                  </a:lnTo>
                  <a:lnTo>
                    <a:pt x="0" y="549069"/>
                  </a:lnTo>
                  <a:close/>
                </a:path>
              </a:pathLst>
            </a:custGeom>
            <a:blipFill>
              <a:blip r:embed="rId3">
                <a:alphaModFix amt="0"/>
              </a:blip>
              <a:stretch>
                <a:fillRect l="0" t="-174727" r="0" b="-174727"/>
              </a:stretch>
            </a:blipFill>
          </p:spPr>
        </p:sp>
        <p:sp>
          <p:nvSpPr>
            <p:cNvPr name="TextBox 36" id="36"/>
            <p:cNvSpPr txBox="true"/>
            <p:nvPr/>
          </p:nvSpPr>
          <p:spPr>
            <a:xfrm>
              <a:off x="0" y="0"/>
              <a:ext cx="6332601" cy="549072"/>
            </a:xfrm>
            <a:prstGeom prst="rect">
              <a:avLst/>
            </a:prstGeom>
          </p:spPr>
          <p:txBody>
            <a:bodyPr anchor="ctr" rtlCol="false" tIns="0" lIns="0" bIns="0" rIns="0"/>
            <a:lstStyle/>
            <a:p>
              <a:pPr algn="l">
                <a:lnSpc>
                  <a:spcPts val="1891"/>
                </a:lnSpc>
              </a:pPr>
              <a:r>
                <a:rPr lang="en-US" b="true" sz="1576" spc="150">
                  <a:solidFill>
                    <a:srgbClr val="6B7280"/>
                  </a:solidFill>
                  <a:latin typeface="Montserrat Bold"/>
                  <a:ea typeface="Montserrat Bold"/>
                  <a:cs typeface="Montserrat Bold"/>
                  <a:sym typeface="Montserrat Bold"/>
                </a:rPr>
                <a:t>Erwartung</a:t>
              </a:r>
            </a:p>
          </p:txBody>
        </p:sp>
      </p:grpSp>
      <p:sp>
        <p:nvSpPr>
          <p:cNvPr name="TextBox 37" id="37"/>
          <p:cNvSpPr txBox="true"/>
          <p:nvPr/>
        </p:nvSpPr>
        <p:spPr>
          <a:xfrm rot="0">
            <a:off x="1304039" y="7572946"/>
            <a:ext cx="4749451" cy="1363151"/>
          </a:xfrm>
          <a:prstGeom prst="rect">
            <a:avLst/>
          </a:prstGeom>
        </p:spPr>
        <p:txBody>
          <a:bodyPr anchor="t" rtlCol="false" tIns="0" lIns="0" bIns="0" rIns="0">
            <a:spAutoFit/>
          </a:bodyPr>
          <a:lstStyle/>
          <a:p>
            <a:pPr algn="l">
              <a:lnSpc>
                <a:spcPts val="2071"/>
              </a:lnSpc>
            </a:pPr>
            <a:r>
              <a:rPr lang="en-US" sz="1726">
                <a:solidFill>
                  <a:srgbClr val="23262B"/>
                </a:solidFill>
                <a:latin typeface="DM Sans"/>
                <a:ea typeface="DM Sans"/>
                <a:cs typeface="DM Sans"/>
                <a:sym typeface="DM Sans"/>
              </a:rPr>
              <a:t>Korrekte Fachbegriffe in der geforderten Anzahl. Stichworte genügen, keine Begründung. Nur die ersten n zählen.</a:t>
            </a:r>
          </a:p>
        </p:txBody>
      </p:sp>
      <p:grpSp>
        <p:nvGrpSpPr>
          <p:cNvPr name="Group 38" id="38"/>
          <p:cNvGrpSpPr/>
          <p:nvPr/>
        </p:nvGrpSpPr>
        <p:grpSpPr>
          <a:xfrm rot="0">
            <a:off x="6700456" y="3076594"/>
            <a:ext cx="5322351" cy="5994959"/>
            <a:chOff x="0" y="0"/>
            <a:chExt cx="7096468" cy="7993278"/>
          </a:xfrm>
        </p:grpSpPr>
        <p:sp>
          <p:nvSpPr>
            <p:cNvPr name="Freeform 39" id="39"/>
            <p:cNvSpPr/>
            <p:nvPr/>
          </p:nvSpPr>
          <p:spPr>
            <a:xfrm flipH="false" flipV="false" rot="0">
              <a:off x="0" y="0"/>
              <a:ext cx="7096379" cy="7993253"/>
            </a:xfrm>
            <a:custGeom>
              <a:avLst/>
              <a:gdLst/>
              <a:ahLst/>
              <a:cxnLst/>
              <a:rect r="r" b="b" t="t" l="l"/>
              <a:pathLst>
                <a:path h="7993253" w="7096379">
                  <a:moveTo>
                    <a:pt x="0" y="110236"/>
                  </a:moveTo>
                  <a:cubicBezTo>
                    <a:pt x="0" y="49403"/>
                    <a:pt x="49403" y="0"/>
                    <a:pt x="110236" y="0"/>
                  </a:cubicBezTo>
                  <a:lnTo>
                    <a:pt x="6986143" y="0"/>
                  </a:lnTo>
                  <a:cubicBezTo>
                    <a:pt x="7047103" y="0"/>
                    <a:pt x="7096379" y="49403"/>
                    <a:pt x="7096379" y="110236"/>
                  </a:cubicBezTo>
                  <a:lnTo>
                    <a:pt x="7096379" y="7883017"/>
                  </a:lnTo>
                  <a:cubicBezTo>
                    <a:pt x="7096379" y="7943977"/>
                    <a:pt x="7046976" y="7993253"/>
                    <a:pt x="6986143" y="7993253"/>
                  </a:cubicBezTo>
                  <a:lnTo>
                    <a:pt x="110236" y="7993253"/>
                  </a:lnTo>
                  <a:cubicBezTo>
                    <a:pt x="49276" y="7993253"/>
                    <a:pt x="0" y="7943850"/>
                    <a:pt x="0" y="7883017"/>
                  </a:cubicBezTo>
                  <a:close/>
                </a:path>
              </a:pathLst>
            </a:custGeom>
            <a:solidFill>
              <a:srgbClr val="FFFFFF"/>
            </a:solidFill>
            <a:ln w="23831" cap="sq">
              <a:solidFill>
                <a:srgbClr val="C8641E"/>
              </a:solidFill>
              <a:prstDash val="solid"/>
              <a:miter/>
            </a:ln>
          </p:spPr>
        </p:sp>
      </p:grpSp>
      <p:grpSp>
        <p:nvGrpSpPr>
          <p:cNvPr name="Group 40" id="40"/>
          <p:cNvGrpSpPr/>
          <p:nvPr/>
        </p:nvGrpSpPr>
        <p:grpSpPr>
          <a:xfrm rot="0">
            <a:off x="6702838" y="3833946"/>
            <a:ext cx="5317579" cy="664216"/>
            <a:chOff x="0" y="0"/>
            <a:chExt cx="7090105" cy="885622"/>
          </a:xfrm>
        </p:grpSpPr>
        <p:sp>
          <p:nvSpPr>
            <p:cNvPr name="Freeform 41" id="41"/>
            <p:cNvSpPr/>
            <p:nvPr/>
          </p:nvSpPr>
          <p:spPr>
            <a:xfrm flipH="false" flipV="false" rot="0">
              <a:off x="0" y="0"/>
              <a:ext cx="7090156" cy="885571"/>
            </a:xfrm>
            <a:custGeom>
              <a:avLst/>
              <a:gdLst/>
              <a:ahLst/>
              <a:cxnLst/>
              <a:rect r="r" b="b" t="t" l="l"/>
              <a:pathLst>
                <a:path h="885571" w="7090156">
                  <a:moveTo>
                    <a:pt x="0" y="0"/>
                  </a:moveTo>
                  <a:lnTo>
                    <a:pt x="7090156" y="0"/>
                  </a:lnTo>
                  <a:lnTo>
                    <a:pt x="7090156" y="885571"/>
                  </a:lnTo>
                  <a:lnTo>
                    <a:pt x="0" y="885571"/>
                  </a:lnTo>
                  <a:close/>
                </a:path>
              </a:pathLst>
            </a:custGeom>
            <a:solidFill>
              <a:srgbClr val="C8641E"/>
            </a:solidFill>
            <a:ln w="19065" cap="sq">
              <a:solidFill>
                <a:srgbClr val="C8641E"/>
              </a:solidFill>
              <a:prstDash val="solid"/>
              <a:miter/>
            </a:ln>
          </p:spPr>
        </p:sp>
      </p:grpSp>
      <p:grpSp>
        <p:nvGrpSpPr>
          <p:cNvPr name="Group 42" id="42"/>
          <p:cNvGrpSpPr/>
          <p:nvPr/>
        </p:nvGrpSpPr>
        <p:grpSpPr>
          <a:xfrm rot="0">
            <a:off x="6702838" y="3078985"/>
            <a:ext cx="5317579" cy="1419187"/>
            <a:chOff x="0" y="0"/>
            <a:chExt cx="7090105" cy="1892249"/>
          </a:xfrm>
        </p:grpSpPr>
        <p:sp>
          <p:nvSpPr>
            <p:cNvPr name="Freeform 43" id="43"/>
            <p:cNvSpPr/>
            <p:nvPr/>
          </p:nvSpPr>
          <p:spPr>
            <a:xfrm flipH="false" flipV="false" rot="0">
              <a:off x="0" y="0"/>
              <a:ext cx="7090029" cy="1892173"/>
            </a:xfrm>
            <a:custGeom>
              <a:avLst/>
              <a:gdLst/>
              <a:ahLst/>
              <a:cxnLst/>
              <a:rect r="r" b="b" t="t" l="l"/>
              <a:pathLst>
                <a:path h="1892173" w="7090029">
                  <a:moveTo>
                    <a:pt x="0" y="111252"/>
                  </a:moveTo>
                  <a:cubicBezTo>
                    <a:pt x="0" y="49784"/>
                    <a:pt x="49784" y="0"/>
                    <a:pt x="111252" y="0"/>
                  </a:cubicBezTo>
                  <a:lnTo>
                    <a:pt x="6978777" y="0"/>
                  </a:lnTo>
                  <a:cubicBezTo>
                    <a:pt x="7040245" y="0"/>
                    <a:pt x="7090029" y="49784"/>
                    <a:pt x="7090029" y="111252"/>
                  </a:cubicBezTo>
                  <a:lnTo>
                    <a:pt x="7090029" y="1780921"/>
                  </a:lnTo>
                  <a:cubicBezTo>
                    <a:pt x="7090029" y="1842389"/>
                    <a:pt x="7040245" y="1892173"/>
                    <a:pt x="6978777" y="1892173"/>
                  </a:cubicBezTo>
                  <a:lnTo>
                    <a:pt x="111252" y="1892173"/>
                  </a:lnTo>
                  <a:cubicBezTo>
                    <a:pt x="49784" y="1892300"/>
                    <a:pt x="0" y="1842389"/>
                    <a:pt x="0" y="1780921"/>
                  </a:cubicBezTo>
                  <a:close/>
                </a:path>
              </a:pathLst>
            </a:custGeom>
            <a:solidFill>
              <a:srgbClr val="C8641E"/>
            </a:solidFill>
            <a:ln w="19065" cap="sq">
              <a:solidFill>
                <a:srgbClr val="C8641E"/>
              </a:solidFill>
              <a:prstDash val="solid"/>
              <a:miter/>
            </a:ln>
          </p:spPr>
        </p:sp>
      </p:grpSp>
      <p:grpSp>
        <p:nvGrpSpPr>
          <p:cNvPr name="Group 44" id="44"/>
          <p:cNvGrpSpPr/>
          <p:nvPr/>
        </p:nvGrpSpPr>
        <p:grpSpPr>
          <a:xfrm rot="0">
            <a:off x="6986902" y="3225784"/>
            <a:ext cx="4749451" cy="1180500"/>
            <a:chOff x="0" y="0"/>
            <a:chExt cx="6332601" cy="1574000"/>
          </a:xfrm>
        </p:grpSpPr>
        <p:sp>
          <p:nvSpPr>
            <p:cNvPr name="Freeform 45" id="45"/>
            <p:cNvSpPr/>
            <p:nvPr/>
          </p:nvSpPr>
          <p:spPr>
            <a:xfrm flipH="false" flipV="false" rot="0">
              <a:off x="0" y="0"/>
              <a:ext cx="6332595" cy="1573998"/>
            </a:xfrm>
            <a:custGeom>
              <a:avLst/>
              <a:gdLst/>
              <a:ahLst/>
              <a:cxnLst/>
              <a:rect r="r" b="b" t="t" l="l"/>
              <a:pathLst>
                <a:path h="1573998" w="6332595">
                  <a:moveTo>
                    <a:pt x="0" y="0"/>
                  </a:moveTo>
                  <a:lnTo>
                    <a:pt x="6332595" y="0"/>
                  </a:lnTo>
                  <a:lnTo>
                    <a:pt x="6332595" y="1573998"/>
                  </a:lnTo>
                  <a:lnTo>
                    <a:pt x="0" y="1573998"/>
                  </a:lnTo>
                  <a:close/>
                </a:path>
              </a:pathLst>
            </a:custGeom>
            <a:blipFill>
              <a:blip r:embed="rId3">
                <a:alphaModFix amt="0"/>
              </a:blip>
              <a:stretch>
                <a:fillRect l="0" t="-28393" r="0" b="-28393"/>
              </a:stretch>
            </a:blipFill>
          </p:spPr>
        </p:sp>
        <p:sp>
          <p:nvSpPr>
            <p:cNvPr name="TextBox 46" id="46"/>
            <p:cNvSpPr txBox="true"/>
            <p:nvPr/>
          </p:nvSpPr>
          <p:spPr>
            <a:xfrm>
              <a:off x="0" y="19050"/>
              <a:ext cx="6332601" cy="1554950"/>
            </a:xfrm>
            <a:prstGeom prst="rect">
              <a:avLst/>
            </a:prstGeom>
          </p:spPr>
          <p:txBody>
            <a:bodyPr anchor="ctr" rtlCol="false" tIns="0" lIns="0" bIns="0" rIns="0"/>
            <a:lstStyle/>
            <a:p>
              <a:pPr algn="l">
                <a:lnSpc>
                  <a:spcPts val="4449"/>
                </a:lnSpc>
              </a:pPr>
              <a:r>
                <a:rPr lang="en-US" sz="3903" b="true">
                  <a:solidFill>
                    <a:srgbClr val="FFFFFF"/>
                  </a:solidFill>
                  <a:latin typeface="Montserrat Bold"/>
                  <a:ea typeface="Montserrat Bold"/>
                  <a:cs typeface="Montserrat Bold"/>
                  <a:sym typeface="Montserrat Bold"/>
                </a:rPr>
                <a:t>AFB II</a:t>
              </a:r>
            </a:p>
            <a:p>
              <a:pPr algn="l">
                <a:lnSpc>
                  <a:spcPts val="2224"/>
                </a:lnSpc>
              </a:pPr>
              <a:r>
                <a:rPr lang="en-US" sz="1951" b="true">
                  <a:solidFill>
                    <a:srgbClr val="FFFFFF"/>
                  </a:solidFill>
                  <a:latin typeface="Montserrat Bold"/>
                  <a:ea typeface="Montserrat Bold"/>
                  <a:cs typeface="Montserrat Bold"/>
                  <a:sym typeface="Montserrat Bold"/>
                </a:rPr>
                <a:t>Reorganisation &amp; Anwendung</a:t>
              </a:r>
            </a:p>
          </p:txBody>
        </p:sp>
      </p:grpSp>
      <p:grpSp>
        <p:nvGrpSpPr>
          <p:cNvPr name="Group 47" id="47"/>
          <p:cNvGrpSpPr/>
          <p:nvPr/>
        </p:nvGrpSpPr>
        <p:grpSpPr>
          <a:xfrm rot="0">
            <a:off x="6986902" y="4735716"/>
            <a:ext cx="4749451" cy="549069"/>
            <a:chOff x="0" y="0"/>
            <a:chExt cx="6332601" cy="732092"/>
          </a:xfrm>
        </p:grpSpPr>
        <p:sp>
          <p:nvSpPr>
            <p:cNvPr name="Freeform 48" id="48"/>
            <p:cNvSpPr/>
            <p:nvPr/>
          </p:nvSpPr>
          <p:spPr>
            <a:xfrm flipH="false" flipV="false" rot="0">
              <a:off x="0" y="0"/>
              <a:ext cx="6332595" cy="732092"/>
            </a:xfrm>
            <a:custGeom>
              <a:avLst/>
              <a:gdLst/>
              <a:ahLst/>
              <a:cxnLst/>
              <a:rect r="r" b="b" t="t" l="l"/>
              <a:pathLst>
                <a:path h="732092" w="6332595">
                  <a:moveTo>
                    <a:pt x="0" y="0"/>
                  </a:moveTo>
                  <a:lnTo>
                    <a:pt x="6332595" y="0"/>
                  </a:lnTo>
                  <a:lnTo>
                    <a:pt x="6332595" y="732092"/>
                  </a:lnTo>
                  <a:lnTo>
                    <a:pt x="0" y="732092"/>
                  </a:lnTo>
                  <a:close/>
                </a:path>
              </a:pathLst>
            </a:custGeom>
            <a:blipFill>
              <a:blip r:embed="rId3">
                <a:alphaModFix amt="0"/>
              </a:blip>
              <a:stretch>
                <a:fillRect l="0" t="-118545" r="0" b="-118545"/>
              </a:stretch>
            </a:blipFill>
          </p:spPr>
        </p:sp>
        <p:sp>
          <p:nvSpPr>
            <p:cNvPr name="TextBox 49" id="49"/>
            <p:cNvSpPr txBox="true"/>
            <p:nvPr/>
          </p:nvSpPr>
          <p:spPr>
            <a:xfrm>
              <a:off x="0" y="0"/>
              <a:ext cx="6332601" cy="732092"/>
            </a:xfrm>
            <a:prstGeom prst="rect">
              <a:avLst/>
            </a:prstGeom>
          </p:spPr>
          <p:txBody>
            <a:bodyPr anchor="ctr" rtlCol="false" tIns="0" lIns="0" bIns="0" rIns="0"/>
            <a:lstStyle/>
            <a:p>
              <a:pPr algn="l">
                <a:lnSpc>
                  <a:spcPts val="2521"/>
                </a:lnSpc>
              </a:pPr>
              <a:r>
                <a:rPr lang="en-US" sz="2101" b="true">
                  <a:solidFill>
                    <a:srgbClr val="C8641E"/>
                  </a:solidFill>
                  <a:latin typeface="Montserrat Bold"/>
                  <a:ea typeface="Montserrat Bold"/>
                  <a:cs typeface="Montserrat Bold"/>
                  <a:sym typeface="Montserrat Bold"/>
                </a:rPr>
                <a:t>2 Punkte / Element</a:t>
              </a:r>
            </a:p>
          </p:txBody>
        </p:sp>
      </p:grpSp>
      <p:grpSp>
        <p:nvGrpSpPr>
          <p:cNvPr name="Group 50" id="50"/>
          <p:cNvGrpSpPr/>
          <p:nvPr/>
        </p:nvGrpSpPr>
        <p:grpSpPr>
          <a:xfrm rot="0">
            <a:off x="6986902" y="5449510"/>
            <a:ext cx="4749451" cy="411804"/>
            <a:chOff x="0" y="0"/>
            <a:chExt cx="6332601" cy="549072"/>
          </a:xfrm>
        </p:grpSpPr>
        <p:sp>
          <p:nvSpPr>
            <p:cNvPr name="Freeform 51" id="51"/>
            <p:cNvSpPr/>
            <p:nvPr/>
          </p:nvSpPr>
          <p:spPr>
            <a:xfrm flipH="false" flipV="false" rot="0">
              <a:off x="0" y="0"/>
              <a:ext cx="6332595" cy="549069"/>
            </a:xfrm>
            <a:custGeom>
              <a:avLst/>
              <a:gdLst/>
              <a:ahLst/>
              <a:cxnLst/>
              <a:rect r="r" b="b" t="t" l="l"/>
              <a:pathLst>
                <a:path h="549069" w="6332595">
                  <a:moveTo>
                    <a:pt x="0" y="0"/>
                  </a:moveTo>
                  <a:lnTo>
                    <a:pt x="6332595" y="0"/>
                  </a:lnTo>
                  <a:lnTo>
                    <a:pt x="6332595" y="549069"/>
                  </a:lnTo>
                  <a:lnTo>
                    <a:pt x="0" y="549069"/>
                  </a:lnTo>
                  <a:close/>
                </a:path>
              </a:pathLst>
            </a:custGeom>
            <a:blipFill>
              <a:blip r:embed="rId3">
                <a:alphaModFix amt="0"/>
              </a:blip>
              <a:stretch>
                <a:fillRect l="0" t="-174727" r="0" b="-174727"/>
              </a:stretch>
            </a:blipFill>
          </p:spPr>
        </p:sp>
        <p:sp>
          <p:nvSpPr>
            <p:cNvPr name="TextBox 52" id="52"/>
            <p:cNvSpPr txBox="true"/>
            <p:nvPr/>
          </p:nvSpPr>
          <p:spPr>
            <a:xfrm>
              <a:off x="0" y="0"/>
              <a:ext cx="6332601" cy="549072"/>
            </a:xfrm>
            <a:prstGeom prst="rect">
              <a:avLst/>
            </a:prstGeom>
          </p:spPr>
          <p:txBody>
            <a:bodyPr anchor="ctr" rtlCol="false" tIns="0" lIns="0" bIns="0" rIns="0"/>
            <a:lstStyle/>
            <a:p>
              <a:pPr algn="l">
                <a:lnSpc>
                  <a:spcPts val="1891"/>
                </a:lnSpc>
              </a:pPr>
              <a:r>
                <a:rPr lang="en-US" b="true" sz="1576" spc="150">
                  <a:solidFill>
                    <a:srgbClr val="6B7280"/>
                  </a:solidFill>
                  <a:latin typeface="Montserrat Bold"/>
                  <a:ea typeface="Montserrat Bold"/>
                  <a:cs typeface="Montserrat Bold"/>
                  <a:sym typeface="Montserrat Bold"/>
                </a:rPr>
                <a:t>Operatoren</a:t>
              </a:r>
            </a:p>
          </p:txBody>
        </p:sp>
      </p:grpSp>
      <p:sp>
        <p:nvSpPr>
          <p:cNvPr name="TextBox 53" id="53"/>
          <p:cNvSpPr txBox="true"/>
          <p:nvPr/>
        </p:nvSpPr>
        <p:spPr>
          <a:xfrm rot="0">
            <a:off x="6986902" y="5833853"/>
            <a:ext cx="4749451" cy="1304039"/>
          </a:xfrm>
          <a:prstGeom prst="rect">
            <a:avLst/>
          </a:prstGeom>
        </p:spPr>
        <p:txBody>
          <a:bodyPr anchor="t" rtlCol="false" tIns="0" lIns="0" bIns="0" rIns="0">
            <a:spAutoFit/>
          </a:bodyPr>
          <a:lstStyle/>
          <a:p>
            <a:pPr algn="l">
              <a:lnSpc>
                <a:spcPts val="2251"/>
              </a:lnSpc>
            </a:pPr>
            <a:r>
              <a:rPr lang="en-US" sz="1876">
                <a:solidFill>
                  <a:srgbClr val="23262B"/>
                </a:solidFill>
                <a:latin typeface="DM Sans"/>
                <a:ea typeface="DM Sans"/>
                <a:cs typeface="DM Sans"/>
                <a:sym typeface="DM Sans"/>
              </a:rPr>
              <a:t>erläutern · erklären · beschreiben · einordnen</a:t>
            </a:r>
          </a:p>
        </p:txBody>
      </p:sp>
      <p:grpSp>
        <p:nvGrpSpPr>
          <p:cNvPr name="Group 54" id="54"/>
          <p:cNvGrpSpPr/>
          <p:nvPr/>
        </p:nvGrpSpPr>
        <p:grpSpPr>
          <a:xfrm rot="0">
            <a:off x="6986902" y="7179078"/>
            <a:ext cx="4749451" cy="411804"/>
            <a:chOff x="0" y="0"/>
            <a:chExt cx="6332601" cy="549072"/>
          </a:xfrm>
        </p:grpSpPr>
        <p:sp>
          <p:nvSpPr>
            <p:cNvPr name="Freeform 55" id="55"/>
            <p:cNvSpPr/>
            <p:nvPr/>
          </p:nvSpPr>
          <p:spPr>
            <a:xfrm flipH="false" flipV="false" rot="0">
              <a:off x="0" y="0"/>
              <a:ext cx="6332595" cy="549069"/>
            </a:xfrm>
            <a:custGeom>
              <a:avLst/>
              <a:gdLst/>
              <a:ahLst/>
              <a:cxnLst/>
              <a:rect r="r" b="b" t="t" l="l"/>
              <a:pathLst>
                <a:path h="549069" w="6332595">
                  <a:moveTo>
                    <a:pt x="0" y="0"/>
                  </a:moveTo>
                  <a:lnTo>
                    <a:pt x="6332595" y="0"/>
                  </a:lnTo>
                  <a:lnTo>
                    <a:pt x="6332595" y="549069"/>
                  </a:lnTo>
                  <a:lnTo>
                    <a:pt x="0" y="549069"/>
                  </a:lnTo>
                  <a:close/>
                </a:path>
              </a:pathLst>
            </a:custGeom>
            <a:blipFill>
              <a:blip r:embed="rId3">
                <a:alphaModFix amt="0"/>
              </a:blip>
              <a:stretch>
                <a:fillRect l="0" t="-174727" r="0" b="-174727"/>
              </a:stretch>
            </a:blipFill>
          </p:spPr>
        </p:sp>
        <p:sp>
          <p:nvSpPr>
            <p:cNvPr name="TextBox 56" id="56"/>
            <p:cNvSpPr txBox="true"/>
            <p:nvPr/>
          </p:nvSpPr>
          <p:spPr>
            <a:xfrm>
              <a:off x="0" y="0"/>
              <a:ext cx="6332601" cy="549072"/>
            </a:xfrm>
            <a:prstGeom prst="rect">
              <a:avLst/>
            </a:prstGeom>
          </p:spPr>
          <p:txBody>
            <a:bodyPr anchor="ctr" rtlCol="false" tIns="0" lIns="0" bIns="0" rIns="0"/>
            <a:lstStyle/>
            <a:p>
              <a:pPr algn="l">
                <a:lnSpc>
                  <a:spcPts val="1891"/>
                </a:lnSpc>
              </a:pPr>
              <a:r>
                <a:rPr lang="en-US" b="true" sz="1576" spc="150">
                  <a:solidFill>
                    <a:srgbClr val="6B7280"/>
                  </a:solidFill>
                  <a:latin typeface="Montserrat Bold"/>
                  <a:ea typeface="Montserrat Bold"/>
                  <a:cs typeface="Montserrat Bold"/>
                  <a:sym typeface="Montserrat Bold"/>
                </a:rPr>
                <a:t>Erwartung</a:t>
              </a:r>
            </a:p>
          </p:txBody>
        </p:sp>
      </p:grpSp>
      <p:sp>
        <p:nvSpPr>
          <p:cNvPr name="TextBox 57" id="57"/>
          <p:cNvSpPr txBox="true"/>
          <p:nvPr/>
        </p:nvSpPr>
        <p:spPr>
          <a:xfrm rot="0">
            <a:off x="6986902" y="7572946"/>
            <a:ext cx="4749451" cy="1363151"/>
          </a:xfrm>
          <a:prstGeom prst="rect">
            <a:avLst/>
          </a:prstGeom>
        </p:spPr>
        <p:txBody>
          <a:bodyPr anchor="t" rtlCol="false" tIns="0" lIns="0" bIns="0" rIns="0">
            <a:spAutoFit/>
          </a:bodyPr>
          <a:lstStyle/>
          <a:p>
            <a:pPr algn="l">
              <a:lnSpc>
                <a:spcPts val="2071"/>
              </a:lnSpc>
            </a:pPr>
            <a:r>
              <a:rPr lang="en-US" sz="1726">
                <a:solidFill>
                  <a:srgbClr val="23262B"/>
                </a:solidFill>
                <a:latin typeface="DM Sans"/>
                <a:ea typeface="DM Sans"/>
                <a:cs typeface="DM Sans"/>
                <a:sym typeface="DM Sans"/>
              </a:rPr>
              <a:t>Je Element 1–2 erklärende Sätze (Funktion, Zweck, Fallbezug) – mehr als eine reine Nennung.</a:t>
            </a:r>
          </a:p>
        </p:txBody>
      </p:sp>
      <p:grpSp>
        <p:nvGrpSpPr>
          <p:cNvPr name="Group 58" id="58"/>
          <p:cNvGrpSpPr/>
          <p:nvPr/>
        </p:nvGrpSpPr>
        <p:grpSpPr>
          <a:xfrm rot="0">
            <a:off x="12383319" y="3076594"/>
            <a:ext cx="5322351" cy="5994959"/>
            <a:chOff x="0" y="0"/>
            <a:chExt cx="7096468" cy="7993278"/>
          </a:xfrm>
        </p:grpSpPr>
        <p:sp>
          <p:nvSpPr>
            <p:cNvPr name="Freeform 59" id="59"/>
            <p:cNvSpPr/>
            <p:nvPr/>
          </p:nvSpPr>
          <p:spPr>
            <a:xfrm flipH="false" flipV="false" rot="0">
              <a:off x="0" y="0"/>
              <a:ext cx="7096379" cy="7993253"/>
            </a:xfrm>
            <a:custGeom>
              <a:avLst/>
              <a:gdLst/>
              <a:ahLst/>
              <a:cxnLst/>
              <a:rect r="r" b="b" t="t" l="l"/>
              <a:pathLst>
                <a:path h="7993253" w="7096379">
                  <a:moveTo>
                    <a:pt x="0" y="110236"/>
                  </a:moveTo>
                  <a:cubicBezTo>
                    <a:pt x="0" y="49403"/>
                    <a:pt x="49403" y="0"/>
                    <a:pt x="110236" y="0"/>
                  </a:cubicBezTo>
                  <a:lnTo>
                    <a:pt x="6986143" y="0"/>
                  </a:lnTo>
                  <a:cubicBezTo>
                    <a:pt x="7047103" y="0"/>
                    <a:pt x="7096379" y="49403"/>
                    <a:pt x="7096379" y="110236"/>
                  </a:cubicBezTo>
                  <a:lnTo>
                    <a:pt x="7096379" y="7883017"/>
                  </a:lnTo>
                  <a:cubicBezTo>
                    <a:pt x="7096379" y="7943977"/>
                    <a:pt x="7046976" y="7993253"/>
                    <a:pt x="6986143" y="7993253"/>
                  </a:cubicBezTo>
                  <a:lnTo>
                    <a:pt x="110236" y="7993253"/>
                  </a:lnTo>
                  <a:cubicBezTo>
                    <a:pt x="49276" y="7993253"/>
                    <a:pt x="0" y="7943850"/>
                    <a:pt x="0" y="7883017"/>
                  </a:cubicBezTo>
                  <a:close/>
                </a:path>
              </a:pathLst>
            </a:custGeom>
            <a:solidFill>
              <a:srgbClr val="FFFFFF"/>
            </a:solidFill>
            <a:ln w="23831" cap="sq">
              <a:solidFill>
                <a:srgbClr val="8A1E3F"/>
              </a:solidFill>
              <a:prstDash val="solid"/>
              <a:miter/>
            </a:ln>
          </p:spPr>
        </p:sp>
      </p:grpSp>
      <p:grpSp>
        <p:nvGrpSpPr>
          <p:cNvPr name="Group 60" id="60"/>
          <p:cNvGrpSpPr/>
          <p:nvPr/>
        </p:nvGrpSpPr>
        <p:grpSpPr>
          <a:xfrm rot="0">
            <a:off x="12385700" y="3833946"/>
            <a:ext cx="5317579" cy="664216"/>
            <a:chOff x="0" y="0"/>
            <a:chExt cx="7090105" cy="885622"/>
          </a:xfrm>
        </p:grpSpPr>
        <p:sp>
          <p:nvSpPr>
            <p:cNvPr name="Freeform 61" id="61"/>
            <p:cNvSpPr/>
            <p:nvPr/>
          </p:nvSpPr>
          <p:spPr>
            <a:xfrm flipH="false" flipV="false" rot="0">
              <a:off x="0" y="0"/>
              <a:ext cx="7090156" cy="885571"/>
            </a:xfrm>
            <a:custGeom>
              <a:avLst/>
              <a:gdLst/>
              <a:ahLst/>
              <a:cxnLst/>
              <a:rect r="r" b="b" t="t" l="l"/>
              <a:pathLst>
                <a:path h="885571" w="7090156">
                  <a:moveTo>
                    <a:pt x="0" y="0"/>
                  </a:moveTo>
                  <a:lnTo>
                    <a:pt x="7090156" y="0"/>
                  </a:lnTo>
                  <a:lnTo>
                    <a:pt x="7090156" y="885571"/>
                  </a:lnTo>
                  <a:lnTo>
                    <a:pt x="0" y="885571"/>
                  </a:lnTo>
                  <a:close/>
                </a:path>
              </a:pathLst>
            </a:custGeom>
            <a:solidFill>
              <a:srgbClr val="8A1E3F"/>
            </a:solidFill>
            <a:ln w="19065" cap="sq">
              <a:solidFill>
                <a:srgbClr val="8A1E3F"/>
              </a:solidFill>
              <a:prstDash val="solid"/>
              <a:miter/>
            </a:ln>
          </p:spPr>
        </p:sp>
      </p:grpSp>
      <p:grpSp>
        <p:nvGrpSpPr>
          <p:cNvPr name="Group 62" id="62"/>
          <p:cNvGrpSpPr/>
          <p:nvPr/>
        </p:nvGrpSpPr>
        <p:grpSpPr>
          <a:xfrm rot="0">
            <a:off x="12385700" y="3078985"/>
            <a:ext cx="5317579" cy="1419187"/>
            <a:chOff x="0" y="0"/>
            <a:chExt cx="7090105" cy="1892249"/>
          </a:xfrm>
        </p:grpSpPr>
        <p:sp>
          <p:nvSpPr>
            <p:cNvPr name="Freeform 63" id="63"/>
            <p:cNvSpPr/>
            <p:nvPr/>
          </p:nvSpPr>
          <p:spPr>
            <a:xfrm flipH="false" flipV="false" rot="0">
              <a:off x="0" y="0"/>
              <a:ext cx="7090029" cy="1892173"/>
            </a:xfrm>
            <a:custGeom>
              <a:avLst/>
              <a:gdLst/>
              <a:ahLst/>
              <a:cxnLst/>
              <a:rect r="r" b="b" t="t" l="l"/>
              <a:pathLst>
                <a:path h="1892173" w="7090029">
                  <a:moveTo>
                    <a:pt x="0" y="111252"/>
                  </a:moveTo>
                  <a:cubicBezTo>
                    <a:pt x="0" y="49784"/>
                    <a:pt x="49784" y="0"/>
                    <a:pt x="111252" y="0"/>
                  </a:cubicBezTo>
                  <a:lnTo>
                    <a:pt x="6978777" y="0"/>
                  </a:lnTo>
                  <a:cubicBezTo>
                    <a:pt x="7040245" y="0"/>
                    <a:pt x="7090029" y="49784"/>
                    <a:pt x="7090029" y="111252"/>
                  </a:cubicBezTo>
                  <a:lnTo>
                    <a:pt x="7090029" y="1780921"/>
                  </a:lnTo>
                  <a:cubicBezTo>
                    <a:pt x="7090029" y="1842389"/>
                    <a:pt x="7040245" y="1892173"/>
                    <a:pt x="6978777" y="1892173"/>
                  </a:cubicBezTo>
                  <a:lnTo>
                    <a:pt x="111252" y="1892173"/>
                  </a:lnTo>
                  <a:cubicBezTo>
                    <a:pt x="49784" y="1892300"/>
                    <a:pt x="0" y="1842389"/>
                    <a:pt x="0" y="1780921"/>
                  </a:cubicBezTo>
                  <a:close/>
                </a:path>
              </a:pathLst>
            </a:custGeom>
            <a:solidFill>
              <a:srgbClr val="8A1E3F"/>
            </a:solidFill>
            <a:ln w="19065" cap="sq">
              <a:solidFill>
                <a:srgbClr val="8A1E3F"/>
              </a:solidFill>
              <a:prstDash val="solid"/>
              <a:miter/>
            </a:ln>
          </p:spPr>
        </p:sp>
      </p:grpSp>
      <p:grpSp>
        <p:nvGrpSpPr>
          <p:cNvPr name="Group 64" id="64"/>
          <p:cNvGrpSpPr/>
          <p:nvPr/>
        </p:nvGrpSpPr>
        <p:grpSpPr>
          <a:xfrm rot="0">
            <a:off x="12669764" y="3225784"/>
            <a:ext cx="4749451" cy="1180500"/>
            <a:chOff x="0" y="0"/>
            <a:chExt cx="6332601" cy="1574000"/>
          </a:xfrm>
        </p:grpSpPr>
        <p:sp>
          <p:nvSpPr>
            <p:cNvPr name="Freeform 65" id="65"/>
            <p:cNvSpPr/>
            <p:nvPr/>
          </p:nvSpPr>
          <p:spPr>
            <a:xfrm flipH="false" flipV="false" rot="0">
              <a:off x="0" y="0"/>
              <a:ext cx="6332595" cy="1573998"/>
            </a:xfrm>
            <a:custGeom>
              <a:avLst/>
              <a:gdLst/>
              <a:ahLst/>
              <a:cxnLst/>
              <a:rect r="r" b="b" t="t" l="l"/>
              <a:pathLst>
                <a:path h="1573998" w="6332595">
                  <a:moveTo>
                    <a:pt x="0" y="0"/>
                  </a:moveTo>
                  <a:lnTo>
                    <a:pt x="6332595" y="0"/>
                  </a:lnTo>
                  <a:lnTo>
                    <a:pt x="6332595" y="1573998"/>
                  </a:lnTo>
                  <a:lnTo>
                    <a:pt x="0" y="1573998"/>
                  </a:lnTo>
                  <a:close/>
                </a:path>
              </a:pathLst>
            </a:custGeom>
            <a:blipFill>
              <a:blip r:embed="rId3">
                <a:alphaModFix amt="0"/>
              </a:blip>
              <a:stretch>
                <a:fillRect l="0" t="-28393" r="0" b="-28393"/>
              </a:stretch>
            </a:blipFill>
          </p:spPr>
        </p:sp>
        <p:sp>
          <p:nvSpPr>
            <p:cNvPr name="TextBox 66" id="66"/>
            <p:cNvSpPr txBox="true"/>
            <p:nvPr/>
          </p:nvSpPr>
          <p:spPr>
            <a:xfrm>
              <a:off x="0" y="19050"/>
              <a:ext cx="6332601" cy="1554950"/>
            </a:xfrm>
            <a:prstGeom prst="rect">
              <a:avLst/>
            </a:prstGeom>
          </p:spPr>
          <p:txBody>
            <a:bodyPr anchor="ctr" rtlCol="false" tIns="0" lIns="0" bIns="0" rIns="0"/>
            <a:lstStyle/>
            <a:p>
              <a:pPr algn="l">
                <a:lnSpc>
                  <a:spcPts val="4449"/>
                </a:lnSpc>
              </a:pPr>
              <a:r>
                <a:rPr lang="en-US" sz="3903" b="true">
                  <a:solidFill>
                    <a:srgbClr val="FFFFFF"/>
                  </a:solidFill>
                  <a:latin typeface="Montserrat Bold"/>
                  <a:ea typeface="Montserrat Bold"/>
                  <a:cs typeface="Montserrat Bold"/>
                  <a:sym typeface="Montserrat Bold"/>
                </a:rPr>
                <a:t>AFB III</a:t>
              </a:r>
            </a:p>
            <a:p>
              <a:pPr algn="l">
                <a:lnSpc>
                  <a:spcPts val="2224"/>
                </a:lnSpc>
              </a:pPr>
              <a:r>
                <a:rPr lang="en-US" sz="1951" b="true">
                  <a:solidFill>
                    <a:srgbClr val="FFFFFF"/>
                  </a:solidFill>
                  <a:latin typeface="Montserrat Bold"/>
                  <a:ea typeface="Montserrat Bold"/>
                  <a:cs typeface="Montserrat Bold"/>
                  <a:sym typeface="Montserrat Bold"/>
                </a:rPr>
                <a:t>Transfer &amp; Bewertung</a:t>
              </a:r>
            </a:p>
          </p:txBody>
        </p:sp>
      </p:grpSp>
      <p:grpSp>
        <p:nvGrpSpPr>
          <p:cNvPr name="Group 67" id="67"/>
          <p:cNvGrpSpPr/>
          <p:nvPr/>
        </p:nvGrpSpPr>
        <p:grpSpPr>
          <a:xfrm rot="0">
            <a:off x="12669764" y="4735716"/>
            <a:ext cx="4749451" cy="549069"/>
            <a:chOff x="0" y="0"/>
            <a:chExt cx="6332601" cy="732092"/>
          </a:xfrm>
        </p:grpSpPr>
        <p:sp>
          <p:nvSpPr>
            <p:cNvPr name="Freeform 68" id="68"/>
            <p:cNvSpPr/>
            <p:nvPr/>
          </p:nvSpPr>
          <p:spPr>
            <a:xfrm flipH="false" flipV="false" rot="0">
              <a:off x="0" y="0"/>
              <a:ext cx="6332595" cy="732092"/>
            </a:xfrm>
            <a:custGeom>
              <a:avLst/>
              <a:gdLst/>
              <a:ahLst/>
              <a:cxnLst/>
              <a:rect r="r" b="b" t="t" l="l"/>
              <a:pathLst>
                <a:path h="732092" w="6332595">
                  <a:moveTo>
                    <a:pt x="0" y="0"/>
                  </a:moveTo>
                  <a:lnTo>
                    <a:pt x="6332595" y="0"/>
                  </a:lnTo>
                  <a:lnTo>
                    <a:pt x="6332595" y="732092"/>
                  </a:lnTo>
                  <a:lnTo>
                    <a:pt x="0" y="732092"/>
                  </a:lnTo>
                  <a:close/>
                </a:path>
              </a:pathLst>
            </a:custGeom>
            <a:blipFill>
              <a:blip r:embed="rId3">
                <a:alphaModFix amt="0"/>
              </a:blip>
              <a:stretch>
                <a:fillRect l="0" t="-118545" r="0" b="-118545"/>
              </a:stretch>
            </a:blipFill>
          </p:spPr>
        </p:sp>
        <p:sp>
          <p:nvSpPr>
            <p:cNvPr name="TextBox 69" id="69"/>
            <p:cNvSpPr txBox="true"/>
            <p:nvPr/>
          </p:nvSpPr>
          <p:spPr>
            <a:xfrm>
              <a:off x="0" y="0"/>
              <a:ext cx="6332601" cy="732092"/>
            </a:xfrm>
            <a:prstGeom prst="rect">
              <a:avLst/>
            </a:prstGeom>
          </p:spPr>
          <p:txBody>
            <a:bodyPr anchor="ctr" rtlCol="false" tIns="0" lIns="0" bIns="0" rIns="0"/>
            <a:lstStyle/>
            <a:p>
              <a:pPr algn="l">
                <a:lnSpc>
                  <a:spcPts val="2521"/>
                </a:lnSpc>
              </a:pPr>
              <a:r>
                <a:rPr lang="en-US" sz="2101" b="true">
                  <a:solidFill>
                    <a:srgbClr val="8A1E3F"/>
                  </a:solidFill>
                  <a:latin typeface="Montserrat Bold"/>
                  <a:ea typeface="Montserrat Bold"/>
                  <a:cs typeface="Montserrat Bold"/>
                  <a:sym typeface="Montserrat Bold"/>
                </a:rPr>
                <a:t>3 Punkte / Element</a:t>
              </a:r>
            </a:p>
          </p:txBody>
        </p:sp>
      </p:grpSp>
      <p:grpSp>
        <p:nvGrpSpPr>
          <p:cNvPr name="Group 70" id="70"/>
          <p:cNvGrpSpPr/>
          <p:nvPr/>
        </p:nvGrpSpPr>
        <p:grpSpPr>
          <a:xfrm rot="0">
            <a:off x="12669764" y="5449510"/>
            <a:ext cx="4749451" cy="411804"/>
            <a:chOff x="0" y="0"/>
            <a:chExt cx="6332601" cy="549072"/>
          </a:xfrm>
        </p:grpSpPr>
        <p:sp>
          <p:nvSpPr>
            <p:cNvPr name="Freeform 71" id="71"/>
            <p:cNvSpPr/>
            <p:nvPr/>
          </p:nvSpPr>
          <p:spPr>
            <a:xfrm flipH="false" flipV="false" rot="0">
              <a:off x="0" y="0"/>
              <a:ext cx="6332595" cy="549069"/>
            </a:xfrm>
            <a:custGeom>
              <a:avLst/>
              <a:gdLst/>
              <a:ahLst/>
              <a:cxnLst/>
              <a:rect r="r" b="b" t="t" l="l"/>
              <a:pathLst>
                <a:path h="549069" w="6332595">
                  <a:moveTo>
                    <a:pt x="0" y="0"/>
                  </a:moveTo>
                  <a:lnTo>
                    <a:pt x="6332595" y="0"/>
                  </a:lnTo>
                  <a:lnTo>
                    <a:pt x="6332595" y="549069"/>
                  </a:lnTo>
                  <a:lnTo>
                    <a:pt x="0" y="549069"/>
                  </a:lnTo>
                  <a:close/>
                </a:path>
              </a:pathLst>
            </a:custGeom>
            <a:blipFill>
              <a:blip r:embed="rId3">
                <a:alphaModFix amt="0"/>
              </a:blip>
              <a:stretch>
                <a:fillRect l="0" t="-174727" r="0" b="-174727"/>
              </a:stretch>
            </a:blipFill>
          </p:spPr>
        </p:sp>
        <p:sp>
          <p:nvSpPr>
            <p:cNvPr name="TextBox 72" id="72"/>
            <p:cNvSpPr txBox="true"/>
            <p:nvPr/>
          </p:nvSpPr>
          <p:spPr>
            <a:xfrm>
              <a:off x="0" y="0"/>
              <a:ext cx="6332601" cy="549072"/>
            </a:xfrm>
            <a:prstGeom prst="rect">
              <a:avLst/>
            </a:prstGeom>
          </p:spPr>
          <p:txBody>
            <a:bodyPr anchor="ctr" rtlCol="false" tIns="0" lIns="0" bIns="0" rIns="0"/>
            <a:lstStyle/>
            <a:p>
              <a:pPr algn="l">
                <a:lnSpc>
                  <a:spcPts val="1891"/>
                </a:lnSpc>
              </a:pPr>
              <a:r>
                <a:rPr lang="en-US" b="true" sz="1576" spc="150">
                  <a:solidFill>
                    <a:srgbClr val="6B7280"/>
                  </a:solidFill>
                  <a:latin typeface="Montserrat Bold"/>
                  <a:ea typeface="Montserrat Bold"/>
                  <a:cs typeface="Montserrat Bold"/>
                  <a:sym typeface="Montserrat Bold"/>
                </a:rPr>
                <a:t>Operatoren</a:t>
              </a:r>
            </a:p>
          </p:txBody>
        </p:sp>
      </p:grpSp>
      <p:sp>
        <p:nvSpPr>
          <p:cNvPr name="TextBox 73" id="73"/>
          <p:cNvSpPr txBox="true"/>
          <p:nvPr/>
        </p:nvSpPr>
        <p:spPr>
          <a:xfrm rot="0">
            <a:off x="12669764" y="5833853"/>
            <a:ext cx="4749451" cy="1304039"/>
          </a:xfrm>
          <a:prstGeom prst="rect">
            <a:avLst/>
          </a:prstGeom>
        </p:spPr>
        <p:txBody>
          <a:bodyPr anchor="t" rtlCol="false" tIns="0" lIns="0" bIns="0" rIns="0">
            <a:spAutoFit/>
          </a:bodyPr>
          <a:lstStyle/>
          <a:p>
            <a:pPr algn="l">
              <a:lnSpc>
                <a:spcPts val="2251"/>
              </a:lnSpc>
            </a:pPr>
            <a:r>
              <a:rPr lang="en-US" sz="1876">
                <a:solidFill>
                  <a:srgbClr val="23262B"/>
                </a:solidFill>
                <a:latin typeface="DM Sans"/>
                <a:ea typeface="DM Sans"/>
                <a:cs typeface="DM Sans"/>
                <a:sym typeface="DM Sans"/>
              </a:rPr>
              <a:t>bewerten · beurteilen · begründen · ableiten · entwickeln · empfehlen</a:t>
            </a:r>
          </a:p>
        </p:txBody>
      </p:sp>
      <p:grpSp>
        <p:nvGrpSpPr>
          <p:cNvPr name="Group 74" id="74"/>
          <p:cNvGrpSpPr/>
          <p:nvPr/>
        </p:nvGrpSpPr>
        <p:grpSpPr>
          <a:xfrm rot="0">
            <a:off x="12669764" y="7179078"/>
            <a:ext cx="4749451" cy="411804"/>
            <a:chOff x="0" y="0"/>
            <a:chExt cx="6332601" cy="549072"/>
          </a:xfrm>
        </p:grpSpPr>
        <p:sp>
          <p:nvSpPr>
            <p:cNvPr name="Freeform 75" id="75"/>
            <p:cNvSpPr/>
            <p:nvPr/>
          </p:nvSpPr>
          <p:spPr>
            <a:xfrm flipH="false" flipV="false" rot="0">
              <a:off x="0" y="0"/>
              <a:ext cx="6332595" cy="549069"/>
            </a:xfrm>
            <a:custGeom>
              <a:avLst/>
              <a:gdLst/>
              <a:ahLst/>
              <a:cxnLst/>
              <a:rect r="r" b="b" t="t" l="l"/>
              <a:pathLst>
                <a:path h="549069" w="6332595">
                  <a:moveTo>
                    <a:pt x="0" y="0"/>
                  </a:moveTo>
                  <a:lnTo>
                    <a:pt x="6332595" y="0"/>
                  </a:lnTo>
                  <a:lnTo>
                    <a:pt x="6332595" y="549069"/>
                  </a:lnTo>
                  <a:lnTo>
                    <a:pt x="0" y="549069"/>
                  </a:lnTo>
                  <a:close/>
                </a:path>
              </a:pathLst>
            </a:custGeom>
            <a:blipFill>
              <a:blip r:embed="rId3">
                <a:alphaModFix amt="0"/>
              </a:blip>
              <a:stretch>
                <a:fillRect l="0" t="-174727" r="0" b="-174727"/>
              </a:stretch>
            </a:blipFill>
          </p:spPr>
        </p:sp>
        <p:sp>
          <p:nvSpPr>
            <p:cNvPr name="TextBox 76" id="76"/>
            <p:cNvSpPr txBox="true"/>
            <p:nvPr/>
          </p:nvSpPr>
          <p:spPr>
            <a:xfrm>
              <a:off x="0" y="0"/>
              <a:ext cx="6332601" cy="549072"/>
            </a:xfrm>
            <a:prstGeom prst="rect">
              <a:avLst/>
            </a:prstGeom>
          </p:spPr>
          <p:txBody>
            <a:bodyPr anchor="ctr" rtlCol="false" tIns="0" lIns="0" bIns="0" rIns="0"/>
            <a:lstStyle/>
            <a:p>
              <a:pPr algn="l">
                <a:lnSpc>
                  <a:spcPts val="1891"/>
                </a:lnSpc>
              </a:pPr>
              <a:r>
                <a:rPr lang="en-US" b="true" sz="1576" spc="150">
                  <a:solidFill>
                    <a:srgbClr val="6B7280"/>
                  </a:solidFill>
                  <a:latin typeface="Montserrat Bold"/>
                  <a:ea typeface="Montserrat Bold"/>
                  <a:cs typeface="Montserrat Bold"/>
                  <a:sym typeface="Montserrat Bold"/>
                </a:rPr>
                <a:t>Erwartung</a:t>
              </a:r>
            </a:p>
          </p:txBody>
        </p:sp>
      </p:grpSp>
      <p:sp>
        <p:nvSpPr>
          <p:cNvPr name="TextBox 77" id="77"/>
          <p:cNvSpPr txBox="true"/>
          <p:nvPr/>
        </p:nvSpPr>
        <p:spPr>
          <a:xfrm rot="0">
            <a:off x="12669764" y="7572946"/>
            <a:ext cx="4749451" cy="1363151"/>
          </a:xfrm>
          <a:prstGeom prst="rect">
            <a:avLst/>
          </a:prstGeom>
        </p:spPr>
        <p:txBody>
          <a:bodyPr anchor="t" rtlCol="false" tIns="0" lIns="0" bIns="0" rIns="0">
            <a:spAutoFit/>
          </a:bodyPr>
          <a:lstStyle/>
          <a:p>
            <a:pPr algn="l">
              <a:lnSpc>
                <a:spcPts val="2071"/>
              </a:lnSpc>
            </a:pPr>
            <a:r>
              <a:rPr lang="en-US" sz="1726">
                <a:solidFill>
                  <a:srgbClr val="23262B"/>
                </a:solidFill>
                <a:latin typeface="DM Sans"/>
                <a:ea typeface="DM Sans"/>
                <a:cs typeface="DM Sans"/>
                <a:sym typeface="DM Sans"/>
              </a:rPr>
              <a:t>Eigenständige, begründete Schlussfolgerung/Empfehlung mit Konsequenz – auf den konkreten Fall bezogen.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3</a:t>
              </a:r>
            </a:p>
          </p:txBody>
        </p:sp>
      </p:grpSp>
      <p:grpSp>
        <p:nvGrpSpPr>
          <p:cNvPr name="Group 12" id="12"/>
          <p:cNvGrpSpPr/>
          <p:nvPr/>
        </p:nvGrpSpPr>
        <p:grpSpPr>
          <a:xfrm rot="0">
            <a:off x="1029500" y="1235402"/>
            <a:ext cx="16472068" cy="1098137"/>
            <a:chOff x="0" y="0"/>
            <a:chExt cx="21962758" cy="1464183"/>
          </a:xfrm>
        </p:grpSpPr>
        <p:sp>
          <p:nvSpPr>
            <p:cNvPr name="Freeform 13" id="13"/>
            <p:cNvSpPr/>
            <p:nvPr/>
          </p:nvSpPr>
          <p:spPr>
            <a:xfrm flipH="false" flipV="false" rot="0">
              <a:off x="0" y="0"/>
              <a:ext cx="21962759" cy="1464184"/>
            </a:xfrm>
            <a:custGeom>
              <a:avLst/>
              <a:gdLst/>
              <a:ahLst/>
              <a:cxnLst/>
              <a:rect r="r" b="b" t="t" l="l"/>
              <a:pathLst>
                <a:path h="1464184" w="21962759">
                  <a:moveTo>
                    <a:pt x="0" y="0"/>
                  </a:moveTo>
                  <a:lnTo>
                    <a:pt x="21962759" y="0"/>
                  </a:lnTo>
                  <a:lnTo>
                    <a:pt x="21962759" y="1464184"/>
                  </a:lnTo>
                  <a:lnTo>
                    <a:pt x="0" y="1464184"/>
                  </a:lnTo>
                  <a:close/>
                </a:path>
              </a:pathLst>
            </a:custGeom>
            <a:blipFill>
              <a:blip r:embed="rId3">
                <a:alphaModFix amt="0"/>
              </a:blip>
              <a:stretch>
                <a:fillRect l="0" t="-242275" r="0" b="-242275"/>
              </a:stretch>
            </a:blipFill>
          </p:spPr>
        </p:sp>
        <p:sp>
          <p:nvSpPr>
            <p:cNvPr name="TextBox 14" id="14"/>
            <p:cNvSpPr txBox="true"/>
            <p:nvPr/>
          </p:nvSpPr>
          <p:spPr>
            <a:xfrm>
              <a:off x="0" y="0"/>
              <a:ext cx="21962758" cy="1464183"/>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Themengewichtung &amp; Punktlogik</a:t>
              </a:r>
            </a:p>
          </p:txBody>
        </p:sp>
      </p:grpSp>
      <p:grpSp>
        <p:nvGrpSpPr>
          <p:cNvPr name="Group 15" id="15"/>
          <p:cNvGrpSpPr/>
          <p:nvPr/>
        </p:nvGrpSpPr>
        <p:grpSpPr>
          <a:xfrm rot="0">
            <a:off x="1070686" y="2223726"/>
            <a:ext cx="16472068" cy="549069"/>
            <a:chOff x="0" y="0"/>
            <a:chExt cx="21962758" cy="732092"/>
          </a:xfrm>
        </p:grpSpPr>
        <p:sp>
          <p:nvSpPr>
            <p:cNvPr name="Freeform 16" id="16"/>
            <p:cNvSpPr/>
            <p:nvPr/>
          </p:nvSpPr>
          <p:spPr>
            <a:xfrm flipH="false" flipV="false" rot="0">
              <a:off x="0" y="0"/>
              <a:ext cx="21962759" cy="732092"/>
            </a:xfrm>
            <a:custGeom>
              <a:avLst/>
              <a:gdLst/>
              <a:ahLst/>
              <a:cxnLst/>
              <a:rect r="r" b="b" t="t" l="l"/>
              <a:pathLst>
                <a:path h="732092" w="21962759">
                  <a:moveTo>
                    <a:pt x="0" y="0"/>
                  </a:moveTo>
                  <a:lnTo>
                    <a:pt x="21962759" y="0"/>
                  </a:lnTo>
                  <a:lnTo>
                    <a:pt x="21962759" y="732092"/>
                  </a:lnTo>
                  <a:lnTo>
                    <a:pt x="0" y="732092"/>
                  </a:lnTo>
                  <a:close/>
                </a:path>
              </a:pathLst>
            </a:custGeom>
            <a:blipFill>
              <a:blip r:embed="rId3">
                <a:alphaModFix amt="0"/>
              </a:blip>
              <a:stretch>
                <a:fillRect l="0" t="-534551" r="0" b="-534551"/>
              </a:stretch>
            </a:blipFill>
          </p:spPr>
        </p:sp>
        <p:sp>
          <p:nvSpPr>
            <p:cNvPr name="TextBox 17" id="17"/>
            <p:cNvSpPr txBox="true"/>
            <p:nvPr/>
          </p:nvSpPr>
          <p:spPr>
            <a:xfrm>
              <a:off x="0" y="9525"/>
              <a:ext cx="21962758" cy="722567"/>
            </a:xfrm>
            <a:prstGeom prst="rect">
              <a:avLst/>
            </a:prstGeom>
          </p:spPr>
          <p:txBody>
            <a:bodyPr anchor="ctr" rtlCol="false" tIns="0" lIns="0" bIns="0" rIns="0"/>
            <a:lstStyle/>
            <a:p>
              <a:pPr algn="l">
                <a:lnSpc>
                  <a:spcPts val="2341"/>
                </a:lnSpc>
              </a:pPr>
              <a:r>
                <a:rPr lang="en-US" sz="1951">
                  <a:solidFill>
                    <a:srgbClr val="6B7280"/>
                  </a:solidFill>
                  <a:latin typeface="DM Sans"/>
                  <a:ea typeface="DM Sans"/>
                  <a:cs typeface="DM Sans"/>
                  <a:sym typeface="DM Sans"/>
                </a:rPr>
                <a:t>Die Punktzahl jeder Aufgabe entspricht dem Stundenanteil des Qualifikationsschwerpunkts.</a:t>
              </a:r>
            </a:p>
          </p:txBody>
        </p:sp>
      </p:grpSp>
      <p:graphicFrame>
        <p:nvGraphicFramePr>
          <p:cNvPr name="Table 18" id="18"/>
          <p:cNvGraphicFramePr>
            <a:graphicFrameLocks noGrp="true"/>
          </p:cNvGraphicFramePr>
          <p:nvPr/>
        </p:nvGraphicFramePr>
        <p:xfrm>
          <a:off x="1029504" y="3019879"/>
          <a:ext cx="10523822" cy="5871987"/>
        </p:xfrm>
        <a:graphic>
          <a:graphicData uri="http://schemas.openxmlformats.org/drawingml/2006/table">
            <a:tbl>
              <a:tblPr/>
              <a:tblGrid>
                <a:gridCol w="5098240"/>
                <a:gridCol w="1102424"/>
                <a:gridCol w="1305601"/>
                <a:gridCol w="1237875"/>
                <a:gridCol w="1779681"/>
              </a:tblGrid>
              <a:tr h="838855">
                <a:tc>
                  <a:txBody>
                    <a:bodyPr anchor="t" rtlCol="false"/>
                    <a:lstStyle/>
                    <a:p>
                      <a:pPr algn="l">
                        <a:lnSpc>
                          <a:spcPts val="1981"/>
                        </a:lnSpc>
                        <a:defRPr/>
                      </a:pPr>
                      <a:r>
                        <a:rPr lang="en-US" sz="1651" b="true">
                          <a:solidFill>
                            <a:srgbClr val="FFFFFF"/>
                          </a:solidFill>
                          <a:latin typeface="Montserrat Bold"/>
                          <a:ea typeface="Montserrat Bold"/>
                          <a:cs typeface="Montserrat Bold"/>
                          <a:sym typeface="Montserrat Bold"/>
                        </a:rPr>
                        <a:t>Qualifikationsschwerpunkt</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0C1D4B"/>
                    </a:solidFill>
                  </a:tcPr>
                </a:tc>
                <a:tc>
                  <a:txBody>
                    <a:bodyPr anchor="t" rtlCol="false"/>
                    <a:lstStyle/>
                    <a:p>
                      <a:pPr algn="l">
                        <a:lnSpc>
                          <a:spcPts val="1981"/>
                        </a:lnSpc>
                        <a:defRPr/>
                      </a:pPr>
                      <a:r>
                        <a:rPr lang="en-US" sz="1651" b="true">
                          <a:solidFill>
                            <a:srgbClr val="FFFFFF"/>
                          </a:solidFill>
                          <a:latin typeface="Montserrat Bold"/>
                          <a:ea typeface="Montserrat Bold"/>
                          <a:cs typeface="Montserrat Bold"/>
                          <a:sym typeface="Montserrat Bold"/>
                        </a:rPr>
                        <a:t>UStd</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0C1D4B"/>
                    </a:solidFill>
                  </a:tcPr>
                </a:tc>
                <a:tc>
                  <a:txBody>
                    <a:bodyPr anchor="t" rtlCol="false"/>
                    <a:lstStyle/>
                    <a:p>
                      <a:pPr algn="l">
                        <a:lnSpc>
                          <a:spcPts val="1981"/>
                        </a:lnSpc>
                        <a:defRPr/>
                      </a:pPr>
                      <a:r>
                        <a:rPr lang="en-US" sz="1651" b="true">
                          <a:solidFill>
                            <a:srgbClr val="FFFFFF"/>
                          </a:solidFill>
                          <a:latin typeface="Montserrat Bold"/>
                          <a:ea typeface="Montserrat Bold"/>
                          <a:cs typeface="Montserrat Bold"/>
                          <a:sym typeface="Montserrat Bold"/>
                        </a:rPr>
                        <a:t>Anteil</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0C1D4B"/>
                    </a:solidFill>
                  </a:tcPr>
                </a:tc>
                <a:tc>
                  <a:txBody>
                    <a:bodyPr anchor="t" rtlCol="false"/>
                    <a:lstStyle/>
                    <a:p>
                      <a:pPr algn="l">
                        <a:lnSpc>
                          <a:spcPts val="1981"/>
                        </a:lnSpc>
                        <a:defRPr/>
                      </a:pPr>
                      <a:r>
                        <a:rPr lang="en-US" sz="1651" b="true">
                          <a:solidFill>
                            <a:srgbClr val="FFFFFF"/>
                          </a:solidFill>
                          <a:latin typeface="Montserrat Bold"/>
                          <a:ea typeface="Montserrat Bold"/>
                          <a:cs typeface="Montserrat Bold"/>
                          <a:sym typeface="Montserrat Bold"/>
                        </a:rPr>
                        <a:t>Punkte</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0C1D4B"/>
                    </a:solidFill>
                  </a:tcPr>
                </a:tc>
                <a:tc>
                  <a:txBody>
                    <a:bodyPr anchor="t" rtlCol="false"/>
                    <a:lstStyle/>
                    <a:p>
                      <a:pPr algn="l">
                        <a:lnSpc>
                          <a:spcPts val="1981"/>
                        </a:lnSpc>
                        <a:defRPr/>
                      </a:pPr>
                      <a:r>
                        <a:rPr lang="en-US" sz="1651" b="true">
                          <a:solidFill>
                            <a:srgbClr val="FFFFFF"/>
                          </a:solidFill>
                          <a:latin typeface="Montserrat Bold"/>
                          <a:ea typeface="Montserrat Bold"/>
                          <a:cs typeface="Montserrat Bold"/>
                          <a:sym typeface="Montserrat Bold"/>
                        </a:rPr>
                        <a:t>Aufgabe</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0C1D4B"/>
                    </a:solidFill>
                  </a:tcPr>
                </a:tc>
              </a:tr>
              <a:tr h="838855">
                <a:tc>
                  <a:txBody>
                    <a:bodyPr anchor="t" rtlCol="false"/>
                    <a:lstStyle/>
                    <a:p>
                      <a:pPr algn="l">
                        <a:lnSpc>
                          <a:spcPts val="1981"/>
                        </a:lnSpc>
                        <a:defRPr/>
                      </a:pPr>
                      <a:r>
                        <a:rPr lang="en-US" sz="1651">
                          <a:solidFill>
                            <a:srgbClr val="0C1D4B"/>
                          </a:solidFill>
                          <a:latin typeface="DM Sans"/>
                          <a:ea typeface="DM Sans"/>
                          <a:cs typeface="DM Sans"/>
                          <a:sym typeface="DM Sans"/>
                        </a:rPr>
                        <a:t>1 · Planung, Konzeptionierung, Integration</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130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32,5 %</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33</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C1D4B"/>
                          </a:solidFill>
                          <a:latin typeface="DM Sans"/>
                          <a:ea typeface="DM Sans"/>
                          <a:cs typeface="DM Sans"/>
                          <a:sym typeface="DM Sans"/>
                        </a:rPr>
                        <a:t>Aufgabe 1</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r>
              <a:tr h="838855">
                <a:tc>
                  <a:txBody>
                    <a:bodyPr anchor="t" rtlCol="false"/>
                    <a:lstStyle/>
                    <a:p>
                      <a:pPr algn="l">
                        <a:lnSpc>
                          <a:spcPts val="1981"/>
                        </a:lnSpc>
                        <a:defRPr/>
                      </a:pPr>
                      <a:r>
                        <a:rPr lang="en-US" sz="1651">
                          <a:solidFill>
                            <a:srgbClr val="0C1D4B"/>
                          </a:solidFill>
                          <a:latin typeface="DM Sans"/>
                          <a:ea typeface="DM Sans"/>
                          <a:cs typeface="DM Sans"/>
                          <a:sym typeface="DM Sans"/>
                        </a:rPr>
                        <a:t>2 · Sicherstellung des laufenden Betriebs</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90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22,5 %</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22</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l">
                        <a:lnSpc>
                          <a:spcPts val="1981"/>
                        </a:lnSpc>
                        <a:defRPr/>
                      </a:pPr>
                      <a:r>
                        <a:rPr lang="en-US" sz="1651">
                          <a:solidFill>
                            <a:srgbClr val="0C1D4B"/>
                          </a:solidFill>
                          <a:latin typeface="DM Sans"/>
                          <a:ea typeface="DM Sans"/>
                          <a:cs typeface="DM Sans"/>
                          <a:sym typeface="DM Sans"/>
                        </a:rPr>
                        <a:t>Aufgabe 2</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r>
              <a:tr h="838855">
                <a:tc>
                  <a:txBody>
                    <a:bodyPr anchor="t" rtlCol="false"/>
                    <a:lstStyle/>
                    <a:p>
                      <a:pPr algn="l">
                        <a:lnSpc>
                          <a:spcPts val="1981"/>
                        </a:lnSpc>
                        <a:defRPr/>
                      </a:pPr>
                      <a:r>
                        <a:rPr lang="en-US" sz="1651">
                          <a:solidFill>
                            <a:srgbClr val="0C1D4B"/>
                          </a:solidFill>
                          <a:latin typeface="DM Sans"/>
                          <a:ea typeface="DM Sans"/>
                          <a:cs typeface="DM Sans"/>
                          <a:sym typeface="DM Sans"/>
                        </a:rPr>
                        <a:t>3 · Qualitätssicherung und IT-Sicherheit</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90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22,5 %</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23</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C1D4B"/>
                          </a:solidFill>
                          <a:latin typeface="DM Sans"/>
                          <a:ea typeface="DM Sans"/>
                          <a:cs typeface="DM Sans"/>
                          <a:sym typeface="DM Sans"/>
                        </a:rPr>
                        <a:t>Aufgabe 3</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r>
              <a:tr h="838855">
                <a:tc>
                  <a:txBody>
                    <a:bodyPr anchor="t" rtlCol="false"/>
                    <a:lstStyle/>
                    <a:p>
                      <a:pPr algn="l">
                        <a:lnSpc>
                          <a:spcPts val="1981"/>
                        </a:lnSpc>
                        <a:defRPr/>
                      </a:pPr>
                      <a:r>
                        <a:rPr lang="en-US" sz="1651">
                          <a:solidFill>
                            <a:srgbClr val="0C1D4B"/>
                          </a:solidFill>
                          <a:latin typeface="DM Sans"/>
                          <a:ea typeface="DM Sans"/>
                          <a:cs typeface="DM Sans"/>
                          <a:sym typeface="DM Sans"/>
                        </a:rPr>
                        <a:t>4 · Organisatorische und rechtliche Vorgaben</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40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10 %</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10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c>
                  <a:txBody>
                    <a:bodyPr anchor="t" rtlCol="false"/>
                    <a:lstStyle/>
                    <a:p>
                      <a:pPr algn="l">
                        <a:lnSpc>
                          <a:spcPts val="1981"/>
                        </a:lnSpc>
                        <a:defRPr/>
                      </a:pPr>
                      <a:r>
                        <a:rPr lang="en-US" sz="1651">
                          <a:solidFill>
                            <a:srgbClr val="0C1D4B"/>
                          </a:solidFill>
                          <a:latin typeface="DM Sans"/>
                          <a:ea typeface="DM Sans"/>
                          <a:cs typeface="DM Sans"/>
                          <a:sym typeface="DM Sans"/>
                        </a:rPr>
                        <a:t>Aufgabe 4</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3F6FB"/>
                    </a:solidFill>
                  </a:tcPr>
                </a:tc>
              </a:tr>
              <a:tr h="838855">
                <a:tc>
                  <a:txBody>
                    <a:bodyPr anchor="t" rtlCol="false"/>
                    <a:lstStyle/>
                    <a:p>
                      <a:pPr algn="l">
                        <a:lnSpc>
                          <a:spcPts val="1981"/>
                        </a:lnSpc>
                        <a:defRPr/>
                      </a:pPr>
                      <a:r>
                        <a:rPr lang="en-US" sz="1651">
                          <a:solidFill>
                            <a:srgbClr val="0C1D4B"/>
                          </a:solidFill>
                          <a:latin typeface="DM Sans"/>
                          <a:ea typeface="DM Sans"/>
                          <a:cs typeface="DM Sans"/>
                          <a:sym typeface="DM Sans"/>
                        </a:rPr>
                        <a:t>5 · Projektunterstützung und -koordination</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50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a:solidFill>
                            <a:srgbClr val="0C1D4B"/>
                          </a:solidFill>
                          <a:latin typeface="DM Sans"/>
                          <a:ea typeface="DM Sans"/>
                          <a:cs typeface="DM Sans"/>
                          <a:sym typeface="DM Sans"/>
                        </a:rPr>
                        <a:t>12,5 %</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12</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c>
                  <a:txBody>
                    <a:bodyPr anchor="t" rtlCol="false"/>
                    <a:lstStyle/>
                    <a:p>
                      <a:pPr algn="l">
                        <a:lnSpc>
                          <a:spcPts val="1981"/>
                        </a:lnSpc>
                        <a:defRPr/>
                      </a:pPr>
                      <a:r>
                        <a:rPr lang="en-US" sz="1651">
                          <a:solidFill>
                            <a:srgbClr val="0C1D4B"/>
                          </a:solidFill>
                          <a:latin typeface="DM Sans"/>
                          <a:ea typeface="DM Sans"/>
                          <a:cs typeface="DM Sans"/>
                          <a:sym typeface="DM Sans"/>
                        </a:rPr>
                        <a:t>Aufgabe 5</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FFFFFF"/>
                    </a:solidFill>
                  </a:tcPr>
                </a:tc>
              </a:tr>
              <a:tr h="838855">
                <a:tc>
                  <a:txBody>
                    <a:bodyPr anchor="t" rtlCol="false"/>
                    <a:lstStyle/>
                    <a:p>
                      <a:pPr algn="l">
                        <a:lnSpc>
                          <a:spcPts val="1981"/>
                        </a:lnSpc>
                        <a:defRPr/>
                      </a:pPr>
                      <a:r>
                        <a:rPr lang="en-US" sz="1651" b="true">
                          <a:solidFill>
                            <a:srgbClr val="0C1D4B"/>
                          </a:solidFill>
                          <a:latin typeface="DM Sans Bold"/>
                          <a:ea typeface="DM Sans Bold"/>
                          <a:cs typeface="DM Sans Bold"/>
                          <a:sym typeface="DM Sans Bold"/>
                        </a:rPr>
                        <a:t>Summe</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DCE6F5"/>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400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DCE6F5"/>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100 %</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DCE6F5"/>
                    </a:solidFill>
                  </a:tcPr>
                </a:tc>
                <a:tc>
                  <a:txBody>
                    <a:bodyPr anchor="t" rtlCol="false"/>
                    <a:lstStyle/>
                    <a:p>
                      <a:pPr algn="ctr">
                        <a:lnSpc>
                          <a:spcPts val="1981"/>
                        </a:lnSpc>
                        <a:defRPr/>
                      </a:pPr>
                      <a:r>
                        <a:rPr lang="en-US" sz="1651" b="true">
                          <a:solidFill>
                            <a:srgbClr val="0C1D4B"/>
                          </a:solidFill>
                          <a:latin typeface="DM Sans Bold"/>
                          <a:ea typeface="DM Sans Bold"/>
                          <a:cs typeface="DM Sans Bold"/>
                          <a:sym typeface="DM Sans Bold"/>
                        </a:rPr>
                        <a:t>100</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DCE6F5"/>
                    </a:solidFill>
                  </a:tcPr>
                </a:tc>
                <a:tc>
                  <a:txBody>
                    <a:bodyPr anchor="t" rtlCol="false"/>
                    <a:lstStyle/>
                    <a:p>
                      <a:pPr algn="l">
                        <a:lnSpc>
                          <a:spcPts val="1981"/>
                        </a:lnSpc>
                        <a:defRPr/>
                      </a:pPr>
                      <a:r>
                        <a:rPr lang="en-US" sz="1651" b="true">
                          <a:solidFill>
                            <a:srgbClr val="0C1D4B"/>
                          </a:solidFill>
                          <a:latin typeface="DM Sans Bold"/>
                          <a:ea typeface="DM Sans Bold"/>
                          <a:cs typeface="DM Sans Bold"/>
                          <a:sym typeface="DM Sans Bold"/>
                        </a:rPr>
                        <a:t>5 Aufgaben</a:t>
                      </a:r>
                      <a:endParaRPr lang="en-US" sz="1100"/>
                    </a:p>
                  </a:txBody>
                  <a:tcPr marL="91440" marR="91440" marT="91440" marB="91440" anchor="ctr">
                    <a:lnL cmpd="sng" algn="ctr" cap="flat" w="6350">
                      <a:solidFill>
                        <a:srgbClr val="D8DEE7"/>
                      </a:solidFill>
                      <a:prstDash val="solid"/>
                      <a:round/>
                      <a:headEnd type="none" w="med" len="med"/>
                      <a:tailEnd type="none" w="med" len="med"/>
                    </a:lnL>
                    <a:lnR cmpd="sng" algn="ctr" cap="flat" w="6350">
                      <a:solidFill>
                        <a:srgbClr val="D8DEE7"/>
                      </a:solidFill>
                      <a:prstDash val="solid"/>
                      <a:round/>
                      <a:headEnd type="none" w="med" len="med"/>
                      <a:tailEnd type="none" w="med" len="med"/>
                    </a:lnR>
                    <a:lnT cmpd="sng" algn="ctr" cap="flat" w="6350">
                      <a:solidFill>
                        <a:srgbClr val="D8DEE7"/>
                      </a:solidFill>
                      <a:prstDash val="solid"/>
                      <a:round/>
                      <a:headEnd type="none" w="med" len="med"/>
                      <a:tailEnd type="none" w="med" len="med"/>
                    </a:lnT>
                    <a:lnB cmpd="sng" algn="ctr" cap="flat" w="6350">
                      <a:solidFill>
                        <a:srgbClr val="D8DEE7"/>
                      </a:solidFill>
                      <a:prstDash val="solid"/>
                      <a:round/>
                      <a:headEnd type="none" w="med" len="med"/>
                      <a:tailEnd type="none" w="med" len="med"/>
                    </a:lnB>
                    <a:solidFill>
                      <a:srgbClr val="DCE6F5"/>
                    </a:solidFill>
                  </a:tcPr>
                </a:tc>
              </a:tr>
            </a:tbl>
          </a:graphicData>
        </a:graphic>
      </p:graphicFrame>
      <p:grpSp>
        <p:nvGrpSpPr>
          <p:cNvPr name="Group 19" id="19"/>
          <p:cNvGrpSpPr/>
          <p:nvPr/>
        </p:nvGrpSpPr>
        <p:grpSpPr>
          <a:xfrm rot="0">
            <a:off x="12069985" y="2941711"/>
            <a:ext cx="5235216" cy="6058824"/>
            <a:chOff x="0" y="0"/>
            <a:chExt cx="6980288" cy="8078432"/>
          </a:xfrm>
        </p:grpSpPr>
        <p:sp>
          <p:nvSpPr>
            <p:cNvPr name="Freeform 20" id="20"/>
            <p:cNvSpPr/>
            <p:nvPr/>
          </p:nvSpPr>
          <p:spPr>
            <a:xfrm flipH="false" flipV="false" rot="0">
              <a:off x="0" y="0"/>
              <a:ext cx="6980301" cy="8078470"/>
            </a:xfrm>
            <a:custGeom>
              <a:avLst/>
              <a:gdLst/>
              <a:ahLst/>
              <a:cxnLst/>
              <a:rect r="r" b="b" t="t" l="l"/>
              <a:pathLst>
                <a:path h="8078470" w="6980301">
                  <a:moveTo>
                    <a:pt x="0" y="110236"/>
                  </a:moveTo>
                  <a:cubicBezTo>
                    <a:pt x="0" y="49403"/>
                    <a:pt x="49403" y="0"/>
                    <a:pt x="110236" y="0"/>
                  </a:cubicBezTo>
                  <a:lnTo>
                    <a:pt x="6870065" y="0"/>
                  </a:lnTo>
                  <a:cubicBezTo>
                    <a:pt x="6930898" y="0"/>
                    <a:pt x="6980301" y="49403"/>
                    <a:pt x="6980301" y="110236"/>
                  </a:cubicBezTo>
                  <a:lnTo>
                    <a:pt x="6980301" y="7968234"/>
                  </a:lnTo>
                  <a:cubicBezTo>
                    <a:pt x="6980301" y="8029067"/>
                    <a:pt x="6930898" y="8078470"/>
                    <a:pt x="6870065" y="8078470"/>
                  </a:cubicBezTo>
                  <a:lnTo>
                    <a:pt x="110236" y="8078470"/>
                  </a:lnTo>
                  <a:cubicBezTo>
                    <a:pt x="49403" y="8078470"/>
                    <a:pt x="0" y="8029067"/>
                    <a:pt x="0" y="7968234"/>
                  </a:cubicBezTo>
                  <a:close/>
                </a:path>
              </a:pathLst>
            </a:custGeom>
            <a:solidFill>
              <a:srgbClr val="EEF2F7"/>
            </a:solidFill>
            <a:ln w="19065" cap="sq">
              <a:solidFill>
                <a:srgbClr val="D8DEE7"/>
              </a:solidFill>
              <a:prstDash val="solid"/>
              <a:miter/>
            </a:ln>
          </p:spPr>
        </p:sp>
      </p:grpSp>
      <p:grpSp>
        <p:nvGrpSpPr>
          <p:cNvPr name="Group 21" id="21"/>
          <p:cNvGrpSpPr/>
          <p:nvPr/>
        </p:nvGrpSpPr>
        <p:grpSpPr>
          <a:xfrm rot="0">
            <a:off x="12463863" y="3225784"/>
            <a:ext cx="4529823" cy="549069"/>
            <a:chOff x="0" y="0"/>
            <a:chExt cx="6039764" cy="732092"/>
          </a:xfrm>
        </p:grpSpPr>
        <p:sp>
          <p:nvSpPr>
            <p:cNvPr name="Freeform 22" id="22"/>
            <p:cNvSpPr/>
            <p:nvPr/>
          </p:nvSpPr>
          <p:spPr>
            <a:xfrm flipH="false" flipV="false" rot="0">
              <a:off x="0" y="0"/>
              <a:ext cx="6039758" cy="732092"/>
            </a:xfrm>
            <a:custGeom>
              <a:avLst/>
              <a:gdLst/>
              <a:ahLst/>
              <a:cxnLst/>
              <a:rect r="r" b="b" t="t" l="l"/>
              <a:pathLst>
                <a:path h="732092" w="6039758">
                  <a:moveTo>
                    <a:pt x="0" y="0"/>
                  </a:moveTo>
                  <a:lnTo>
                    <a:pt x="6039758" y="0"/>
                  </a:lnTo>
                  <a:lnTo>
                    <a:pt x="6039758" y="732092"/>
                  </a:lnTo>
                  <a:lnTo>
                    <a:pt x="0" y="732092"/>
                  </a:lnTo>
                  <a:close/>
                </a:path>
              </a:pathLst>
            </a:custGeom>
            <a:blipFill>
              <a:blip r:embed="rId3">
                <a:alphaModFix amt="0"/>
              </a:blip>
              <a:stretch>
                <a:fillRect l="0" t="-110751" r="0" b="-110751"/>
              </a:stretch>
            </a:blipFill>
          </p:spPr>
        </p:sp>
        <p:sp>
          <p:nvSpPr>
            <p:cNvPr name="TextBox 23" id="23"/>
            <p:cNvSpPr txBox="true"/>
            <p:nvPr/>
          </p:nvSpPr>
          <p:spPr>
            <a:xfrm>
              <a:off x="0" y="9525"/>
              <a:ext cx="6039764" cy="722567"/>
            </a:xfrm>
            <a:prstGeom prst="rect">
              <a:avLst/>
            </a:prstGeom>
          </p:spPr>
          <p:txBody>
            <a:bodyPr anchor="ctr" rtlCol="false" tIns="0" lIns="0" bIns="0" rIns="0"/>
            <a:lstStyle/>
            <a:p>
              <a:pPr algn="l">
                <a:lnSpc>
                  <a:spcPts val="2882"/>
                </a:lnSpc>
              </a:pPr>
              <a:r>
                <a:rPr lang="en-US" sz="2401" b="true">
                  <a:solidFill>
                    <a:srgbClr val="0C1D4B"/>
                  </a:solidFill>
                  <a:latin typeface="Montserrat Bold"/>
                  <a:ea typeface="Montserrat Bold"/>
                  <a:cs typeface="Montserrat Bold"/>
                  <a:sym typeface="Montserrat Bold"/>
                </a:rPr>
                <a:t>Punktlogik</a:t>
              </a:r>
            </a:p>
          </p:txBody>
        </p:sp>
      </p:grpSp>
      <p:grpSp>
        <p:nvGrpSpPr>
          <p:cNvPr name="Group 24" id="24"/>
          <p:cNvGrpSpPr/>
          <p:nvPr/>
        </p:nvGrpSpPr>
        <p:grpSpPr>
          <a:xfrm rot="0">
            <a:off x="12463863" y="3912118"/>
            <a:ext cx="4529823" cy="823608"/>
            <a:chOff x="0" y="0"/>
            <a:chExt cx="6039764" cy="1098144"/>
          </a:xfrm>
        </p:grpSpPr>
        <p:sp>
          <p:nvSpPr>
            <p:cNvPr name="Freeform 25" id="25"/>
            <p:cNvSpPr/>
            <p:nvPr/>
          </p:nvSpPr>
          <p:spPr>
            <a:xfrm flipH="false" flipV="false" rot="0">
              <a:off x="0" y="0"/>
              <a:ext cx="6039758" cy="1098138"/>
            </a:xfrm>
            <a:custGeom>
              <a:avLst/>
              <a:gdLst/>
              <a:ahLst/>
              <a:cxnLst/>
              <a:rect r="r" b="b" t="t" l="l"/>
              <a:pathLst>
                <a:path h="1098138" w="6039758">
                  <a:moveTo>
                    <a:pt x="0" y="0"/>
                  </a:moveTo>
                  <a:lnTo>
                    <a:pt x="6039758" y="0"/>
                  </a:lnTo>
                  <a:lnTo>
                    <a:pt x="6039758" y="1098138"/>
                  </a:lnTo>
                  <a:lnTo>
                    <a:pt x="0" y="1098138"/>
                  </a:lnTo>
                  <a:close/>
                </a:path>
              </a:pathLst>
            </a:custGeom>
            <a:blipFill>
              <a:blip r:embed="rId3">
                <a:alphaModFix amt="0"/>
              </a:blip>
              <a:stretch>
                <a:fillRect l="0" t="-57167" r="0" b="-57168"/>
              </a:stretch>
            </a:blipFill>
          </p:spPr>
        </p:sp>
        <p:sp>
          <p:nvSpPr>
            <p:cNvPr name="TextBox 26" id="26"/>
            <p:cNvSpPr txBox="true"/>
            <p:nvPr/>
          </p:nvSpPr>
          <p:spPr>
            <a:xfrm>
              <a:off x="0" y="0"/>
              <a:ext cx="6039764" cy="1098144"/>
            </a:xfrm>
            <a:prstGeom prst="rect">
              <a:avLst/>
            </a:prstGeom>
          </p:spPr>
          <p:txBody>
            <a:bodyPr anchor="ctr" rtlCol="false" tIns="0" lIns="0" bIns="0" rIns="0"/>
            <a:lstStyle/>
            <a:p>
              <a:pPr algn="l">
                <a:lnSpc>
                  <a:spcPts val="2251"/>
                </a:lnSpc>
              </a:pPr>
              <a:r>
                <a:rPr lang="en-US" sz="1876" b="true">
                  <a:solidFill>
                    <a:srgbClr val="0C1D4B"/>
                  </a:solidFill>
                  <a:latin typeface="DM Sans Bold"/>
                  <a:ea typeface="DM Sans Bold"/>
                  <a:cs typeface="DM Sans Bold"/>
                  <a:sym typeface="DM Sans Bold"/>
                </a:rPr>
                <a:t>Anzahl geforderter Elemente</a:t>
              </a:r>
              <a:r>
                <a:rPr lang="en-US" sz="1876" b="true">
                  <a:solidFill>
                    <a:srgbClr val="FF4000"/>
                  </a:solidFill>
                  <a:latin typeface="DM Sans Bold"/>
                  <a:ea typeface="DM Sans Bold"/>
                  <a:cs typeface="DM Sans Bold"/>
                  <a:sym typeface="DM Sans Bold"/>
                </a:rPr>
                <a:t>  ×  </a:t>
              </a:r>
              <a:r>
                <a:rPr lang="en-US" sz="1876" b="true">
                  <a:solidFill>
                    <a:srgbClr val="0C1D4B"/>
                  </a:solidFill>
                  <a:latin typeface="DM Sans Bold"/>
                  <a:ea typeface="DM Sans Bold"/>
                  <a:cs typeface="DM Sans Bold"/>
                  <a:sym typeface="DM Sans Bold"/>
                </a:rPr>
                <a:t>AFB-Wert</a:t>
              </a:r>
              <a:r>
                <a:rPr lang="en-US" sz="1876">
                  <a:solidFill>
                    <a:srgbClr val="0C1D4B"/>
                  </a:solidFill>
                  <a:latin typeface="DM Sans"/>
                  <a:ea typeface="DM Sans"/>
                  <a:cs typeface="DM Sans"/>
                  <a:sym typeface="DM Sans"/>
                </a:rPr>
                <a:t>  =  Teilpunkte</a:t>
              </a:r>
            </a:p>
          </p:txBody>
        </p:sp>
      </p:grpSp>
      <p:grpSp>
        <p:nvGrpSpPr>
          <p:cNvPr name="Group 27" id="27"/>
          <p:cNvGrpSpPr/>
          <p:nvPr/>
        </p:nvGrpSpPr>
        <p:grpSpPr>
          <a:xfrm rot="0">
            <a:off x="12463863" y="4804353"/>
            <a:ext cx="4529823" cy="1372676"/>
            <a:chOff x="0" y="0"/>
            <a:chExt cx="6039764" cy="1830235"/>
          </a:xfrm>
        </p:grpSpPr>
        <p:sp>
          <p:nvSpPr>
            <p:cNvPr name="Freeform 28" id="28"/>
            <p:cNvSpPr/>
            <p:nvPr/>
          </p:nvSpPr>
          <p:spPr>
            <a:xfrm flipH="false" flipV="false" rot="0">
              <a:off x="0" y="0"/>
              <a:ext cx="6039739" cy="1830197"/>
            </a:xfrm>
            <a:custGeom>
              <a:avLst/>
              <a:gdLst/>
              <a:ahLst/>
              <a:cxnLst/>
              <a:rect r="r" b="b" t="t" l="l"/>
              <a:pathLst>
                <a:path h="1830197" w="6039739">
                  <a:moveTo>
                    <a:pt x="0" y="0"/>
                  </a:moveTo>
                  <a:lnTo>
                    <a:pt x="6039739" y="0"/>
                  </a:lnTo>
                  <a:lnTo>
                    <a:pt x="6039739" y="1830197"/>
                  </a:lnTo>
                  <a:lnTo>
                    <a:pt x="0" y="1830197"/>
                  </a:lnTo>
                  <a:close/>
                </a:path>
              </a:pathLst>
            </a:custGeom>
            <a:solidFill>
              <a:srgbClr val="E8FBFC"/>
            </a:solidFill>
          </p:spPr>
        </p:sp>
        <p:sp>
          <p:nvSpPr>
            <p:cNvPr name="TextBox 29" id="29"/>
            <p:cNvSpPr txBox="true"/>
            <p:nvPr/>
          </p:nvSpPr>
          <p:spPr>
            <a:xfrm>
              <a:off x="0" y="0"/>
              <a:ext cx="6039764" cy="1830235"/>
            </a:xfrm>
            <a:prstGeom prst="rect">
              <a:avLst/>
            </a:prstGeom>
          </p:spPr>
          <p:txBody>
            <a:bodyPr anchor="t" rtlCol="false" tIns="50800" lIns="50800" bIns="50800" rIns="50800"/>
            <a:lstStyle/>
            <a:p>
              <a:pPr algn="l">
                <a:lnSpc>
                  <a:spcPts val="2161"/>
                </a:lnSpc>
              </a:pPr>
              <a:r>
                <a:rPr lang="en-US" sz="1801" b="true">
                  <a:solidFill>
                    <a:srgbClr val="0C1D4B"/>
                  </a:solidFill>
                  <a:latin typeface="DM Sans Bold"/>
                  <a:ea typeface="DM Sans Bold"/>
                  <a:cs typeface="DM Sans Bold"/>
                  <a:sym typeface="DM Sans Bold"/>
                </a:rPr>
                <a:t>Beispiel  </a:t>
              </a:r>
              <a:r>
                <a:rPr lang="en-US" sz="1801" i="true">
                  <a:solidFill>
                    <a:srgbClr val="23262B"/>
                  </a:solidFill>
                  <a:latin typeface="DM Sans Italics"/>
                  <a:ea typeface="DM Sans Italics"/>
                  <a:cs typeface="DM Sans Italics"/>
                  <a:sym typeface="DM Sans Italics"/>
                </a:rPr>
                <a:t>„Erläutern Sie sechs Aspekte“</a:t>
              </a:r>
            </a:p>
            <a:p>
              <a:pPr algn="l">
                <a:lnSpc>
                  <a:spcPts val="2161"/>
                </a:lnSpc>
              </a:pPr>
              <a:r>
                <a:rPr lang="en-US" sz="1801" b="true">
                  <a:solidFill>
                    <a:srgbClr val="0A3A3D"/>
                  </a:solidFill>
                  <a:latin typeface="DM Sans Bold"/>
                  <a:ea typeface="DM Sans Bold"/>
                  <a:cs typeface="DM Sans Bold"/>
                  <a:sym typeface="DM Sans Bold"/>
                </a:rPr>
                <a:t>6 Elemente × AFB II (2 P.) = 12 Punkte</a:t>
              </a:r>
            </a:p>
          </p:txBody>
        </p:sp>
      </p:grpSp>
      <p:sp>
        <p:nvSpPr>
          <p:cNvPr name="TextBox 30" id="30"/>
          <p:cNvSpPr txBox="true"/>
          <p:nvPr/>
        </p:nvSpPr>
        <p:spPr>
          <a:xfrm rot="0">
            <a:off x="12463863" y="6451559"/>
            <a:ext cx="4529823" cy="2333539"/>
          </a:xfrm>
          <a:prstGeom prst="rect">
            <a:avLst/>
          </a:prstGeom>
        </p:spPr>
        <p:txBody>
          <a:bodyPr anchor="t" rtlCol="false" tIns="0" lIns="0" bIns="0" rIns="0">
            <a:spAutoFit/>
          </a:bodyPr>
          <a:lstStyle/>
          <a:p>
            <a:pPr algn="l">
              <a:lnSpc>
                <a:spcPts val="2161"/>
              </a:lnSpc>
            </a:pPr>
            <a:r>
              <a:rPr lang="en-US" sz="1801" b="true">
                <a:solidFill>
                  <a:srgbClr val="0C1D4B"/>
                </a:solidFill>
                <a:latin typeface="Montserrat Bold"/>
                <a:ea typeface="Montserrat Bold"/>
                <a:cs typeface="Montserrat Bold"/>
                <a:sym typeface="Montserrat Bold"/>
              </a:rPr>
              <a:t>Gut zu wissen</a:t>
            </a:r>
          </a:p>
          <a:p>
            <a:pPr algn="l">
              <a:lnSpc>
                <a:spcPts val="2161"/>
              </a:lnSpc>
            </a:pPr>
            <a:r>
              <a:rPr lang="en-US" sz="1801">
                <a:solidFill>
                  <a:srgbClr val="23262B"/>
                </a:solidFill>
                <a:latin typeface="DM Sans"/>
                <a:ea typeface="DM Sans"/>
                <a:cs typeface="DM Sans"/>
                <a:sym typeface="DM Sans"/>
              </a:rPr>
              <a:t>Je Situationsaufgabe: 120 Min · 5 Aufgaben · 100 Punkte.</a:t>
            </a:r>
          </a:p>
          <a:p>
            <a:pPr algn="l">
              <a:lnSpc>
                <a:spcPts val="2161"/>
              </a:lnSpc>
            </a:pPr>
            <a:r>
              <a:rPr lang="en-US" sz="1801">
                <a:solidFill>
                  <a:srgbClr val="23262B"/>
                </a:solidFill>
                <a:latin typeface="DM Sans"/>
                <a:ea typeface="DM Sans"/>
                <a:cs typeface="DM Sans"/>
                <a:sym typeface="DM Sans"/>
              </a:rPr>
              <a:t>Jede Aufgabe mischt bewusst AFB I, II und III.</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34</a:t>
              </a:r>
            </a:p>
          </p:txBody>
        </p:sp>
      </p:grpSp>
      <p:grpSp>
        <p:nvGrpSpPr>
          <p:cNvPr name="Group 12" id="12"/>
          <p:cNvGrpSpPr/>
          <p:nvPr/>
        </p:nvGrpSpPr>
        <p:grpSpPr>
          <a:xfrm rot="0">
            <a:off x="1019975" y="1294505"/>
            <a:ext cx="1391736" cy="1391736"/>
            <a:chOff x="0" y="0"/>
            <a:chExt cx="1855648" cy="1855648"/>
          </a:xfrm>
        </p:grpSpPr>
        <p:sp>
          <p:nvSpPr>
            <p:cNvPr name="Freeform 13" id="13"/>
            <p:cNvSpPr/>
            <p:nvPr/>
          </p:nvSpPr>
          <p:spPr>
            <a:xfrm flipH="false" flipV="false" rot="0">
              <a:off x="0" y="0"/>
              <a:ext cx="1855597" cy="1855597"/>
            </a:xfrm>
            <a:custGeom>
              <a:avLst/>
              <a:gdLst/>
              <a:ahLst/>
              <a:cxnLst/>
              <a:rect r="r" b="b" t="t" l="l"/>
              <a:pathLst>
                <a:path h="1855597" w="1855597">
                  <a:moveTo>
                    <a:pt x="0" y="185547"/>
                  </a:moveTo>
                  <a:cubicBezTo>
                    <a:pt x="0" y="83058"/>
                    <a:pt x="83058" y="0"/>
                    <a:pt x="185547" y="0"/>
                  </a:cubicBezTo>
                  <a:lnTo>
                    <a:pt x="1670050" y="0"/>
                  </a:lnTo>
                  <a:cubicBezTo>
                    <a:pt x="1772539" y="0"/>
                    <a:pt x="1855597" y="83058"/>
                    <a:pt x="1855597" y="185547"/>
                  </a:cubicBezTo>
                  <a:lnTo>
                    <a:pt x="1855597" y="1670050"/>
                  </a:lnTo>
                  <a:cubicBezTo>
                    <a:pt x="1855597" y="1772539"/>
                    <a:pt x="1772539" y="1855597"/>
                    <a:pt x="1670050" y="1855597"/>
                  </a:cubicBezTo>
                  <a:lnTo>
                    <a:pt x="185547" y="1855597"/>
                  </a:lnTo>
                  <a:cubicBezTo>
                    <a:pt x="83058" y="1855597"/>
                    <a:pt x="0" y="1772539"/>
                    <a:pt x="0" y="1670050"/>
                  </a:cubicBezTo>
                  <a:close/>
                </a:path>
              </a:pathLst>
            </a:custGeom>
            <a:solidFill>
              <a:srgbClr val="0C1D4B"/>
            </a:solidFill>
            <a:ln w="19065" cap="sq">
              <a:solidFill>
                <a:srgbClr val="0C1D4B"/>
              </a:solidFill>
              <a:prstDash val="solid"/>
              <a:miter/>
            </a:ln>
          </p:spPr>
        </p:sp>
      </p:grpSp>
      <p:grpSp>
        <p:nvGrpSpPr>
          <p:cNvPr name="Group 14" id="14"/>
          <p:cNvGrpSpPr/>
          <p:nvPr/>
        </p:nvGrpSpPr>
        <p:grpSpPr>
          <a:xfrm rot="0">
            <a:off x="1029500" y="1235402"/>
            <a:ext cx="1372676" cy="1441304"/>
            <a:chOff x="0" y="0"/>
            <a:chExt cx="1830235" cy="1921739"/>
          </a:xfrm>
        </p:grpSpPr>
        <p:sp>
          <p:nvSpPr>
            <p:cNvPr name="Freeform 15" id="15"/>
            <p:cNvSpPr/>
            <p:nvPr/>
          </p:nvSpPr>
          <p:spPr>
            <a:xfrm flipH="false" flipV="false" rot="0">
              <a:off x="0" y="0"/>
              <a:ext cx="1830230" cy="1921741"/>
            </a:xfrm>
            <a:custGeom>
              <a:avLst/>
              <a:gdLst/>
              <a:ahLst/>
              <a:cxnLst/>
              <a:rect r="r" b="b" t="t" l="l"/>
              <a:pathLst>
                <a:path h="1921741" w="1830230">
                  <a:moveTo>
                    <a:pt x="0" y="0"/>
                  </a:moveTo>
                  <a:lnTo>
                    <a:pt x="1830230" y="0"/>
                  </a:lnTo>
                  <a:lnTo>
                    <a:pt x="1830230" y="1921741"/>
                  </a:lnTo>
                  <a:lnTo>
                    <a:pt x="0" y="1921741"/>
                  </a:lnTo>
                  <a:close/>
                </a:path>
              </a:pathLst>
            </a:custGeom>
            <a:blipFill>
              <a:blip r:embed="rId3">
                <a:alphaModFix amt="0"/>
              </a:blip>
              <a:stretch>
                <a:fillRect l="-84718" t="0" r="-84718" b="0"/>
              </a:stretch>
            </a:blipFill>
          </p:spPr>
        </p:sp>
        <p:sp>
          <p:nvSpPr>
            <p:cNvPr name="TextBox 16" id="16"/>
            <p:cNvSpPr txBox="true"/>
            <p:nvPr/>
          </p:nvSpPr>
          <p:spPr>
            <a:xfrm>
              <a:off x="0" y="0"/>
              <a:ext cx="1830235" cy="1921739"/>
            </a:xfrm>
            <a:prstGeom prst="rect">
              <a:avLst/>
            </a:prstGeom>
          </p:spPr>
          <p:txBody>
            <a:bodyPr anchor="ctr" rtlCol="false" tIns="0" lIns="0" bIns="0" rIns="0"/>
            <a:lstStyle/>
            <a:p>
              <a:pPr algn="ctr">
                <a:lnSpc>
                  <a:spcPts val="7205"/>
                </a:lnSpc>
              </a:pPr>
              <a:r>
                <a:rPr lang="en-US" sz="6004" b="true">
                  <a:solidFill>
                    <a:srgbClr val="5CE1E6"/>
                  </a:solidFill>
                  <a:latin typeface="Montserrat Bold"/>
                  <a:ea typeface="Montserrat Bold"/>
                  <a:cs typeface="Montserrat Bold"/>
                  <a:sym typeface="Montserrat Bold"/>
                </a:rPr>
                <a:t>2</a:t>
              </a:r>
            </a:p>
          </p:txBody>
        </p:sp>
      </p:grpSp>
      <p:grpSp>
        <p:nvGrpSpPr>
          <p:cNvPr name="Group 17" id="17"/>
          <p:cNvGrpSpPr/>
          <p:nvPr/>
        </p:nvGrpSpPr>
        <p:grpSpPr>
          <a:xfrm rot="0">
            <a:off x="2676716" y="1262863"/>
            <a:ext cx="14413059" cy="754971"/>
            <a:chOff x="0" y="0"/>
            <a:chExt cx="19217411" cy="1006627"/>
          </a:xfrm>
        </p:grpSpPr>
        <p:sp>
          <p:nvSpPr>
            <p:cNvPr name="Freeform 18" id="18"/>
            <p:cNvSpPr/>
            <p:nvPr/>
          </p:nvSpPr>
          <p:spPr>
            <a:xfrm flipH="false" flipV="false" rot="0">
              <a:off x="0" y="0"/>
              <a:ext cx="19217413" cy="1006626"/>
            </a:xfrm>
            <a:custGeom>
              <a:avLst/>
              <a:gdLst/>
              <a:ahLst/>
              <a:cxnLst/>
              <a:rect r="r" b="b" t="t" l="l"/>
              <a:pathLst>
                <a:path h="1006626" w="19217413">
                  <a:moveTo>
                    <a:pt x="0" y="0"/>
                  </a:moveTo>
                  <a:lnTo>
                    <a:pt x="19217413" y="0"/>
                  </a:lnTo>
                  <a:lnTo>
                    <a:pt x="19217413" y="1006626"/>
                  </a:lnTo>
                  <a:lnTo>
                    <a:pt x="0" y="1006626"/>
                  </a:lnTo>
                  <a:close/>
                </a:path>
              </a:pathLst>
            </a:custGeom>
            <a:blipFill>
              <a:blip r:embed="rId3">
                <a:alphaModFix amt="0"/>
              </a:blip>
              <a:stretch>
                <a:fillRect l="0" t="-321986" r="0" b="-321987"/>
              </a:stretch>
            </a:blipFill>
          </p:spPr>
        </p:sp>
        <p:sp>
          <p:nvSpPr>
            <p:cNvPr name="TextBox 19" id="19"/>
            <p:cNvSpPr txBox="true"/>
            <p:nvPr/>
          </p:nvSpPr>
          <p:spPr>
            <a:xfrm>
              <a:off x="0" y="9525"/>
              <a:ext cx="19217411" cy="997102"/>
            </a:xfrm>
            <a:prstGeom prst="rect">
              <a:avLst/>
            </a:prstGeom>
          </p:spPr>
          <p:txBody>
            <a:bodyPr anchor="ctr" rtlCol="false" tIns="0" lIns="0" bIns="0" rIns="0"/>
            <a:lstStyle/>
            <a:p>
              <a:pPr algn="l">
                <a:lnSpc>
                  <a:spcPts val="5764"/>
                </a:lnSpc>
              </a:pPr>
              <a:r>
                <a:rPr lang="en-US" sz="4803" b="true">
                  <a:solidFill>
                    <a:srgbClr val="0C1D4B"/>
                  </a:solidFill>
                  <a:latin typeface="Montserrat Bold"/>
                  <a:ea typeface="Montserrat Bold"/>
                  <a:cs typeface="Montserrat Bold"/>
                  <a:sym typeface="Montserrat Bold"/>
                </a:rPr>
                <a:t>Ausgangssituation</a:t>
              </a:r>
            </a:p>
          </p:txBody>
        </p:sp>
      </p:grpSp>
      <p:grpSp>
        <p:nvGrpSpPr>
          <p:cNvPr name="Group 20" id="20"/>
          <p:cNvGrpSpPr/>
          <p:nvPr/>
        </p:nvGrpSpPr>
        <p:grpSpPr>
          <a:xfrm rot="0">
            <a:off x="2704167" y="2059010"/>
            <a:ext cx="14413059" cy="576520"/>
            <a:chOff x="0" y="0"/>
            <a:chExt cx="19217411" cy="768693"/>
          </a:xfrm>
        </p:grpSpPr>
        <p:sp>
          <p:nvSpPr>
            <p:cNvPr name="Freeform 21" id="21"/>
            <p:cNvSpPr/>
            <p:nvPr/>
          </p:nvSpPr>
          <p:spPr>
            <a:xfrm flipH="false" flipV="false" rot="0">
              <a:off x="0" y="0"/>
              <a:ext cx="19217413" cy="768697"/>
            </a:xfrm>
            <a:custGeom>
              <a:avLst/>
              <a:gdLst/>
              <a:ahLst/>
              <a:cxnLst/>
              <a:rect r="r" b="b" t="t" l="l"/>
              <a:pathLst>
                <a:path h="768697" w="19217413">
                  <a:moveTo>
                    <a:pt x="0" y="0"/>
                  </a:moveTo>
                  <a:lnTo>
                    <a:pt x="19217413" y="0"/>
                  </a:lnTo>
                  <a:lnTo>
                    <a:pt x="19217413" y="768697"/>
                  </a:lnTo>
                  <a:lnTo>
                    <a:pt x="0" y="768697"/>
                  </a:lnTo>
                  <a:close/>
                </a:path>
              </a:pathLst>
            </a:custGeom>
            <a:blipFill>
              <a:blip r:embed="rId3">
                <a:alphaModFix amt="0"/>
              </a:blip>
              <a:stretch>
                <a:fillRect l="0" t="-437126" r="0" b="-437125"/>
              </a:stretch>
            </a:blipFill>
          </p:spPr>
        </p:sp>
        <p:sp>
          <p:nvSpPr>
            <p:cNvPr name="TextBox 22" id="22"/>
            <p:cNvSpPr txBox="true"/>
            <p:nvPr/>
          </p:nvSpPr>
          <p:spPr>
            <a:xfrm>
              <a:off x="0" y="-9525"/>
              <a:ext cx="19217411" cy="778218"/>
            </a:xfrm>
            <a:prstGeom prst="rect">
              <a:avLst/>
            </a:prstGeom>
          </p:spPr>
          <p:txBody>
            <a:bodyPr anchor="ctr" rtlCol="false" tIns="0" lIns="0" bIns="0" rIns="0"/>
            <a:lstStyle/>
            <a:p>
              <a:pPr algn="l">
                <a:lnSpc>
                  <a:spcPts val="2702"/>
                </a:lnSpc>
              </a:pPr>
              <a:r>
                <a:rPr lang="en-US" sz="2251" b="true">
                  <a:solidFill>
                    <a:srgbClr val="FF4000"/>
                  </a:solidFill>
                  <a:latin typeface="Montserrat Bold"/>
                  <a:ea typeface="Montserrat Bold"/>
                  <a:cs typeface="Montserrat Bold"/>
                  <a:sym typeface="Montserrat Bold"/>
                </a:rPr>
                <a:t>MobilPlus Verkehrsbetriebe AG</a:t>
              </a:r>
            </a:p>
          </p:txBody>
        </p:sp>
      </p:grpSp>
      <p:grpSp>
        <p:nvGrpSpPr>
          <p:cNvPr name="Group 23" id="23"/>
          <p:cNvGrpSpPr/>
          <p:nvPr/>
        </p:nvGrpSpPr>
        <p:grpSpPr>
          <a:xfrm rot="0">
            <a:off x="1061152" y="8569671"/>
            <a:ext cx="1979238" cy="705402"/>
            <a:chOff x="0" y="0"/>
            <a:chExt cx="2638984" cy="940537"/>
          </a:xfrm>
        </p:grpSpPr>
        <p:sp>
          <p:nvSpPr>
            <p:cNvPr name="Freeform 24" id="24"/>
            <p:cNvSpPr/>
            <p:nvPr/>
          </p:nvSpPr>
          <p:spPr>
            <a:xfrm flipH="false" flipV="false" rot="0">
              <a:off x="0" y="0"/>
              <a:ext cx="2638933" cy="940435"/>
            </a:xfrm>
            <a:custGeom>
              <a:avLst/>
              <a:gdLst/>
              <a:ahLst/>
              <a:cxnLst/>
              <a:rect r="r" b="b" t="t" l="l"/>
              <a:pathLst>
                <a:path h="940435" w="2638933">
                  <a:moveTo>
                    <a:pt x="0" y="225679"/>
                  </a:moveTo>
                  <a:cubicBezTo>
                    <a:pt x="0" y="101092"/>
                    <a:pt x="101092" y="0"/>
                    <a:pt x="225679" y="0"/>
                  </a:cubicBezTo>
                  <a:lnTo>
                    <a:pt x="2413254" y="0"/>
                  </a:lnTo>
                  <a:cubicBezTo>
                    <a:pt x="2537968" y="0"/>
                    <a:pt x="2638933" y="101092"/>
                    <a:pt x="2638933" y="225679"/>
                  </a:cubicBezTo>
                  <a:lnTo>
                    <a:pt x="2638933" y="714756"/>
                  </a:lnTo>
                  <a:cubicBezTo>
                    <a:pt x="2638933" y="839470"/>
                    <a:pt x="2537841" y="940435"/>
                    <a:pt x="2413254" y="940435"/>
                  </a:cubicBezTo>
                  <a:lnTo>
                    <a:pt x="225679" y="940435"/>
                  </a:lnTo>
                  <a:cubicBezTo>
                    <a:pt x="101092" y="940562"/>
                    <a:pt x="0" y="839470"/>
                    <a:pt x="0" y="714756"/>
                  </a:cubicBezTo>
                  <a:close/>
                </a:path>
              </a:pathLst>
            </a:custGeom>
            <a:solidFill>
              <a:srgbClr val="EEF2F7"/>
            </a:solidFill>
            <a:ln w="19065" cap="sq">
              <a:solidFill>
                <a:srgbClr val="D8DEE7"/>
              </a:solidFill>
              <a:prstDash val="solid"/>
              <a:miter/>
            </a:ln>
          </p:spPr>
        </p:sp>
      </p:grpSp>
      <p:grpSp>
        <p:nvGrpSpPr>
          <p:cNvPr name="Group 25" id="25"/>
          <p:cNvGrpSpPr/>
          <p:nvPr/>
        </p:nvGrpSpPr>
        <p:grpSpPr>
          <a:xfrm rot="0">
            <a:off x="1070686" y="8579206"/>
            <a:ext cx="1960178" cy="686333"/>
            <a:chOff x="0" y="0"/>
            <a:chExt cx="2613571" cy="915111"/>
          </a:xfrm>
        </p:grpSpPr>
        <p:sp>
          <p:nvSpPr>
            <p:cNvPr name="Freeform 26" id="26"/>
            <p:cNvSpPr/>
            <p:nvPr/>
          </p:nvSpPr>
          <p:spPr>
            <a:xfrm flipH="false" flipV="false" rot="0">
              <a:off x="0" y="0"/>
              <a:ext cx="2613568" cy="915115"/>
            </a:xfrm>
            <a:custGeom>
              <a:avLst/>
              <a:gdLst/>
              <a:ahLst/>
              <a:cxnLst/>
              <a:rect r="r" b="b" t="t" l="l"/>
              <a:pathLst>
                <a:path h="915115" w="2613568">
                  <a:moveTo>
                    <a:pt x="0" y="0"/>
                  </a:moveTo>
                  <a:lnTo>
                    <a:pt x="2613568" y="0"/>
                  </a:lnTo>
                  <a:lnTo>
                    <a:pt x="2613568" y="915115"/>
                  </a:lnTo>
                  <a:lnTo>
                    <a:pt x="0" y="915115"/>
                  </a:lnTo>
                  <a:close/>
                </a:path>
              </a:pathLst>
            </a:custGeom>
            <a:blipFill>
              <a:blip r:embed="rId3">
                <a:alphaModFix amt="0"/>
              </a:blip>
              <a:stretch>
                <a:fillRect l="0" t="-5649" r="0" b="-5649"/>
              </a:stretch>
            </a:blipFill>
          </p:spPr>
        </p:sp>
        <p:sp>
          <p:nvSpPr>
            <p:cNvPr name="TextBox 27" id="27"/>
            <p:cNvSpPr txBox="true"/>
            <p:nvPr/>
          </p:nvSpPr>
          <p:spPr>
            <a:xfrm>
              <a:off x="0" y="0"/>
              <a:ext cx="2613571" cy="915111"/>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120 Minuten</a:t>
              </a:r>
            </a:p>
          </p:txBody>
        </p:sp>
      </p:grpSp>
      <p:grpSp>
        <p:nvGrpSpPr>
          <p:cNvPr name="Group 28" id="28"/>
          <p:cNvGrpSpPr/>
          <p:nvPr/>
        </p:nvGrpSpPr>
        <p:grpSpPr>
          <a:xfrm rot="0">
            <a:off x="3364497" y="8569671"/>
            <a:ext cx="1844716" cy="705402"/>
            <a:chOff x="0" y="0"/>
            <a:chExt cx="2459622" cy="940537"/>
          </a:xfrm>
        </p:grpSpPr>
        <p:sp>
          <p:nvSpPr>
            <p:cNvPr name="Freeform 29" id="29"/>
            <p:cNvSpPr/>
            <p:nvPr/>
          </p:nvSpPr>
          <p:spPr>
            <a:xfrm flipH="false" flipV="false" rot="0">
              <a:off x="0" y="0"/>
              <a:ext cx="2459609" cy="940435"/>
            </a:xfrm>
            <a:custGeom>
              <a:avLst/>
              <a:gdLst/>
              <a:ahLst/>
              <a:cxnLst/>
              <a:rect r="r" b="b" t="t" l="l"/>
              <a:pathLst>
                <a:path h="940435" w="2459609">
                  <a:moveTo>
                    <a:pt x="0" y="225679"/>
                  </a:moveTo>
                  <a:cubicBezTo>
                    <a:pt x="0" y="101092"/>
                    <a:pt x="101092" y="0"/>
                    <a:pt x="225679" y="0"/>
                  </a:cubicBezTo>
                  <a:lnTo>
                    <a:pt x="2233930" y="0"/>
                  </a:lnTo>
                  <a:cubicBezTo>
                    <a:pt x="2358644" y="0"/>
                    <a:pt x="2459609" y="101092"/>
                    <a:pt x="2459609" y="225679"/>
                  </a:cubicBezTo>
                  <a:lnTo>
                    <a:pt x="2459609" y="714756"/>
                  </a:lnTo>
                  <a:cubicBezTo>
                    <a:pt x="2459609" y="839470"/>
                    <a:pt x="2358517" y="940435"/>
                    <a:pt x="2233930" y="940435"/>
                  </a:cubicBezTo>
                  <a:lnTo>
                    <a:pt x="225679" y="940435"/>
                  </a:lnTo>
                  <a:cubicBezTo>
                    <a:pt x="101092" y="940562"/>
                    <a:pt x="0" y="839470"/>
                    <a:pt x="0" y="714756"/>
                  </a:cubicBezTo>
                  <a:close/>
                </a:path>
              </a:pathLst>
            </a:custGeom>
            <a:solidFill>
              <a:srgbClr val="EEF2F7"/>
            </a:solidFill>
            <a:ln w="19065" cap="sq">
              <a:solidFill>
                <a:srgbClr val="D8DEE7"/>
              </a:solidFill>
              <a:prstDash val="solid"/>
              <a:miter/>
            </a:ln>
          </p:spPr>
        </p:sp>
      </p:grpSp>
      <p:grpSp>
        <p:nvGrpSpPr>
          <p:cNvPr name="Group 30" id="30"/>
          <p:cNvGrpSpPr/>
          <p:nvPr/>
        </p:nvGrpSpPr>
        <p:grpSpPr>
          <a:xfrm rot="0">
            <a:off x="3374031" y="8579206"/>
            <a:ext cx="1825657" cy="686333"/>
            <a:chOff x="0" y="0"/>
            <a:chExt cx="2434209" cy="915111"/>
          </a:xfrm>
        </p:grpSpPr>
        <p:sp>
          <p:nvSpPr>
            <p:cNvPr name="Freeform 31" id="31"/>
            <p:cNvSpPr/>
            <p:nvPr/>
          </p:nvSpPr>
          <p:spPr>
            <a:xfrm flipH="false" flipV="false" rot="0">
              <a:off x="0" y="0"/>
              <a:ext cx="2434206" cy="915115"/>
            </a:xfrm>
            <a:custGeom>
              <a:avLst/>
              <a:gdLst/>
              <a:ahLst/>
              <a:cxnLst/>
              <a:rect r="r" b="b" t="t" l="l"/>
              <a:pathLst>
                <a:path h="915115" w="2434206">
                  <a:moveTo>
                    <a:pt x="0" y="0"/>
                  </a:moveTo>
                  <a:lnTo>
                    <a:pt x="2434206" y="0"/>
                  </a:lnTo>
                  <a:lnTo>
                    <a:pt x="2434206" y="915115"/>
                  </a:lnTo>
                  <a:lnTo>
                    <a:pt x="0" y="915115"/>
                  </a:lnTo>
                  <a:close/>
                </a:path>
              </a:pathLst>
            </a:custGeom>
            <a:blipFill>
              <a:blip r:embed="rId3">
                <a:alphaModFix amt="0"/>
              </a:blip>
              <a:stretch>
                <a:fillRect l="0" t="-1830" r="0" b="-1830"/>
              </a:stretch>
            </a:blipFill>
          </p:spPr>
        </p:sp>
        <p:sp>
          <p:nvSpPr>
            <p:cNvPr name="TextBox 32" id="32"/>
            <p:cNvSpPr txBox="true"/>
            <p:nvPr/>
          </p:nvSpPr>
          <p:spPr>
            <a:xfrm>
              <a:off x="0" y="0"/>
              <a:ext cx="2434209" cy="915111"/>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5 Aufgaben</a:t>
              </a:r>
            </a:p>
          </p:txBody>
        </p:sp>
      </p:grpSp>
      <p:grpSp>
        <p:nvGrpSpPr>
          <p:cNvPr name="Group 33" id="33"/>
          <p:cNvGrpSpPr/>
          <p:nvPr/>
        </p:nvGrpSpPr>
        <p:grpSpPr>
          <a:xfrm rot="0">
            <a:off x="5533320" y="8569671"/>
            <a:ext cx="1844716" cy="705402"/>
            <a:chOff x="0" y="0"/>
            <a:chExt cx="2459622" cy="940537"/>
          </a:xfrm>
        </p:grpSpPr>
        <p:sp>
          <p:nvSpPr>
            <p:cNvPr name="Freeform 34" id="34"/>
            <p:cNvSpPr/>
            <p:nvPr/>
          </p:nvSpPr>
          <p:spPr>
            <a:xfrm flipH="false" flipV="false" rot="0">
              <a:off x="0" y="0"/>
              <a:ext cx="2459609" cy="940435"/>
            </a:xfrm>
            <a:custGeom>
              <a:avLst/>
              <a:gdLst/>
              <a:ahLst/>
              <a:cxnLst/>
              <a:rect r="r" b="b" t="t" l="l"/>
              <a:pathLst>
                <a:path h="940435" w="2459609">
                  <a:moveTo>
                    <a:pt x="0" y="225679"/>
                  </a:moveTo>
                  <a:cubicBezTo>
                    <a:pt x="0" y="101092"/>
                    <a:pt x="101092" y="0"/>
                    <a:pt x="225679" y="0"/>
                  </a:cubicBezTo>
                  <a:lnTo>
                    <a:pt x="2233930" y="0"/>
                  </a:lnTo>
                  <a:cubicBezTo>
                    <a:pt x="2358644" y="0"/>
                    <a:pt x="2459609" y="101092"/>
                    <a:pt x="2459609" y="225679"/>
                  </a:cubicBezTo>
                  <a:lnTo>
                    <a:pt x="2459609" y="714756"/>
                  </a:lnTo>
                  <a:cubicBezTo>
                    <a:pt x="2459609" y="839470"/>
                    <a:pt x="2358517" y="940435"/>
                    <a:pt x="2233930" y="940435"/>
                  </a:cubicBezTo>
                  <a:lnTo>
                    <a:pt x="225679" y="940435"/>
                  </a:lnTo>
                  <a:cubicBezTo>
                    <a:pt x="101092" y="940562"/>
                    <a:pt x="0" y="839470"/>
                    <a:pt x="0" y="714756"/>
                  </a:cubicBezTo>
                  <a:close/>
                </a:path>
              </a:pathLst>
            </a:custGeom>
            <a:solidFill>
              <a:srgbClr val="EEF2F7"/>
            </a:solidFill>
            <a:ln w="19065" cap="sq">
              <a:solidFill>
                <a:srgbClr val="D8DEE7"/>
              </a:solidFill>
              <a:prstDash val="solid"/>
              <a:miter/>
            </a:ln>
          </p:spPr>
        </p:sp>
      </p:grpSp>
      <p:grpSp>
        <p:nvGrpSpPr>
          <p:cNvPr name="Group 35" id="35"/>
          <p:cNvGrpSpPr/>
          <p:nvPr/>
        </p:nvGrpSpPr>
        <p:grpSpPr>
          <a:xfrm rot="0">
            <a:off x="5542855" y="8579206"/>
            <a:ext cx="1825657" cy="686333"/>
            <a:chOff x="0" y="0"/>
            <a:chExt cx="2434209" cy="915111"/>
          </a:xfrm>
        </p:grpSpPr>
        <p:sp>
          <p:nvSpPr>
            <p:cNvPr name="Freeform 36" id="36"/>
            <p:cNvSpPr/>
            <p:nvPr/>
          </p:nvSpPr>
          <p:spPr>
            <a:xfrm flipH="false" flipV="false" rot="0">
              <a:off x="0" y="0"/>
              <a:ext cx="2434206" cy="915115"/>
            </a:xfrm>
            <a:custGeom>
              <a:avLst/>
              <a:gdLst/>
              <a:ahLst/>
              <a:cxnLst/>
              <a:rect r="r" b="b" t="t" l="l"/>
              <a:pathLst>
                <a:path h="915115" w="2434206">
                  <a:moveTo>
                    <a:pt x="0" y="0"/>
                  </a:moveTo>
                  <a:lnTo>
                    <a:pt x="2434206" y="0"/>
                  </a:lnTo>
                  <a:lnTo>
                    <a:pt x="2434206" y="915115"/>
                  </a:lnTo>
                  <a:lnTo>
                    <a:pt x="0" y="915115"/>
                  </a:lnTo>
                  <a:close/>
                </a:path>
              </a:pathLst>
            </a:custGeom>
            <a:blipFill>
              <a:blip r:embed="rId3">
                <a:alphaModFix amt="0"/>
              </a:blip>
              <a:stretch>
                <a:fillRect l="0" t="-1830" r="0" b="-1830"/>
              </a:stretch>
            </a:blipFill>
          </p:spPr>
        </p:sp>
        <p:sp>
          <p:nvSpPr>
            <p:cNvPr name="TextBox 37" id="37"/>
            <p:cNvSpPr txBox="true"/>
            <p:nvPr/>
          </p:nvSpPr>
          <p:spPr>
            <a:xfrm>
              <a:off x="0" y="0"/>
              <a:ext cx="2434209" cy="915111"/>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100 Punkte</a:t>
              </a:r>
            </a:p>
          </p:txBody>
        </p:sp>
      </p:grpSp>
      <p:grpSp>
        <p:nvGrpSpPr>
          <p:cNvPr name="Group 38" id="38"/>
          <p:cNvGrpSpPr/>
          <p:nvPr/>
        </p:nvGrpSpPr>
        <p:grpSpPr>
          <a:xfrm rot="0">
            <a:off x="7702144" y="8569671"/>
            <a:ext cx="7091077" cy="705402"/>
            <a:chOff x="0" y="0"/>
            <a:chExt cx="9454769" cy="940537"/>
          </a:xfrm>
        </p:grpSpPr>
        <p:sp>
          <p:nvSpPr>
            <p:cNvPr name="Freeform 39" id="39"/>
            <p:cNvSpPr/>
            <p:nvPr/>
          </p:nvSpPr>
          <p:spPr>
            <a:xfrm flipH="false" flipV="false" rot="0">
              <a:off x="0" y="0"/>
              <a:ext cx="9454769" cy="940435"/>
            </a:xfrm>
            <a:custGeom>
              <a:avLst/>
              <a:gdLst/>
              <a:ahLst/>
              <a:cxnLst/>
              <a:rect r="r" b="b" t="t" l="l"/>
              <a:pathLst>
                <a:path h="940435" w="9454769">
                  <a:moveTo>
                    <a:pt x="0" y="225679"/>
                  </a:moveTo>
                  <a:cubicBezTo>
                    <a:pt x="0" y="101092"/>
                    <a:pt x="101092" y="0"/>
                    <a:pt x="225679" y="0"/>
                  </a:cubicBezTo>
                  <a:lnTo>
                    <a:pt x="9229090" y="0"/>
                  </a:lnTo>
                  <a:cubicBezTo>
                    <a:pt x="9353804" y="0"/>
                    <a:pt x="9454769" y="101092"/>
                    <a:pt x="9454769" y="225679"/>
                  </a:cubicBezTo>
                  <a:lnTo>
                    <a:pt x="9454769" y="714756"/>
                  </a:lnTo>
                  <a:cubicBezTo>
                    <a:pt x="9454769" y="839470"/>
                    <a:pt x="9353677" y="940435"/>
                    <a:pt x="9229090" y="940435"/>
                  </a:cubicBezTo>
                  <a:lnTo>
                    <a:pt x="225679" y="940435"/>
                  </a:lnTo>
                  <a:cubicBezTo>
                    <a:pt x="101092" y="940562"/>
                    <a:pt x="0" y="839470"/>
                    <a:pt x="0" y="714756"/>
                  </a:cubicBezTo>
                  <a:close/>
                </a:path>
              </a:pathLst>
            </a:custGeom>
            <a:solidFill>
              <a:srgbClr val="E8FBFC"/>
            </a:solidFill>
            <a:ln w="19065" cap="sq">
              <a:solidFill>
                <a:srgbClr val="D8DEE7"/>
              </a:solidFill>
              <a:prstDash val="solid"/>
              <a:miter/>
            </a:ln>
          </p:spPr>
        </p:sp>
      </p:grpSp>
      <p:grpSp>
        <p:nvGrpSpPr>
          <p:cNvPr name="Group 40" id="40"/>
          <p:cNvGrpSpPr/>
          <p:nvPr/>
        </p:nvGrpSpPr>
        <p:grpSpPr>
          <a:xfrm rot="0">
            <a:off x="7711669" y="8579206"/>
            <a:ext cx="7072008" cy="686333"/>
            <a:chOff x="0" y="0"/>
            <a:chExt cx="9429344" cy="915111"/>
          </a:xfrm>
        </p:grpSpPr>
        <p:sp>
          <p:nvSpPr>
            <p:cNvPr name="Freeform 41" id="41"/>
            <p:cNvSpPr/>
            <p:nvPr/>
          </p:nvSpPr>
          <p:spPr>
            <a:xfrm flipH="false" flipV="false" rot="0">
              <a:off x="0" y="0"/>
              <a:ext cx="9429345" cy="915115"/>
            </a:xfrm>
            <a:custGeom>
              <a:avLst/>
              <a:gdLst/>
              <a:ahLst/>
              <a:cxnLst/>
              <a:rect r="r" b="b" t="t" l="l"/>
              <a:pathLst>
                <a:path h="915115" w="9429345">
                  <a:moveTo>
                    <a:pt x="0" y="0"/>
                  </a:moveTo>
                  <a:lnTo>
                    <a:pt x="9429345" y="0"/>
                  </a:lnTo>
                  <a:lnTo>
                    <a:pt x="9429345" y="915115"/>
                  </a:lnTo>
                  <a:lnTo>
                    <a:pt x="0" y="915115"/>
                  </a:lnTo>
                  <a:close/>
                </a:path>
              </a:pathLst>
            </a:custGeom>
            <a:blipFill>
              <a:blip r:embed="rId3">
                <a:alphaModFix amt="0"/>
              </a:blip>
              <a:stretch>
                <a:fillRect l="0" t="-150774" r="0" b="-150773"/>
              </a:stretch>
            </a:blipFill>
          </p:spPr>
        </p:sp>
        <p:sp>
          <p:nvSpPr>
            <p:cNvPr name="TextBox 42" id="42"/>
            <p:cNvSpPr txBox="true"/>
            <p:nvPr/>
          </p:nvSpPr>
          <p:spPr>
            <a:xfrm>
              <a:off x="0" y="0"/>
              <a:ext cx="9429344" cy="915111"/>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Nahverkehr · E-Busse · Telematik · Lademanagement</a:t>
              </a:r>
            </a:p>
          </p:txBody>
        </p:sp>
      </p:grpSp>
      <p:sp>
        <p:nvSpPr>
          <p:cNvPr name="Freeform 43" id="43"/>
          <p:cNvSpPr/>
          <p:nvPr/>
        </p:nvSpPr>
        <p:spPr>
          <a:xfrm flipH="false" flipV="false" rot="0">
            <a:off x="15391856" y="411804"/>
            <a:ext cx="2223650" cy="2223650"/>
          </a:xfrm>
          <a:custGeom>
            <a:avLst/>
            <a:gdLst/>
            <a:ahLst/>
            <a:cxnLst/>
            <a:rect r="r" b="b" t="t" l="l"/>
            <a:pathLst>
              <a:path h="2223650" w="2223650">
                <a:moveTo>
                  <a:pt x="0" y="0"/>
                </a:moveTo>
                <a:lnTo>
                  <a:pt x="2223650" y="0"/>
                </a:lnTo>
                <a:lnTo>
                  <a:pt x="2223650" y="2223650"/>
                </a:lnTo>
                <a:lnTo>
                  <a:pt x="0" y="22236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4" id="44"/>
          <p:cNvSpPr/>
          <p:nvPr/>
        </p:nvSpPr>
        <p:spPr>
          <a:xfrm flipH="false" flipV="false" rot="0">
            <a:off x="14564647" y="245958"/>
            <a:ext cx="680986" cy="1565485"/>
          </a:xfrm>
          <a:custGeom>
            <a:avLst/>
            <a:gdLst/>
            <a:ahLst/>
            <a:cxnLst/>
            <a:rect r="r" b="b" t="t" l="l"/>
            <a:pathLst>
              <a:path h="1565485" w="680986">
                <a:moveTo>
                  <a:pt x="0" y="0"/>
                </a:moveTo>
                <a:lnTo>
                  <a:pt x="680986" y="0"/>
                </a:lnTo>
                <a:lnTo>
                  <a:pt x="680986" y="1565484"/>
                </a:lnTo>
                <a:lnTo>
                  <a:pt x="0" y="1565484"/>
                </a:lnTo>
                <a:lnTo>
                  <a:pt x="0" y="0"/>
                </a:lnTo>
                <a:close/>
              </a:path>
            </a:pathLst>
          </a:custGeom>
          <a:blipFill>
            <a:blip r:embed="rId6"/>
            <a:stretch>
              <a:fillRect l="0" t="0" r="0" b="0"/>
            </a:stretch>
          </a:blipFill>
        </p:spPr>
      </p:sp>
      <p:sp>
        <p:nvSpPr>
          <p:cNvPr name="TextBox 45" id="45"/>
          <p:cNvSpPr txBox="true"/>
          <p:nvPr/>
        </p:nvSpPr>
        <p:spPr>
          <a:xfrm rot="0">
            <a:off x="1070686" y="3138097"/>
            <a:ext cx="16197539" cy="2352589"/>
          </a:xfrm>
          <a:prstGeom prst="rect">
            <a:avLst/>
          </a:prstGeom>
        </p:spPr>
        <p:txBody>
          <a:bodyPr anchor="t" rtlCol="false" tIns="0" lIns="0" bIns="0" rIns="0">
            <a:spAutoFit/>
          </a:bodyPr>
          <a:lstStyle/>
          <a:p>
            <a:pPr algn="l">
              <a:lnSpc>
                <a:spcPts val="2837"/>
              </a:lnSpc>
            </a:pPr>
            <a:r>
              <a:rPr lang="en-US" sz="2251">
                <a:solidFill>
                  <a:srgbClr val="23262B"/>
                </a:solidFill>
                <a:latin typeface="DM Sans"/>
                <a:ea typeface="DM Sans"/>
                <a:cs typeface="DM Sans"/>
                <a:sym typeface="DM Sans"/>
              </a:rPr>
              <a:t>Die MobilPlus Verkehrsbetriebe AG („MobilPlus“) betreibt den öffentlichen Nahverkehr einer Großstadtregion mit Bussen und Straßenbahnen, mehreren Betriebshöfen und rund 1.800 Mitarbeitenden. Zunehmend werden Elektrobusse eingesetzt, deren Aufladung über ein zentrales Depot-Lademanagement gesteuert wird.</a:t>
            </a:r>
          </a:p>
        </p:txBody>
      </p:sp>
      <p:sp>
        <p:nvSpPr>
          <p:cNvPr name="TextBox 46" id="46"/>
          <p:cNvSpPr txBox="true"/>
          <p:nvPr/>
        </p:nvSpPr>
        <p:spPr>
          <a:xfrm rot="0">
            <a:off x="1070686" y="5540273"/>
            <a:ext cx="16197539" cy="2627128"/>
          </a:xfrm>
          <a:prstGeom prst="rect">
            <a:avLst/>
          </a:prstGeom>
        </p:spPr>
        <p:txBody>
          <a:bodyPr anchor="t" rtlCol="false" tIns="0" lIns="0" bIns="0" rIns="0">
            <a:spAutoFit/>
          </a:bodyPr>
          <a:lstStyle/>
          <a:p>
            <a:pPr algn="l">
              <a:lnSpc>
                <a:spcPts val="2837"/>
              </a:lnSpc>
            </a:pPr>
            <a:r>
              <a:rPr lang="en-US" sz="2251">
                <a:solidFill>
                  <a:srgbClr val="23262B"/>
                </a:solidFill>
                <a:latin typeface="DM Sans"/>
                <a:ea typeface="DM Sans"/>
                <a:cs typeface="DM Sans"/>
                <a:sym typeface="DM Sans"/>
              </a:rPr>
              <a:t>Fahrzeuge, Betriebshöfe und die zentrale Leitstelle sollen durchgängig vernetzt werden, um Fahrzeugtelematik, Echtzeit-Standortdaten und das Lademanagement zentral zu erfassen und zu steuern. Die bestehende IT- und Fahrzeugtechnik ist heterogen gewachsen; die Verfügbarkeit (Betriebsfähigkeit des Fuhrparks) und der Datenschutz (Standort-, Video- und Fahrgastdaten) sind besonders kritisch. MobilPlus hat die NetSys Integration GmbH beauftragt.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35</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a:t>
              </a:r>
            </a:p>
          </p:txBody>
        </p:sp>
      </p:grpSp>
      <p:grpSp>
        <p:nvGrpSpPr>
          <p:cNvPr name="Group 15" id="15"/>
          <p:cNvGrpSpPr/>
          <p:nvPr/>
        </p:nvGrpSpPr>
        <p:grpSpPr>
          <a:xfrm rot="0">
            <a:off x="1029500" y="3088510"/>
            <a:ext cx="12354049" cy="823608"/>
            <a:chOff x="0" y="0"/>
            <a:chExt cx="16472065" cy="1098144"/>
          </a:xfrm>
        </p:grpSpPr>
        <p:sp>
          <p:nvSpPr>
            <p:cNvPr name="Freeform 16" id="16"/>
            <p:cNvSpPr/>
            <p:nvPr/>
          </p:nvSpPr>
          <p:spPr>
            <a:xfrm flipH="false" flipV="false" rot="0">
              <a:off x="0" y="0"/>
              <a:ext cx="16472069" cy="1098138"/>
            </a:xfrm>
            <a:custGeom>
              <a:avLst/>
              <a:gdLst/>
              <a:ahLst/>
              <a:cxnLst/>
              <a:rect r="r" b="b" t="t" l="l"/>
              <a:pathLst>
                <a:path h="1098138" w="16472069">
                  <a:moveTo>
                    <a:pt x="0" y="0"/>
                  </a:moveTo>
                  <a:lnTo>
                    <a:pt x="16472069" y="0"/>
                  </a:lnTo>
                  <a:lnTo>
                    <a:pt x="16472069" y="1098138"/>
                  </a:lnTo>
                  <a:lnTo>
                    <a:pt x="0" y="1098138"/>
                  </a:lnTo>
                  <a:close/>
                </a:path>
              </a:pathLst>
            </a:custGeom>
            <a:blipFill>
              <a:blip r:embed="rId3">
                <a:alphaModFix amt="0"/>
              </a:blip>
              <a:stretch>
                <a:fillRect l="0" t="-242275" r="0" b="-242275"/>
              </a:stretch>
            </a:blipFill>
          </p:spPr>
        </p:sp>
        <p:sp>
          <p:nvSpPr>
            <p:cNvPr name="TextBox 17" id="17"/>
            <p:cNvSpPr txBox="true"/>
            <p:nvPr/>
          </p:nvSpPr>
          <p:spPr>
            <a:xfrm>
              <a:off x="0" y="0"/>
              <a:ext cx="16472065" cy="1098144"/>
            </a:xfrm>
            <a:prstGeom prst="rect">
              <a:avLst/>
            </a:prstGeom>
          </p:spPr>
          <p:txBody>
            <a:bodyPr anchor="ctr" rtlCol="false" tIns="0" lIns="0" bIns="0" rIns="0"/>
            <a:lstStyle/>
            <a:p>
              <a:pPr algn="l">
                <a:lnSpc>
                  <a:spcPts val="3602"/>
                </a:lnSpc>
              </a:pPr>
              <a:r>
                <a:rPr lang="en-US" b="true" sz="3002" spc="450">
                  <a:solidFill>
                    <a:srgbClr val="FF4000"/>
                  </a:solidFill>
                  <a:latin typeface="Montserrat Bold"/>
                  <a:ea typeface="Montserrat Bold"/>
                  <a:cs typeface="Montserrat Bold"/>
                  <a:sym typeface="Montserrat Bold"/>
                </a:rPr>
                <a:t>AUFGABE 1</a:t>
              </a:r>
            </a:p>
          </p:txBody>
        </p:sp>
      </p:grpSp>
      <p:grpSp>
        <p:nvGrpSpPr>
          <p:cNvPr name="Group 18" id="18"/>
          <p:cNvGrpSpPr/>
          <p:nvPr/>
        </p:nvGrpSpPr>
        <p:grpSpPr>
          <a:xfrm rot="0">
            <a:off x="1061152" y="8295132"/>
            <a:ext cx="3038942" cy="870118"/>
            <a:chOff x="0" y="0"/>
            <a:chExt cx="4051922" cy="1160158"/>
          </a:xfrm>
        </p:grpSpPr>
        <p:sp>
          <p:nvSpPr>
            <p:cNvPr name="Freeform 19" id="19"/>
            <p:cNvSpPr/>
            <p:nvPr/>
          </p:nvSpPr>
          <p:spPr>
            <a:xfrm flipH="false" flipV="false" rot="0">
              <a:off x="0" y="0"/>
              <a:ext cx="4051935" cy="1160145"/>
            </a:xfrm>
            <a:custGeom>
              <a:avLst/>
              <a:gdLst/>
              <a:ahLst/>
              <a:cxnLst/>
              <a:rect r="r" b="b" t="t" l="l"/>
              <a:pathLst>
                <a:path h="1160145" w="4051935">
                  <a:moveTo>
                    <a:pt x="0" y="224536"/>
                  </a:moveTo>
                  <a:cubicBezTo>
                    <a:pt x="0" y="100584"/>
                    <a:pt x="100584" y="0"/>
                    <a:pt x="224536" y="0"/>
                  </a:cubicBezTo>
                  <a:lnTo>
                    <a:pt x="3827399" y="0"/>
                  </a:lnTo>
                  <a:cubicBezTo>
                    <a:pt x="3951351" y="0"/>
                    <a:pt x="4051935" y="100584"/>
                    <a:pt x="4051935" y="224536"/>
                  </a:cubicBezTo>
                  <a:lnTo>
                    <a:pt x="4051935" y="935609"/>
                  </a:lnTo>
                  <a:cubicBezTo>
                    <a:pt x="4051935" y="1059561"/>
                    <a:pt x="3951351" y="1160145"/>
                    <a:pt x="3827399" y="1160145"/>
                  </a:cubicBezTo>
                  <a:lnTo>
                    <a:pt x="224536" y="1160145"/>
                  </a:lnTo>
                  <a:cubicBezTo>
                    <a:pt x="100584" y="1160145"/>
                    <a:pt x="0" y="1059688"/>
                    <a:pt x="0" y="935609"/>
                  </a:cubicBezTo>
                  <a:close/>
                </a:path>
              </a:pathLst>
            </a:custGeom>
            <a:solidFill>
              <a:srgbClr val="5CE1E6"/>
            </a:solidFill>
            <a:ln w="19065" cap="sq">
              <a:solidFill>
                <a:srgbClr val="5CE1E6"/>
              </a:solidFill>
              <a:prstDash val="solid"/>
              <a:miter/>
            </a:ln>
          </p:spPr>
        </p:sp>
      </p:grpSp>
      <p:grpSp>
        <p:nvGrpSpPr>
          <p:cNvPr name="Group 20" id="20"/>
          <p:cNvGrpSpPr/>
          <p:nvPr/>
        </p:nvGrpSpPr>
        <p:grpSpPr>
          <a:xfrm rot="0">
            <a:off x="1070686" y="8304667"/>
            <a:ext cx="3019882" cy="851059"/>
            <a:chOff x="0" y="0"/>
            <a:chExt cx="4026510" cy="1134745"/>
          </a:xfrm>
        </p:grpSpPr>
        <p:sp>
          <p:nvSpPr>
            <p:cNvPr name="Freeform 21" id="21"/>
            <p:cNvSpPr/>
            <p:nvPr/>
          </p:nvSpPr>
          <p:spPr>
            <a:xfrm flipH="false" flipV="false" rot="0">
              <a:off x="0" y="0"/>
              <a:ext cx="4026506" cy="1134743"/>
            </a:xfrm>
            <a:custGeom>
              <a:avLst/>
              <a:gdLst/>
              <a:ahLst/>
              <a:cxnLst/>
              <a:rect r="r" b="b" t="t" l="l"/>
              <a:pathLst>
                <a:path h="1134743" w="4026506">
                  <a:moveTo>
                    <a:pt x="0" y="0"/>
                  </a:moveTo>
                  <a:lnTo>
                    <a:pt x="4026506" y="0"/>
                  </a:lnTo>
                  <a:lnTo>
                    <a:pt x="4026506" y="1134743"/>
                  </a:lnTo>
                  <a:lnTo>
                    <a:pt x="0" y="1134743"/>
                  </a:lnTo>
                  <a:close/>
                </a:path>
              </a:pathLst>
            </a:custGeom>
            <a:blipFill>
              <a:blip r:embed="rId3">
                <a:alphaModFix amt="0"/>
              </a:blip>
              <a:stretch>
                <a:fillRect l="0" t="-19140" r="0" b="-19140"/>
              </a:stretch>
            </a:blipFill>
          </p:spPr>
        </p:sp>
        <p:sp>
          <p:nvSpPr>
            <p:cNvPr name="TextBox 22" id="22"/>
            <p:cNvSpPr txBox="true"/>
            <p:nvPr/>
          </p:nvSpPr>
          <p:spPr>
            <a:xfrm>
              <a:off x="0" y="-9525"/>
              <a:ext cx="4026510" cy="1144270"/>
            </a:xfrm>
            <a:prstGeom prst="rect">
              <a:avLst/>
            </a:prstGeom>
          </p:spPr>
          <p:txBody>
            <a:bodyPr anchor="ctr" rtlCol="false" tIns="0" lIns="0" bIns="0" rIns="0"/>
            <a:lstStyle/>
            <a:p>
              <a:pPr algn="ctr">
                <a:lnSpc>
                  <a:spcPts val="2702"/>
                </a:lnSpc>
              </a:pPr>
              <a:r>
                <a:rPr lang="en-US" sz="2251" b="true">
                  <a:solidFill>
                    <a:srgbClr val="0C1D4B"/>
                  </a:solidFill>
                  <a:latin typeface="Montserrat Bold"/>
                  <a:ea typeface="Montserrat Bold"/>
                  <a:cs typeface="Montserrat Bold"/>
                  <a:sym typeface="Montserrat Bold"/>
                </a:rPr>
                <a:t>33 Punkte</a:t>
              </a:r>
            </a:p>
          </p:txBody>
        </p:sp>
      </p:grpSp>
      <p:grpSp>
        <p:nvGrpSpPr>
          <p:cNvPr name="Group 23" id="23"/>
          <p:cNvGrpSpPr/>
          <p:nvPr/>
        </p:nvGrpSpPr>
        <p:grpSpPr>
          <a:xfrm rot="0">
            <a:off x="4323921" y="8304667"/>
            <a:ext cx="8236039" cy="851059"/>
            <a:chOff x="0" y="0"/>
            <a:chExt cx="10981385" cy="1134745"/>
          </a:xfrm>
        </p:grpSpPr>
        <p:sp>
          <p:nvSpPr>
            <p:cNvPr name="Freeform 24" id="24"/>
            <p:cNvSpPr/>
            <p:nvPr/>
          </p:nvSpPr>
          <p:spPr>
            <a:xfrm flipH="false" flipV="false" rot="0">
              <a:off x="0" y="0"/>
              <a:ext cx="10981379" cy="1134743"/>
            </a:xfrm>
            <a:custGeom>
              <a:avLst/>
              <a:gdLst/>
              <a:ahLst/>
              <a:cxnLst/>
              <a:rect r="r" b="b" t="t" l="l"/>
              <a:pathLst>
                <a:path h="1134743" w="10981379">
                  <a:moveTo>
                    <a:pt x="0" y="0"/>
                  </a:moveTo>
                  <a:lnTo>
                    <a:pt x="10981379" y="0"/>
                  </a:lnTo>
                  <a:lnTo>
                    <a:pt x="10981379" y="1134743"/>
                  </a:lnTo>
                  <a:lnTo>
                    <a:pt x="0" y="1134743"/>
                  </a:lnTo>
                  <a:close/>
                </a:path>
              </a:pathLst>
            </a:custGeom>
            <a:blipFill>
              <a:blip r:embed="rId3">
                <a:alphaModFix amt="0"/>
              </a:blip>
              <a:stretch>
                <a:fillRect l="0" t="-138564" r="0" b="-138565"/>
              </a:stretch>
            </a:blipFill>
          </p:spPr>
        </p:sp>
        <p:sp>
          <p:nvSpPr>
            <p:cNvPr name="TextBox 25" id="25"/>
            <p:cNvSpPr txBox="true"/>
            <p:nvPr/>
          </p:nvSpPr>
          <p:spPr>
            <a:xfrm>
              <a:off x="0" y="9525"/>
              <a:ext cx="10981385" cy="1125220"/>
            </a:xfrm>
            <a:prstGeom prst="rect">
              <a:avLst/>
            </a:prstGeom>
          </p:spPr>
          <p:txBody>
            <a:bodyPr anchor="ctr" rtlCol="false" tIns="0" lIns="0" bIns="0" rIns="0"/>
            <a:lstStyle/>
            <a:p>
              <a:pPr algn="l">
                <a:lnSpc>
                  <a:spcPts val="2341"/>
                </a:lnSpc>
              </a:pPr>
              <a:r>
                <a:rPr lang="en-US" sz="1951">
                  <a:solidFill>
                    <a:srgbClr val="6B7280"/>
                  </a:solidFill>
                  <a:latin typeface="DM Sans"/>
                  <a:ea typeface="DM Sans"/>
                  <a:cs typeface="DM Sans"/>
                  <a:sym typeface="DM Sans"/>
                </a:rPr>
                <a:t>3 Teilaufgaben (a, b, c)</a:t>
              </a:r>
            </a:p>
          </p:txBody>
        </p:sp>
      </p:grpSp>
      <p:sp>
        <p:nvSpPr>
          <p:cNvPr name="Freeform 26" id="26"/>
          <p:cNvSpPr/>
          <p:nvPr/>
        </p:nvSpPr>
        <p:spPr>
          <a:xfrm flipH="false" flipV="false" rot="0">
            <a:off x="4549819" y="972313"/>
            <a:ext cx="2223650" cy="2223650"/>
          </a:xfrm>
          <a:custGeom>
            <a:avLst/>
            <a:gdLst/>
            <a:ahLst/>
            <a:cxnLst/>
            <a:rect r="r" b="b" t="t" l="l"/>
            <a:pathLst>
              <a:path h="2223650" w="2223650">
                <a:moveTo>
                  <a:pt x="0" y="0"/>
                </a:moveTo>
                <a:lnTo>
                  <a:pt x="2223651" y="0"/>
                </a:lnTo>
                <a:lnTo>
                  <a:pt x="2223651" y="2223651"/>
                </a:lnTo>
                <a:lnTo>
                  <a:pt x="0" y="22236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6348599" y="1351516"/>
            <a:ext cx="2223650" cy="2223650"/>
          </a:xfrm>
          <a:custGeom>
            <a:avLst/>
            <a:gdLst/>
            <a:ahLst/>
            <a:cxnLst/>
            <a:rect r="r" b="b" t="t" l="l"/>
            <a:pathLst>
              <a:path h="2223650" w="2223650">
                <a:moveTo>
                  <a:pt x="0" y="0"/>
                </a:moveTo>
                <a:lnTo>
                  <a:pt x="2223650" y="0"/>
                </a:lnTo>
                <a:lnTo>
                  <a:pt x="2223650" y="2223650"/>
                </a:lnTo>
                <a:lnTo>
                  <a:pt x="0" y="22236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2795037" y="1054101"/>
            <a:ext cx="1941180" cy="1941180"/>
          </a:xfrm>
          <a:custGeom>
            <a:avLst/>
            <a:gdLst/>
            <a:ahLst/>
            <a:cxnLst/>
            <a:rect r="r" b="b" t="t" l="l"/>
            <a:pathLst>
              <a:path h="1941180" w="1941180">
                <a:moveTo>
                  <a:pt x="0" y="0"/>
                </a:moveTo>
                <a:lnTo>
                  <a:pt x="1941180" y="0"/>
                </a:lnTo>
                <a:lnTo>
                  <a:pt x="1941180" y="1941180"/>
                </a:lnTo>
                <a:lnTo>
                  <a:pt x="0" y="19411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29" id="29"/>
          <p:cNvSpPr txBox="true"/>
          <p:nvPr/>
        </p:nvSpPr>
        <p:spPr>
          <a:xfrm rot="0">
            <a:off x="988324" y="3921643"/>
            <a:ext cx="16197539" cy="2186749"/>
          </a:xfrm>
          <a:prstGeom prst="rect">
            <a:avLst/>
          </a:prstGeom>
        </p:spPr>
        <p:txBody>
          <a:bodyPr anchor="t" rtlCol="false" tIns="0" lIns="0" bIns="0" rIns="0">
            <a:spAutoFit/>
          </a:bodyPr>
          <a:lstStyle/>
          <a:p>
            <a:pPr algn="l">
              <a:lnSpc>
                <a:spcPts val="7767"/>
              </a:lnSpc>
            </a:pPr>
            <a:r>
              <a:rPr lang="en-US" sz="6605" b="true">
                <a:solidFill>
                  <a:srgbClr val="0C1D4B"/>
                </a:solidFill>
                <a:latin typeface="Montserrat Bold"/>
                <a:ea typeface="Montserrat Bold"/>
                <a:cs typeface="Montserrat Bold"/>
                <a:sym typeface="Montserrat Bold"/>
              </a:rPr>
              <a:t>Vernetzung &amp; Zielarchitektur</a:t>
            </a:r>
          </a:p>
        </p:txBody>
      </p:sp>
      <p:sp>
        <p:nvSpPr>
          <p:cNvPr name="TextBox 30" id="30"/>
          <p:cNvSpPr txBox="true"/>
          <p:nvPr/>
        </p:nvSpPr>
        <p:spPr>
          <a:xfrm rot="0">
            <a:off x="1070686" y="6501146"/>
            <a:ext cx="15099392" cy="1059167"/>
          </a:xfrm>
          <a:prstGeom prst="rect">
            <a:avLst/>
          </a:prstGeom>
        </p:spPr>
        <p:txBody>
          <a:bodyPr anchor="t" rtlCol="false" tIns="0" lIns="0" bIns="0" rIns="0">
            <a:spAutoFit/>
          </a:bodyPr>
          <a:lstStyle/>
          <a:p>
            <a:pPr algn="l">
              <a:lnSpc>
                <a:spcPts val="2837"/>
              </a:lnSpc>
            </a:pPr>
            <a:r>
              <a:rPr lang="en-US" sz="2251">
                <a:solidFill>
                  <a:srgbClr val="23262B"/>
                </a:solidFill>
                <a:latin typeface="DM Sans"/>
                <a:ea typeface="DM Sans"/>
                <a:cs typeface="DM Sans"/>
                <a:sym typeface="DM Sans"/>
              </a:rPr>
              <a:t>MobilPlus möchte Fahrzeuge, Betriebshöfe und die zentrale Leitstelle durchgängig vernetzen, um Fahrzeugtelematik, Echtzeit-Standortdaten, Fahrgastinformation und das Depot-Lademanagement der Elektrobusse zentral zu erfassen und zu steuern. Sie bereiten Planung und Zielarchitektur vor.</a:t>
            </a:r>
          </a:p>
        </p:txBody>
      </p:sp>
      <p:grpSp>
        <p:nvGrpSpPr>
          <p:cNvPr name="Group 31" id="31"/>
          <p:cNvGrpSpPr/>
          <p:nvPr/>
        </p:nvGrpSpPr>
        <p:grpSpPr>
          <a:xfrm rot="0">
            <a:off x="9013507" y="2239328"/>
            <a:ext cx="531495" cy="128588"/>
            <a:chOff x="0" y="0"/>
            <a:chExt cx="708660" cy="171450"/>
          </a:xfrm>
        </p:grpSpPr>
        <p:sp>
          <p:nvSpPr>
            <p:cNvPr name="Freeform 32" id="32"/>
            <p:cNvSpPr/>
            <p:nvPr/>
          </p:nvSpPr>
          <p:spPr>
            <a:xfrm flipH="false" flipV="false" rot="0">
              <a:off x="50663" y="46604"/>
              <a:ext cx="607197" cy="77070"/>
            </a:xfrm>
            <a:custGeom>
              <a:avLst/>
              <a:gdLst/>
              <a:ahLst/>
              <a:cxnLst/>
              <a:rect r="r" b="b" t="t" l="l"/>
              <a:pathLst>
                <a:path h="77070" w="607197">
                  <a:moveTo>
                    <a:pt x="25537" y="13086"/>
                  </a:moveTo>
                  <a:cubicBezTo>
                    <a:pt x="405267" y="20706"/>
                    <a:pt x="538617" y="-11044"/>
                    <a:pt x="580527" y="4196"/>
                  </a:cubicBezTo>
                  <a:cubicBezTo>
                    <a:pt x="595767" y="9276"/>
                    <a:pt x="607197" y="20706"/>
                    <a:pt x="607197" y="29596"/>
                  </a:cubicBezTo>
                  <a:cubicBezTo>
                    <a:pt x="607197" y="38486"/>
                    <a:pt x="589417" y="54996"/>
                    <a:pt x="580527" y="54996"/>
                  </a:cubicBezTo>
                  <a:cubicBezTo>
                    <a:pt x="571637" y="54996"/>
                    <a:pt x="555127" y="35946"/>
                    <a:pt x="556397" y="27056"/>
                  </a:cubicBezTo>
                  <a:cubicBezTo>
                    <a:pt x="557667" y="18166"/>
                    <a:pt x="576717" y="4196"/>
                    <a:pt x="585607" y="4196"/>
                  </a:cubicBezTo>
                  <a:cubicBezTo>
                    <a:pt x="593227" y="5466"/>
                    <a:pt x="605927" y="19436"/>
                    <a:pt x="607197" y="27056"/>
                  </a:cubicBezTo>
                  <a:cubicBezTo>
                    <a:pt x="607197" y="34676"/>
                    <a:pt x="603387" y="46106"/>
                    <a:pt x="590687" y="53726"/>
                  </a:cubicBezTo>
                  <a:cubicBezTo>
                    <a:pt x="556397" y="75316"/>
                    <a:pt x="407807" y="71506"/>
                    <a:pt x="313827" y="74046"/>
                  </a:cubicBezTo>
                  <a:cubicBezTo>
                    <a:pt x="217307" y="75316"/>
                    <a:pt x="58557" y="84206"/>
                    <a:pt x="19187" y="63886"/>
                  </a:cubicBezTo>
                  <a:cubicBezTo>
                    <a:pt x="6487" y="56266"/>
                    <a:pt x="-1133" y="43566"/>
                    <a:pt x="137" y="35946"/>
                  </a:cubicBezTo>
                  <a:cubicBezTo>
                    <a:pt x="1407" y="27056"/>
                    <a:pt x="25537" y="13086"/>
                    <a:pt x="25537" y="13086"/>
                  </a:cubicBezTo>
                </a:path>
              </a:pathLst>
            </a:custGeom>
            <a:solidFill>
              <a:srgbClr val="0571D3"/>
            </a:solidFill>
            <a:ln cap="sq">
              <a:noFill/>
              <a:prstDash val="solid"/>
              <a:miter/>
            </a:ln>
          </p:spPr>
        </p:sp>
      </p:grpSp>
      <p:grpSp>
        <p:nvGrpSpPr>
          <p:cNvPr name="Group 33" id="33"/>
          <p:cNvGrpSpPr/>
          <p:nvPr/>
        </p:nvGrpSpPr>
        <p:grpSpPr>
          <a:xfrm rot="0">
            <a:off x="9586913" y="2209800"/>
            <a:ext cx="426720" cy="147638"/>
            <a:chOff x="0" y="0"/>
            <a:chExt cx="568960" cy="196850"/>
          </a:xfrm>
        </p:grpSpPr>
        <p:sp>
          <p:nvSpPr>
            <p:cNvPr name="Freeform 34" id="34"/>
            <p:cNvSpPr/>
            <p:nvPr/>
          </p:nvSpPr>
          <p:spPr>
            <a:xfrm flipH="false" flipV="false" rot="0">
              <a:off x="50800" y="50660"/>
              <a:ext cx="467360" cy="98456"/>
            </a:xfrm>
            <a:custGeom>
              <a:avLst/>
              <a:gdLst/>
              <a:ahLst/>
              <a:cxnLst/>
              <a:rect r="r" b="b" t="t" l="l"/>
              <a:pathLst>
                <a:path h="98456" w="467360">
                  <a:moveTo>
                    <a:pt x="22860" y="43320"/>
                  </a:moveTo>
                  <a:cubicBezTo>
                    <a:pt x="455930" y="5220"/>
                    <a:pt x="466090" y="14110"/>
                    <a:pt x="467360" y="23000"/>
                  </a:cubicBezTo>
                  <a:cubicBezTo>
                    <a:pt x="467360" y="31890"/>
                    <a:pt x="450850" y="49670"/>
                    <a:pt x="441960" y="49670"/>
                  </a:cubicBezTo>
                  <a:cubicBezTo>
                    <a:pt x="434340" y="50940"/>
                    <a:pt x="416560" y="31890"/>
                    <a:pt x="416560" y="24270"/>
                  </a:cubicBezTo>
                  <a:cubicBezTo>
                    <a:pt x="416560" y="15380"/>
                    <a:pt x="435610" y="140"/>
                    <a:pt x="444500" y="140"/>
                  </a:cubicBezTo>
                  <a:cubicBezTo>
                    <a:pt x="450850" y="-1130"/>
                    <a:pt x="461010" y="6490"/>
                    <a:pt x="463550" y="12840"/>
                  </a:cubicBezTo>
                  <a:cubicBezTo>
                    <a:pt x="467360" y="20460"/>
                    <a:pt x="466090" y="35700"/>
                    <a:pt x="459740" y="43320"/>
                  </a:cubicBezTo>
                  <a:cubicBezTo>
                    <a:pt x="448310" y="54750"/>
                    <a:pt x="417830" y="53480"/>
                    <a:pt x="383540" y="58560"/>
                  </a:cubicBezTo>
                  <a:cubicBezTo>
                    <a:pt x="307340" y="69990"/>
                    <a:pt x="69850" y="111900"/>
                    <a:pt x="22860" y="94120"/>
                  </a:cubicBezTo>
                  <a:cubicBezTo>
                    <a:pt x="8890" y="89040"/>
                    <a:pt x="0" y="77610"/>
                    <a:pt x="0" y="68720"/>
                  </a:cubicBezTo>
                  <a:cubicBezTo>
                    <a:pt x="0" y="61100"/>
                    <a:pt x="22860" y="43320"/>
                    <a:pt x="22860" y="43320"/>
                  </a:cubicBezTo>
                </a:path>
              </a:pathLst>
            </a:custGeom>
            <a:solidFill>
              <a:srgbClr val="0571D3"/>
            </a:solidFill>
            <a:ln cap="sq">
              <a:noFill/>
              <a:prstDash val="solid"/>
              <a:miter/>
            </a:ln>
          </p:spPr>
        </p:sp>
      </p:grpSp>
      <p:grpSp>
        <p:nvGrpSpPr>
          <p:cNvPr name="Group 35" id="35"/>
          <p:cNvGrpSpPr/>
          <p:nvPr/>
        </p:nvGrpSpPr>
        <p:grpSpPr>
          <a:xfrm rot="0">
            <a:off x="10177462" y="2210752"/>
            <a:ext cx="499110" cy="121920"/>
            <a:chOff x="0" y="0"/>
            <a:chExt cx="665480" cy="162560"/>
          </a:xfrm>
        </p:grpSpPr>
        <p:sp>
          <p:nvSpPr>
            <p:cNvPr name="Freeform 36" id="36"/>
            <p:cNvSpPr/>
            <p:nvPr/>
          </p:nvSpPr>
          <p:spPr>
            <a:xfrm flipH="false" flipV="false" rot="0">
              <a:off x="50240" y="50800"/>
              <a:ext cx="563254" cy="70190"/>
            </a:xfrm>
            <a:custGeom>
              <a:avLst/>
              <a:gdLst/>
              <a:ahLst/>
              <a:cxnLst/>
              <a:rect r="r" b="b" t="t" l="l"/>
              <a:pathLst>
                <a:path h="70190" w="563254">
                  <a:moveTo>
                    <a:pt x="28500" y="0"/>
                  </a:moveTo>
                  <a:cubicBezTo>
                    <a:pt x="558090" y="16510"/>
                    <a:pt x="564440" y="26670"/>
                    <a:pt x="563170" y="34290"/>
                  </a:cubicBezTo>
                  <a:cubicBezTo>
                    <a:pt x="561900" y="43180"/>
                    <a:pt x="545390" y="59690"/>
                    <a:pt x="536500" y="59690"/>
                  </a:cubicBezTo>
                  <a:cubicBezTo>
                    <a:pt x="527610" y="58420"/>
                    <a:pt x="511100" y="39370"/>
                    <a:pt x="512370" y="30480"/>
                  </a:cubicBezTo>
                  <a:cubicBezTo>
                    <a:pt x="513640" y="22860"/>
                    <a:pt x="533960" y="7620"/>
                    <a:pt x="541580" y="8890"/>
                  </a:cubicBezTo>
                  <a:cubicBezTo>
                    <a:pt x="550470" y="8890"/>
                    <a:pt x="563170" y="22860"/>
                    <a:pt x="563170" y="31750"/>
                  </a:cubicBezTo>
                  <a:cubicBezTo>
                    <a:pt x="563170" y="39370"/>
                    <a:pt x="554280" y="52070"/>
                    <a:pt x="539040" y="59690"/>
                  </a:cubicBezTo>
                  <a:cubicBezTo>
                    <a:pt x="492050" y="81280"/>
                    <a:pt x="291390" y="63500"/>
                    <a:pt x="196140" y="59690"/>
                  </a:cubicBezTo>
                  <a:cubicBezTo>
                    <a:pt x="126290" y="58420"/>
                    <a:pt x="41200" y="66040"/>
                    <a:pt x="14530" y="48260"/>
                  </a:cubicBezTo>
                  <a:cubicBezTo>
                    <a:pt x="4370" y="40640"/>
                    <a:pt x="-1980" y="26670"/>
                    <a:pt x="560" y="17780"/>
                  </a:cubicBezTo>
                  <a:cubicBezTo>
                    <a:pt x="1830" y="10160"/>
                    <a:pt x="28500" y="0"/>
                    <a:pt x="28500" y="0"/>
                  </a:cubicBezTo>
                </a:path>
              </a:pathLst>
            </a:custGeom>
            <a:solidFill>
              <a:srgbClr val="0571D3"/>
            </a:solidFill>
            <a:ln cap="sq">
              <a:noFill/>
              <a:prstDash val="solid"/>
              <a:miter/>
            </a:ln>
          </p:spPr>
        </p:sp>
      </p:grpSp>
      <p:grpSp>
        <p:nvGrpSpPr>
          <p:cNvPr name="Group 37" id="37"/>
          <p:cNvGrpSpPr/>
          <p:nvPr/>
        </p:nvGrpSpPr>
        <p:grpSpPr>
          <a:xfrm rot="0">
            <a:off x="10779443" y="2157412"/>
            <a:ext cx="561975" cy="174308"/>
            <a:chOff x="0" y="0"/>
            <a:chExt cx="749300" cy="232410"/>
          </a:xfrm>
        </p:grpSpPr>
        <p:sp>
          <p:nvSpPr>
            <p:cNvPr name="Freeform 38" id="38"/>
            <p:cNvSpPr/>
            <p:nvPr/>
          </p:nvSpPr>
          <p:spPr>
            <a:xfrm flipH="false" flipV="false" rot="0">
              <a:off x="50592" y="50357"/>
              <a:ext cx="647421" cy="132596"/>
            </a:xfrm>
            <a:custGeom>
              <a:avLst/>
              <a:gdLst/>
              <a:ahLst/>
              <a:cxnLst/>
              <a:rect r="r" b="b" t="t" l="l"/>
              <a:pathLst>
                <a:path h="132596" w="647421">
                  <a:moveTo>
                    <a:pt x="19258" y="80453"/>
                  </a:moveTo>
                  <a:cubicBezTo>
                    <a:pt x="586948" y="443"/>
                    <a:pt x="622508" y="-7177"/>
                    <a:pt x="637748" y="4253"/>
                  </a:cubicBezTo>
                  <a:cubicBezTo>
                    <a:pt x="645368" y="10603"/>
                    <a:pt x="649178" y="25843"/>
                    <a:pt x="646638" y="33463"/>
                  </a:cubicBezTo>
                  <a:cubicBezTo>
                    <a:pt x="645368" y="39813"/>
                    <a:pt x="636478" y="48703"/>
                    <a:pt x="628858" y="49973"/>
                  </a:cubicBezTo>
                  <a:cubicBezTo>
                    <a:pt x="621238" y="49973"/>
                    <a:pt x="599648" y="38543"/>
                    <a:pt x="598378" y="29653"/>
                  </a:cubicBezTo>
                  <a:cubicBezTo>
                    <a:pt x="595838" y="22033"/>
                    <a:pt x="611078" y="1713"/>
                    <a:pt x="618698" y="443"/>
                  </a:cubicBezTo>
                  <a:cubicBezTo>
                    <a:pt x="626318" y="-2097"/>
                    <a:pt x="642828" y="6793"/>
                    <a:pt x="646638" y="14413"/>
                  </a:cubicBezTo>
                  <a:cubicBezTo>
                    <a:pt x="649178" y="23303"/>
                    <a:pt x="645368" y="38543"/>
                    <a:pt x="632668" y="48703"/>
                  </a:cubicBezTo>
                  <a:cubicBezTo>
                    <a:pt x="576788" y="90613"/>
                    <a:pt x="99268" y="145223"/>
                    <a:pt x="28148" y="129983"/>
                  </a:cubicBezTo>
                  <a:cubicBezTo>
                    <a:pt x="11638" y="127443"/>
                    <a:pt x="1478" y="121093"/>
                    <a:pt x="208" y="112203"/>
                  </a:cubicBezTo>
                  <a:cubicBezTo>
                    <a:pt x="-2332" y="104583"/>
                    <a:pt x="19258" y="80453"/>
                    <a:pt x="19258" y="80453"/>
                  </a:cubicBezTo>
                </a:path>
              </a:pathLst>
            </a:custGeom>
            <a:solidFill>
              <a:srgbClr val="0571D3"/>
            </a:solidFill>
            <a:ln cap="sq">
              <a:noFill/>
              <a:prstDash val="solid"/>
              <a:miter/>
            </a:ln>
          </p:spPr>
        </p:sp>
      </p:grpSp>
      <p:grpSp>
        <p:nvGrpSpPr>
          <p:cNvPr name="Group 39" id="39"/>
          <p:cNvGrpSpPr/>
          <p:nvPr/>
        </p:nvGrpSpPr>
        <p:grpSpPr>
          <a:xfrm rot="0">
            <a:off x="11507152" y="2165033"/>
            <a:ext cx="560070" cy="114300"/>
            <a:chOff x="0" y="0"/>
            <a:chExt cx="746760" cy="152400"/>
          </a:xfrm>
        </p:grpSpPr>
        <p:sp>
          <p:nvSpPr>
            <p:cNvPr name="Freeform 40" id="40"/>
            <p:cNvSpPr/>
            <p:nvPr/>
          </p:nvSpPr>
          <p:spPr>
            <a:xfrm flipH="false" flipV="false" rot="0">
              <a:off x="50800" y="49992"/>
              <a:ext cx="645160" cy="73042"/>
            </a:xfrm>
            <a:custGeom>
              <a:avLst/>
              <a:gdLst/>
              <a:ahLst/>
              <a:cxnLst/>
              <a:rect r="r" b="b" t="t" l="l"/>
              <a:pathLst>
                <a:path h="73042" w="645160">
                  <a:moveTo>
                    <a:pt x="25400" y="808"/>
                  </a:moveTo>
                  <a:cubicBezTo>
                    <a:pt x="636270" y="7158"/>
                    <a:pt x="645160" y="18588"/>
                    <a:pt x="645160" y="27478"/>
                  </a:cubicBezTo>
                  <a:cubicBezTo>
                    <a:pt x="643890" y="35098"/>
                    <a:pt x="626110" y="51608"/>
                    <a:pt x="617220" y="50338"/>
                  </a:cubicBezTo>
                  <a:cubicBezTo>
                    <a:pt x="608330" y="50338"/>
                    <a:pt x="596900" y="37638"/>
                    <a:pt x="594360" y="30018"/>
                  </a:cubicBezTo>
                  <a:cubicBezTo>
                    <a:pt x="593090" y="22398"/>
                    <a:pt x="596900" y="12238"/>
                    <a:pt x="601980" y="7158"/>
                  </a:cubicBezTo>
                  <a:cubicBezTo>
                    <a:pt x="607060" y="2078"/>
                    <a:pt x="618490" y="-1732"/>
                    <a:pt x="624840" y="808"/>
                  </a:cubicBezTo>
                  <a:cubicBezTo>
                    <a:pt x="632460" y="3348"/>
                    <a:pt x="645160" y="16048"/>
                    <a:pt x="645160" y="23668"/>
                  </a:cubicBezTo>
                  <a:cubicBezTo>
                    <a:pt x="645160" y="32558"/>
                    <a:pt x="636270" y="43988"/>
                    <a:pt x="619760" y="51608"/>
                  </a:cubicBezTo>
                  <a:cubicBezTo>
                    <a:pt x="552450" y="79548"/>
                    <a:pt x="92710" y="80818"/>
                    <a:pt x="25400" y="51608"/>
                  </a:cubicBezTo>
                  <a:cubicBezTo>
                    <a:pt x="8890" y="43988"/>
                    <a:pt x="0" y="31288"/>
                    <a:pt x="0" y="22398"/>
                  </a:cubicBezTo>
                  <a:cubicBezTo>
                    <a:pt x="1270" y="14778"/>
                    <a:pt x="25400" y="808"/>
                    <a:pt x="25400" y="808"/>
                  </a:cubicBezTo>
                </a:path>
              </a:pathLst>
            </a:custGeom>
            <a:solidFill>
              <a:srgbClr val="0571D3"/>
            </a:solidFill>
            <a:ln cap="sq">
              <a:noFill/>
              <a:prstDash val="solid"/>
              <a:miter/>
            </a:ln>
          </p:spPr>
        </p:sp>
      </p:grpSp>
      <p:grpSp>
        <p:nvGrpSpPr>
          <p:cNvPr name="Group 41" id="41"/>
          <p:cNvGrpSpPr/>
          <p:nvPr/>
        </p:nvGrpSpPr>
        <p:grpSpPr>
          <a:xfrm rot="0">
            <a:off x="12133898" y="2156460"/>
            <a:ext cx="273368" cy="131445"/>
            <a:chOff x="0" y="0"/>
            <a:chExt cx="364490" cy="175260"/>
          </a:xfrm>
        </p:grpSpPr>
        <p:sp>
          <p:nvSpPr>
            <p:cNvPr name="Freeform 42" id="42"/>
            <p:cNvSpPr/>
            <p:nvPr/>
          </p:nvSpPr>
          <p:spPr>
            <a:xfrm flipH="false" flipV="false" rot="0">
              <a:off x="50800" y="50606"/>
              <a:ext cx="261728" cy="77188"/>
            </a:xfrm>
            <a:custGeom>
              <a:avLst/>
              <a:gdLst/>
              <a:ahLst/>
              <a:cxnLst/>
              <a:rect r="r" b="b" t="t" l="l"/>
              <a:pathLst>
                <a:path h="77188" w="261728">
                  <a:moveTo>
                    <a:pt x="24130" y="21784"/>
                  </a:moveTo>
                  <a:cubicBezTo>
                    <a:pt x="252730" y="4004"/>
                    <a:pt x="260350" y="14164"/>
                    <a:pt x="261620" y="21784"/>
                  </a:cubicBezTo>
                  <a:cubicBezTo>
                    <a:pt x="262890" y="30674"/>
                    <a:pt x="252730" y="44644"/>
                    <a:pt x="245110" y="48454"/>
                  </a:cubicBezTo>
                  <a:cubicBezTo>
                    <a:pt x="238760" y="50994"/>
                    <a:pt x="227330" y="49724"/>
                    <a:pt x="222250" y="45914"/>
                  </a:cubicBezTo>
                  <a:cubicBezTo>
                    <a:pt x="215900" y="40834"/>
                    <a:pt x="210820" y="24324"/>
                    <a:pt x="212090" y="16704"/>
                  </a:cubicBezTo>
                  <a:cubicBezTo>
                    <a:pt x="214630" y="9084"/>
                    <a:pt x="222250" y="1464"/>
                    <a:pt x="229870" y="194"/>
                  </a:cubicBezTo>
                  <a:cubicBezTo>
                    <a:pt x="237490" y="-1076"/>
                    <a:pt x="254000" y="4004"/>
                    <a:pt x="257810" y="11624"/>
                  </a:cubicBezTo>
                  <a:cubicBezTo>
                    <a:pt x="261620" y="19244"/>
                    <a:pt x="259080" y="38294"/>
                    <a:pt x="247650" y="47184"/>
                  </a:cubicBezTo>
                  <a:cubicBezTo>
                    <a:pt x="220980" y="70044"/>
                    <a:pt x="63500" y="85284"/>
                    <a:pt x="26670" y="72584"/>
                  </a:cubicBezTo>
                  <a:cubicBezTo>
                    <a:pt x="11430" y="66234"/>
                    <a:pt x="0" y="53534"/>
                    <a:pt x="0" y="44644"/>
                  </a:cubicBezTo>
                  <a:cubicBezTo>
                    <a:pt x="0" y="37024"/>
                    <a:pt x="24130" y="21784"/>
                    <a:pt x="24130" y="21784"/>
                  </a:cubicBezTo>
                </a:path>
              </a:pathLst>
            </a:custGeom>
            <a:solidFill>
              <a:srgbClr val="0571D3"/>
            </a:solidFill>
            <a:ln cap="sq">
              <a:noFill/>
              <a:prstDash val="solid"/>
              <a:miter/>
            </a:ln>
          </p:spPr>
        </p:sp>
      </p:grpSp>
      <p:sp>
        <p:nvSpPr>
          <p:cNvPr name="TextBox 43" id="43"/>
          <p:cNvSpPr txBox="true"/>
          <p:nvPr/>
        </p:nvSpPr>
        <p:spPr>
          <a:xfrm rot="0">
            <a:off x="8243444" y="411804"/>
            <a:ext cx="4979508" cy="771525"/>
          </a:xfrm>
          <a:prstGeom prst="rect">
            <a:avLst/>
          </a:prstGeom>
        </p:spPr>
        <p:txBody>
          <a:bodyPr anchor="t" rtlCol="false" tIns="0" lIns="0" bIns="0" rIns="0">
            <a:spAutoFit/>
          </a:bodyPr>
          <a:lstStyle/>
          <a:p>
            <a:pPr algn="l">
              <a:lnSpc>
                <a:spcPts val="2071"/>
              </a:lnSpc>
              <a:spcBef>
                <a:spcPct val="0"/>
              </a:spcBef>
            </a:pPr>
            <a:r>
              <a:rPr lang="en-US" b="true" sz="1726">
                <a:solidFill>
                  <a:srgbClr val="000000"/>
                </a:solidFill>
                <a:latin typeface="Montserrat Bold"/>
                <a:ea typeface="Montserrat Bold"/>
                <a:cs typeface="Montserrat Bold"/>
                <a:sym typeface="Montserrat Bold"/>
              </a:rPr>
              <a:t>Fahrzeugt</a:t>
            </a:r>
            <a:r>
              <a:rPr lang="en-US" b="true" sz="1726">
                <a:solidFill>
                  <a:srgbClr val="000000"/>
                </a:solidFill>
                <a:latin typeface="Montserrat Bold"/>
                <a:ea typeface="Montserrat Bold"/>
                <a:cs typeface="Montserrat Bold"/>
                <a:sym typeface="Montserrat Bold"/>
              </a:rPr>
              <a:t>elematik, Echtzeit-Standortdaten, Fahrgastinformation und das Depot-Lademanagement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36</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1</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1 a)</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Ist-Analyse</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2F8F4E"/>
            </a:solidFill>
            <a:ln w="19065" cap="sq">
              <a:solidFill>
                <a:srgbClr val="2F8F4E"/>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a:t>
              </a:r>
              <a:r>
                <a:rPr lang="en-US" sz="1726">
                  <a:solidFill>
                    <a:srgbClr val="FFFFFF"/>
                  </a:solidFill>
                  <a:latin typeface="Montserrat"/>
                  <a:ea typeface="Montserrat"/>
                  <a:cs typeface="Montserrat"/>
                  <a:sym typeface="Montserrat"/>
                </a:rPr>
                <a:t>   Nennen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3 × 1 = 3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Nennen Sie </a:t>
              </a:r>
              <a:r>
                <a:rPr lang="en-US" sz="2401" u="sng">
                  <a:solidFill>
                    <a:srgbClr val="0C1D4B"/>
                  </a:solidFill>
                  <a:latin typeface="DM Sans"/>
                  <a:ea typeface="DM Sans"/>
                  <a:cs typeface="DM Sans"/>
                  <a:sym typeface="DM Sans"/>
                </a:rPr>
                <a:t>drei Informationen</a:t>
              </a:r>
              <a:r>
                <a:rPr lang="en-US" sz="2401">
                  <a:solidFill>
                    <a:srgbClr val="0C1D4B"/>
                  </a:solidFill>
                  <a:latin typeface="DM Sans"/>
                  <a:ea typeface="DM Sans"/>
                  <a:cs typeface="DM Sans"/>
                  <a:sym typeface="DM Sans"/>
                </a:rPr>
                <a:t>, die Sie im Rahmen der </a:t>
              </a:r>
              <a:r>
                <a:rPr lang="en-US" sz="2401" u="sng">
                  <a:solidFill>
                    <a:srgbClr val="0C1D4B"/>
                  </a:solidFill>
                  <a:latin typeface="DM Sans"/>
                  <a:ea typeface="DM Sans"/>
                  <a:cs typeface="DM Sans"/>
                  <a:sym typeface="DM Sans"/>
                </a:rPr>
                <a:t>Ist-Analyse</a:t>
              </a:r>
              <a:r>
                <a:rPr lang="en-US" sz="2401">
                  <a:solidFill>
                    <a:srgbClr val="0C1D4B"/>
                  </a:solidFill>
                  <a:latin typeface="DM Sans"/>
                  <a:ea typeface="DM Sans"/>
                  <a:cs typeface="DM Sans"/>
                  <a:sym typeface="DM Sans"/>
                </a:rPr>
                <a:t> der bestehenden Fahrzeug- und Betriebshof-IT erheben.</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Bestandsaufnahme: Fahrzeuge, Kommunikationswege, Backend-Systeme, Ladeinfrastruktur.</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37</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1 a)</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Ist-Analyse</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2F8F4E"/>
            </a:solidFill>
            <a:ln w="19065" cap="sq">
              <a:solidFill>
                <a:srgbClr val="2F8F4E"/>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  ·  3 × 1 = 3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grpSp>
        <p:nvGrpSpPr>
          <p:cNvPr name="Group 29" id="29"/>
          <p:cNvGrpSpPr/>
          <p:nvPr/>
        </p:nvGrpSpPr>
        <p:grpSpPr>
          <a:xfrm rot="0">
            <a:off x="13101876" y="2353847"/>
            <a:ext cx="4200954" cy="1668370"/>
            <a:chOff x="0" y="0"/>
            <a:chExt cx="5601272" cy="2224494"/>
          </a:xfrm>
        </p:grpSpPr>
        <p:sp>
          <p:nvSpPr>
            <p:cNvPr name="Freeform 30" id="30"/>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grpSp>
        <p:nvGrpSpPr>
          <p:cNvPr name="Group 31" id="31"/>
          <p:cNvGrpSpPr/>
          <p:nvPr/>
        </p:nvGrpSpPr>
        <p:grpSpPr>
          <a:xfrm rot="0">
            <a:off x="13101876" y="5071739"/>
            <a:ext cx="4200954" cy="1990944"/>
            <a:chOff x="0" y="0"/>
            <a:chExt cx="5601272" cy="2654592"/>
          </a:xfrm>
        </p:grpSpPr>
        <p:sp>
          <p:nvSpPr>
            <p:cNvPr name="Freeform 32" id="32"/>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grpSp>
        <p:nvGrpSpPr>
          <p:cNvPr name="Group 33" id="33"/>
          <p:cNvGrpSpPr/>
          <p:nvPr/>
        </p:nvGrpSpPr>
        <p:grpSpPr>
          <a:xfrm rot="0">
            <a:off x="1017584" y="4174731"/>
            <a:ext cx="5651792" cy="1327871"/>
            <a:chOff x="0" y="0"/>
            <a:chExt cx="7535723" cy="1770494"/>
          </a:xfrm>
        </p:grpSpPr>
        <p:sp>
          <p:nvSpPr>
            <p:cNvPr name="Freeform 34" id="34"/>
            <p:cNvSpPr/>
            <p:nvPr/>
          </p:nvSpPr>
          <p:spPr>
            <a:xfrm flipH="false" flipV="false" rot="0">
              <a:off x="0" y="0"/>
              <a:ext cx="7535800" cy="1770507"/>
            </a:xfrm>
            <a:custGeom>
              <a:avLst/>
              <a:gdLst/>
              <a:ahLst/>
              <a:cxnLst/>
              <a:rect r="r" b="b" t="t" l="l"/>
              <a:pathLst>
                <a:path h="1770507" w="7535800">
                  <a:moveTo>
                    <a:pt x="0" y="93218"/>
                  </a:moveTo>
                  <a:cubicBezTo>
                    <a:pt x="0" y="41656"/>
                    <a:pt x="41656" y="0"/>
                    <a:pt x="93218" y="0"/>
                  </a:cubicBezTo>
                  <a:lnTo>
                    <a:pt x="7442581" y="0"/>
                  </a:lnTo>
                  <a:cubicBezTo>
                    <a:pt x="7494016" y="0"/>
                    <a:pt x="7535800" y="41656"/>
                    <a:pt x="7535800" y="93218"/>
                  </a:cubicBezTo>
                  <a:lnTo>
                    <a:pt x="7535800" y="1677289"/>
                  </a:lnTo>
                  <a:cubicBezTo>
                    <a:pt x="7535800" y="1728724"/>
                    <a:pt x="7494143" y="1770507"/>
                    <a:pt x="7442581" y="1770507"/>
                  </a:cubicBezTo>
                  <a:lnTo>
                    <a:pt x="93218" y="1770507"/>
                  </a:lnTo>
                  <a:cubicBezTo>
                    <a:pt x="41783" y="1770507"/>
                    <a:pt x="0" y="1728851"/>
                    <a:pt x="0" y="1677289"/>
                  </a:cubicBezTo>
                  <a:close/>
                </a:path>
              </a:pathLst>
            </a:custGeom>
            <a:solidFill>
              <a:srgbClr val="F2FCFD"/>
            </a:solidFill>
            <a:ln w="23831" cap="sq">
              <a:solidFill>
                <a:srgbClr val="2BB6BD"/>
              </a:solidFill>
              <a:prstDash val="solid"/>
              <a:miter/>
            </a:ln>
          </p:spPr>
        </p:sp>
      </p:grpSp>
      <p:grpSp>
        <p:nvGrpSpPr>
          <p:cNvPr name="Group 35" id="35"/>
          <p:cNvGrpSpPr/>
          <p:nvPr/>
        </p:nvGrpSpPr>
        <p:grpSpPr>
          <a:xfrm rot="0">
            <a:off x="1331490" y="4186647"/>
            <a:ext cx="5023980" cy="1304039"/>
            <a:chOff x="0" y="0"/>
            <a:chExt cx="6698640" cy="1738719"/>
          </a:xfrm>
        </p:grpSpPr>
        <p:sp>
          <p:nvSpPr>
            <p:cNvPr name="Freeform 36" id="36"/>
            <p:cNvSpPr/>
            <p:nvPr/>
          </p:nvSpPr>
          <p:spPr>
            <a:xfrm flipH="false" flipV="false" rot="0">
              <a:off x="0" y="0"/>
              <a:ext cx="6698642" cy="1738718"/>
            </a:xfrm>
            <a:custGeom>
              <a:avLst/>
              <a:gdLst/>
              <a:ahLst/>
              <a:cxnLst/>
              <a:rect r="r" b="b" t="t" l="l"/>
              <a:pathLst>
                <a:path h="1738718" w="6698642">
                  <a:moveTo>
                    <a:pt x="0" y="0"/>
                  </a:moveTo>
                  <a:lnTo>
                    <a:pt x="6698642" y="0"/>
                  </a:lnTo>
                  <a:lnTo>
                    <a:pt x="6698642" y="1738718"/>
                  </a:lnTo>
                  <a:lnTo>
                    <a:pt x="0" y="1738718"/>
                  </a:lnTo>
                  <a:close/>
                </a:path>
              </a:pathLst>
            </a:custGeom>
            <a:blipFill>
              <a:blip r:embed="rId3">
                <a:alphaModFix amt="0"/>
              </a:blip>
              <a:stretch>
                <a:fillRect l="0" t="-25068" r="0" b="-25068"/>
              </a:stretch>
            </a:blipFill>
          </p:spPr>
        </p:sp>
        <p:sp>
          <p:nvSpPr>
            <p:cNvPr name="TextBox 37" id="37"/>
            <p:cNvSpPr txBox="true"/>
            <p:nvPr/>
          </p:nvSpPr>
          <p:spPr>
            <a:xfrm>
              <a:off x="0" y="9525"/>
              <a:ext cx="6698640" cy="1729194"/>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Fahrzeugtypen und vorhandene Telematik/Bordrechner</a:t>
              </a:r>
            </a:p>
          </p:txBody>
        </p:sp>
      </p:grpSp>
      <p:grpSp>
        <p:nvGrpSpPr>
          <p:cNvPr name="Group 38" id="38"/>
          <p:cNvGrpSpPr/>
          <p:nvPr/>
        </p:nvGrpSpPr>
        <p:grpSpPr>
          <a:xfrm rot="0">
            <a:off x="1017584" y="5698398"/>
            <a:ext cx="5651792" cy="1327871"/>
            <a:chOff x="0" y="0"/>
            <a:chExt cx="7535723" cy="1770494"/>
          </a:xfrm>
        </p:grpSpPr>
        <p:sp>
          <p:nvSpPr>
            <p:cNvPr name="Freeform 39" id="39"/>
            <p:cNvSpPr/>
            <p:nvPr/>
          </p:nvSpPr>
          <p:spPr>
            <a:xfrm flipH="false" flipV="false" rot="0">
              <a:off x="0" y="0"/>
              <a:ext cx="7535800" cy="1770507"/>
            </a:xfrm>
            <a:custGeom>
              <a:avLst/>
              <a:gdLst/>
              <a:ahLst/>
              <a:cxnLst/>
              <a:rect r="r" b="b" t="t" l="l"/>
              <a:pathLst>
                <a:path h="1770507" w="7535800">
                  <a:moveTo>
                    <a:pt x="0" y="93218"/>
                  </a:moveTo>
                  <a:cubicBezTo>
                    <a:pt x="0" y="41656"/>
                    <a:pt x="41656" y="0"/>
                    <a:pt x="93218" y="0"/>
                  </a:cubicBezTo>
                  <a:lnTo>
                    <a:pt x="7442581" y="0"/>
                  </a:lnTo>
                  <a:cubicBezTo>
                    <a:pt x="7494016" y="0"/>
                    <a:pt x="7535800" y="41656"/>
                    <a:pt x="7535800" y="93218"/>
                  </a:cubicBezTo>
                  <a:lnTo>
                    <a:pt x="7535800" y="1677289"/>
                  </a:lnTo>
                  <a:cubicBezTo>
                    <a:pt x="7535800" y="1728724"/>
                    <a:pt x="7494143" y="1770507"/>
                    <a:pt x="7442581" y="1770507"/>
                  </a:cubicBezTo>
                  <a:lnTo>
                    <a:pt x="93218" y="1770507"/>
                  </a:lnTo>
                  <a:cubicBezTo>
                    <a:pt x="41783" y="1770507"/>
                    <a:pt x="0" y="1728851"/>
                    <a:pt x="0" y="1677289"/>
                  </a:cubicBezTo>
                  <a:close/>
                </a:path>
              </a:pathLst>
            </a:custGeom>
            <a:solidFill>
              <a:srgbClr val="F2FCFD"/>
            </a:solidFill>
            <a:ln w="23831" cap="sq">
              <a:solidFill>
                <a:srgbClr val="2BB6BD"/>
              </a:solidFill>
              <a:prstDash val="solid"/>
              <a:miter/>
            </a:ln>
          </p:spPr>
        </p:sp>
      </p:grpSp>
      <p:grpSp>
        <p:nvGrpSpPr>
          <p:cNvPr name="Group 40" id="40"/>
          <p:cNvGrpSpPr/>
          <p:nvPr/>
        </p:nvGrpSpPr>
        <p:grpSpPr>
          <a:xfrm rot="0">
            <a:off x="1331490" y="5710314"/>
            <a:ext cx="5023980" cy="1304039"/>
            <a:chOff x="0" y="0"/>
            <a:chExt cx="6698640" cy="1738719"/>
          </a:xfrm>
        </p:grpSpPr>
        <p:sp>
          <p:nvSpPr>
            <p:cNvPr name="Freeform 41" id="41"/>
            <p:cNvSpPr/>
            <p:nvPr/>
          </p:nvSpPr>
          <p:spPr>
            <a:xfrm flipH="false" flipV="false" rot="0">
              <a:off x="0" y="0"/>
              <a:ext cx="6698642" cy="1738718"/>
            </a:xfrm>
            <a:custGeom>
              <a:avLst/>
              <a:gdLst/>
              <a:ahLst/>
              <a:cxnLst/>
              <a:rect r="r" b="b" t="t" l="l"/>
              <a:pathLst>
                <a:path h="1738718" w="6698642">
                  <a:moveTo>
                    <a:pt x="0" y="0"/>
                  </a:moveTo>
                  <a:lnTo>
                    <a:pt x="6698642" y="0"/>
                  </a:lnTo>
                  <a:lnTo>
                    <a:pt x="6698642" y="1738718"/>
                  </a:lnTo>
                  <a:lnTo>
                    <a:pt x="0" y="1738718"/>
                  </a:lnTo>
                  <a:close/>
                </a:path>
              </a:pathLst>
            </a:custGeom>
            <a:blipFill>
              <a:blip r:embed="rId3">
                <a:alphaModFix amt="0"/>
              </a:blip>
              <a:stretch>
                <a:fillRect l="0" t="-25068" r="0" b="-25068"/>
              </a:stretch>
            </a:blipFill>
          </p:spPr>
        </p:sp>
        <p:sp>
          <p:nvSpPr>
            <p:cNvPr name="TextBox 42" id="42"/>
            <p:cNvSpPr txBox="true"/>
            <p:nvPr/>
          </p:nvSpPr>
          <p:spPr>
            <a:xfrm>
              <a:off x="0" y="9525"/>
              <a:ext cx="6698640" cy="1729194"/>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Genutzte Kommunikationswege (Mobilfunk, Depot-WLAN)</a:t>
              </a:r>
            </a:p>
          </p:txBody>
        </p:sp>
      </p:grpSp>
      <p:grpSp>
        <p:nvGrpSpPr>
          <p:cNvPr name="Group 43" id="43"/>
          <p:cNvGrpSpPr/>
          <p:nvPr/>
        </p:nvGrpSpPr>
        <p:grpSpPr>
          <a:xfrm rot="0">
            <a:off x="1017584" y="7222065"/>
            <a:ext cx="5651792" cy="1327871"/>
            <a:chOff x="0" y="0"/>
            <a:chExt cx="7535723" cy="1770494"/>
          </a:xfrm>
        </p:grpSpPr>
        <p:sp>
          <p:nvSpPr>
            <p:cNvPr name="Freeform 44" id="44"/>
            <p:cNvSpPr/>
            <p:nvPr/>
          </p:nvSpPr>
          <p:spPr>
            <a:xfrm flipH="false" flipV="false" rot="0">
              <a:off x="0" y="0"/>
              <a:ext cx="7535800" cy="1770507"/>
            </a:xfrm>
            <a:custGeom>
              <a:avLst/>
              <a:gdLst/>
              <a:ahLst/>
              <a:cxnLst/>
              <a:rect r="r" b="b" t="t" l="l"/>
              <a:pathLst>
                <a:path h="1770507" w="7535800">
                  <a:moveTo>
                    <a:pt x="0" y="93218"/>
                  </a:moveTo>
                  <a:cubicBezTo>
                    <a:pt x="0" y="41656"/>
                    <a:pt x="41656" y="0"/>
                    <a:pt x="93218" y="0"/>
                  </a:cubicBezTo>
                  <a:lnTo>
                    <a:pt x="7442581" y="0"/>
                  </a:lnTo>
                  <a:cubicBezTo>
                    <a:pt x="7494016" y="0"/>
                    <a:pt x="7535800" y="41656"/>
                    <a:pt x="7535800" y="93218"/>
                  </a:cubicBezTo>
                  <a:lnTo>
                    <a:pt x="7535800" y="1677289"/>
                  </a:lnTo>
                  <a:cubicBezTo>
                    <a:pt x="7535800" y="1728724"/>
                    <a:pt x="7494143" y="1770507"/>
                    <a:pt x="7442581" y="1770507"/>
                  </a:cubicBezTo>
                  <a:lnTo>
                    <a:pt x="93218" y="1770507"/>
                  </a:lnTo>
                  <a:cubicBezTo>
                    <a:pt x="41783" y="1770507"/>
                    <a:pt x="0" y="1728851"/>
                    <a:pt x="0" y="1677289"/>
                  </a:cubicBezTo>
                  <a:close/>
                </a:path>
              </a:pathLst>
            </a:custGeom>
            <a:solidFill>
              <a:srgbClr val="F2FCFD"/>
            </a:solidFill>
            <a:ln w="23831" cap="sq">
              <a:solidFill>
                <a:srgbClr val="2BB6BD"/>
              </a:solidFill>
              <a:prstDash val="solid"/>
              <a:miter/>
            </a:ln>
          </p:spPr>
        </p:sp>
      </p:grpSp>
      <p:grpSp>
        <p:nvGrpSpPr>
          <p:cNvPr name="Group 45" id="45"/>
          <p:cNvGrpSpPr/>
          <p:nvPr/>
        </p:nvGrpSpPr>
        <p:grpSpPr>
          <a:xfrm rot="0">
            <a:off x="1331490" y="7233980"/>
            <a:ext cx="5023980" cy="1304039"/>
            <a:chOff x="0" y="0"/>
            <a:chExt cx="6698640" cy="1738719"/>
          </a:xfrm>
        </p:grpSpPr>
        <p:sp>
          <p:nvSpPr>
            <p:cNvPr name="Freeform 46" id="46"/>
            <p:cNvSpPr/>
            <p:nvPr/>
          </p:nvSpPr>
          <p:spPr>
            <a:xfrm flipH="false" flipV="false" rot="0">
              <a:off x="0" y="0"/>
              <a:ext cx="6698642" cy="1738718"/>
            </a:xfrm>
            <a:custGeom>
              <a:avLst/>
              <a:gdLst/>
              <a:ahLst/>
              <a:cxnLst/>
              <a:rect r="r" b="b" t="t" l="l"/>
              <a:pathLst>
                <a:path h="1738718" w="6698642">
                  <a:moveTo>
                    <a:pt x="0" y="0"/>
                  </a:moveTo>
                  <a:lnTo>
                    <a:pt x="6698642" y="0"/>
                  </a:lnTo>
                  <a:lnTo>
                    <a:pt x="6698642" y="1738718"/>
                  </a:lnTo>
                  <a:lnTo>
                    <a:pt x="0" y="1738718"/>
                  </a:lnTo>
                  <a:close/>
                </a:path>
              </a:pathLst>
            </a:custGeom>
            <a:blipFill>
              <a:blip r:embed="rId3">
                <a:alphaModFix amt="0"/>
              </a:blip>
              <a:stretch>
                <a:fillRect l="0" t="-25068" r="0" b="-25068"/>
              </a:stretch>
            </a:blipFill>
          </p:spPr>
        </p:sp>
        <p:sp>
          <p:nvSpPr>
            <p:cNvPr name="TextBox 47" id="47"/>
            <p:cNvSpPr txBox="true"/>
            <p:nvPr/>
          </p:nvSpPr>
          <p:spPr>
            <a:xfrm>
              <a:off x="0" y="9525"/>
              <a:ext cx="6698640" cy="1729194"/>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Betriebshof- und Leitstellensysteme sowie deren Schnittstellen</a:t>
              </a:r>
            </a:p>
          </p:txBody>
        </p:sp>
      </p:grpSp>
      <p:grpSp>
        <p:nvGrpSpPr>
          <p:cNvPr name="Group 48" id="48"/>
          <p:cNvGrpSpPr/>
          <p:nvPr/>
        </p:nvGrpSpPr>
        <p:grpSpPr>
          <a:xfrm rot="0">
            <a:off x="7059730" y="4177122"/>
            <a:ext cx="5647020" cy="1323108"/>
            <a:chOff x="0" y="0"/>
            <a:chExt cx="7529360" cy="1764144"/>
          </a:xfrm>
        </p:grpSpPr>
        <p:sp>
          <p:nvSpPr>
            <p:cNvPr name="Freeform 49" id="49"/>
            <p:cNvSpPr/>
            <p:nvPr/>
          </p:nvSpPr>
          <p:spPr>
            <a:xfrm flipH="false" flipV="false" rot="0">
              <a:off x="0" y="0"/>
              <a:ext cx="7529322" cy="1764157"/>
            </a:xfrm>
            <a:custGeom>
              <a:avLst/>
              <a:gdLst/>
              <a:ahLst/>
              <a:cxnLst/>
              <a:rect r="r" b="b" t="t" l="l"/>
              <a:pathLst>
                <a:path h="1764157" w="7529322">
                  <a:moveTo>
                    <a:pt x="0" y="92837"/>
                  </a:moveTo>
                  <a:cubicBezTo>
                    <a:pt x="0" y="41529"/>
                    <a:pt x="41529" y="0"/>
                    <a:pt x="92837" y="0"/>
                  </a:cubicBezTo>
                  <a:lnTo>
                    <a:pt x="7436485" y="0"/>
                  </a:lnTo>
                  <a:cubicBezTo>
                    <a:pt x="7487793" y="0"/>
                    <a:pt x="7529322" y="41529"/>
                    <a:pt x="7529322" y="92837"/>
                  </a:cubicBezTo>
                  <a:lnTo>
                    <a:pt x="7529322" y="1671320"/>
                  </a:lnTo>
                  <a:cubicBezTo>
                    <a:pt x="7529322" y="1722628"/>
                    <a:pt x="7487793" y="1764157"/>
                    <a:pt x="7436485" y="1764157"/>
                  </a:cubicBezTo>
                  <a:lnTo>
                    <a:pt x="92837" y="1764157"/>
                  </a:lnTo>
                  <a:cubicBezTo>
                    <a:pt x="41529" y="1764157"/>
                    <a:pt x="0" y="1722628"/>
                    <a:pt x="0" y="1671320"/>
                  </a:cubicBezTo>
                  <a:close/>
                </a:path>
              </a:pathLst>
            </a:custGeom>
            <a:solidFill>
              <a:srgbClr val="FFFFFF"/>
            </a:solidFill>
            <a:ln w="19065" cap="sq">
              <a:solidFill>
                <a:srgbClr val="D8DEE7"/>
              </a:solidFill>
              <a:prstDash val="solid"/>
              <a:miter/>
            </a:ln>
          </p:spPr>
        </p:sp>
      </p:grpSp>
      <p:grpSp>
        <p:nvGrpSpPr>
          <p:cNvPr name="Group 50" id="50"/>
          <p:cNvGrpSpPr/>
          <p:nvPr/>
        </p:nvGrpSpPr>
        <p:grpSpPr>
          <a:xfrm rot="0">
            <a:off x="7371255" y="4186647"/>
            <a:ext cx="5023980" cy="1304039"/>
            <a:chOff x="0" y="0"/>
            <a:chExt cx="6698640" cy="1738719"/>
          </a:xfrm>
        </p:grpSpPr>
        <p:sp>
          <p:nvSpPr>
            <p:cNvPr name="Freeform 51" id="51"/>
            <p:cNvSpPr/>
            <p:nvPr/>
          </p:nvSpPr>
          <p:spPr>
            <a:xfrm flipH="false" flipV="false" rot="0">
              <a:off x="0" y="0"/>
              <a:ext cx="6698642" cy="1738718"/>
            </a:xfrm>
            <a:custGeom>
              <a:avLst/>
              <a:gdLst/>
              <a:ahLst/>
              <a:cxnLst/>
              <a:rect r="r" b="b" t="t" l="l"/>
              <a:pathLst>
                <a:path h="1738718" w="6698642">
                  <a:moveTo>
                    <a:pt x="0" y="0"/>
                  </a:moveTo>
                  <a:lnTo>
                    <a:pt x="6698642" y="0"/>
                  </a:lnTo>
                  <a:lnTo>
                    <a:pt x="6698642" y="1738718"/>
                  </a:lnTo>
                  <a:lnTo>
                    <a:pt x="0" y="1738718"/>
                  </a:lnTo>
                  <a:close/>
                </a:path>
              </a:pathLst>
            </a:custGeom>
            <a:blipFill>
              <a:blip r:embed="rId3">
                <a:alphaModFix amt="0"/>
              </a:blip>
              <a:stretch>
                <a:fillRect l="0" t="-25068" r="0" b="-25068"/>
              </a:stretch>
            </a:blipFill>
          </p:spPr>
        </p:sp>
        <p:sp>
          <p:nvSpPr>
            <p:cNvPr name="TextBox 52" id="52"/>
            <p:cNvSpPr txBox="true"/>
            <p:nvPr/>
          </p:nvSpPr>
          <p:spPr>
            <a:xfrm>
              <a:off x="0" y="9525"/>
              <a:ext cx="6698640" cy="1729194"/>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Ladeinfrastruktur und Lademanagement</a:t>
              </a:r>
            </a:p>
          </p:txBody>
        </p:sp>
      </p:grpSp>
      <p:grpSp>
        <p:nvGrpSpPr>
          <p:cNvPr name="Group 53" id="53"/>
          <p:cNvGrpSpPr/>
          <p:nvPr/>
        </p:nvGrpSpPr>
        <p:grpSpPr>
          <a:xfrm rot="0">
            <a:off x="7059730" y="5700789"/>
            <a:ext cx="5647020" cy="1323108"/>
            <a:chOff x="0" y="0"/>
            <a:chExt cx="7529360" cy="1764144"/>
          </a:xfrm>
        </p:grpSpPr>
        <p:sp>
          <p:nvSpPr>
            <p:cNvPr name="Freeform 54" id="54"/>
            <p:cNvSpPr/>
            <p:nvPr/>
          </p:nvSpPr>
          <p:spPr>
            <a:xfrm flipH="false" flipV="false" rot="0">
              <a:off x="0" y="0"/>
              <a:ext cx="7529322" cy="1764157"/>
            </a:xfrm>
            <a:custGeom>
              <a:avLst/>
              <a:gdLst/>
              <a:ahLst/>
              <a:cxnLst/>
              <a:rect r="r" b="b" t="t" l="l"/>
              <a:pathLst>
                <a:path h="1764157" w="7529322">
                  <a:moveTo>
                    <a:pt x="0" y="92837"/>
                  </a:moveTo>
                  <a:cubicBezTo>
                    <a:pt x="0" y="41529"/>
                    <a:pt x="41529" y="0"/>
                    <a:pt x="92837" y="0"/>
                  </a:cubicBezTo>
                  <a:lnTo>
                    <a:pt x="7436485" y="0"/>
                  </a:lnTo>
                  <a:cubicBezTo>
                    <a:pt x="7487793" y="0"/>
                    <a:pt x="7529322" y="41529"/>
                    <a:pt x="7529322" y="92837"/>
                  </a:cubicBezTo>
                  <a:lnTo>
                    <a:pt x="7529322" y="1671320"/>
                  </a:lnTo>
                  <a:cubicBezTo>
                    <a:pt x="7529322" y="1722628"/>
                    <a:pt x="7487793" y="1764157"/>
                    <a:pt x="7436485" y="1764157"/>
                  </a:cubicBezTo>
                  <a:lnTo>
                    <a:pt x="92837" y="1764157"/>
                  </a:lnTo>
                  <a:cubicBezTo>
                    <a:pt x="41529" y="1764157"/>
                    <a:pt x="0" y="1722628"/>
                    <a:pt x="0" y="1671320"/>
                  </a:cubicBezTo>
                  <a:close/>
                </a:path>
              </a:pathLst>
            </a:custGeom>
            <a:solidFill>
              <a:srgbClr val="FFFFFF"/>
            </a:solidFill>
            <a:ln w="19065" cap="sq">
              <a:solidFill>
                <a:srgbClr val="D8DEE7"/>
              </a:solidFill>
              <a:prstDash val="solid"/>
              <a:miter/>
            </a:ln>
          </p:spPr>
        </p:sp>
      </p:grpSp>
      <p:grpSp>
        <p:nvGrpSpPr>
          <p:cNvPr name="Group 55" id="55"/>
          <p:cNvGrpSpPr/>
          <p:nvPr/>
        </p:nvGrpSpPr>
        <p:grpSpPr>
          <a:xfrm rot="0">
            <a:off x="7371255" y="5710314"/>
            <a:ext cx="5023980" cy="1304039"/>
            <a:chOff x="0" y="0"/>
            <a:chExt cx="6698640" cy="1738719"/>
          </a:xfrm>
        </p:grpSpPr>
        <p:sp>
          <p:nvSpPr>
            <p:cNvPr name="Freeform 56" id="56"/>
            <p:cNvSpPr/>
            <p:nvPr/>
          </p:nvSpPr>
          <p:spPr>
            <a:xfrm flipH="false" flipV="false" rot="0">
              <a:off x="0" y="0"/>
              <a:ext cx="6698642" cy="1738718"/>
            </a:xfrm>
            <a:custGeom>
              <a:avLst/>
              <a:gdLst/>
              <a:ahLst/>
              <a:cxnLst/>
              <a:rect r="r" b="b" t="t" l="l"/>
              <a:pathLst>
                <a:path h="1738718" w="6698642">
                  <a:moveTo>
                    <a:pt x="0" y="0"/>
                  </a:moveTo>
                  <a:lnTo>
                    <a:pt x="6698642" y="0"/>
                  </a:lnTo>
                  <a:lnTo>
                    <a:pt x="6698642" y="1738718"/>
                  </a:lnTo>
                  <a:lnTo>
                    <a:pt x="0" y="1738718"/>
                  </a:lnTo>
                  <a:close/>
                </a:path>
              </a:pathLst>
            </a:custGeom>
            <a:blipFill>
              <a:blip r:embed="rId3">
                <a:alphaModFix amt="0"/>
              </a:blip>
              <a:stretch>
                <a:fillRect l="0" t="-25068" r="0" b="-25068"/>
              </a:stretch>
            </a:blipFill>
          </p:spPr>
        </p:sp>
        <p:sp>
          <p:nvSpPr>
            <p:cNvPr name="TextBox 57" id="57"/>
            <p:cNvSpPr txBox="true"/>
            <p:nvPr/>
          </p:nvSpPr>
          <p:spPr>
            <a:xfrm>
              <a:off x="0" y="9525"/>
              <a:ext cx="6698640" cy="1729194"/>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Vorhandene Datenbestände und Dokumentation</a:t>
              </a:r>
            </a:p>
          </p:txBody>
        </p:sp>
      </p:grpSp>
      <p:grpSp>
        <p:nvGrpSpPr>
          <p:cNvPr name="Group 58" id="58"/>
          <p:cNvGrpSpPr/>
          <p:nvPr/>
        </p:nvGrpSpPr>
        <p:grpSpPr>
          <a:xfrm rot="0">
            <a:off x="1070686" y="9087088"/>
            <a:ext cx="11667715" cy="480431"/>
            <a:chOff x="0" y="0"/>
            <a:chExt cx="15556954" cy="640575"/>
          </a:xfrm>
        </p:grpSpPr>
        <p:sp>
          <p:nvSpPr>
            <p:cNvPr name="Freeform 59" id="59"/>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60" id="60"/>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Gefordert: 3 · hier 5 mögliche Lösungen zur Auswahl</a:t>
              </a:r>
            </a:p>
          </p:txBody>
        </p:sp>
      </p:grpSp>
      <p:sp>
        <p:nvSpPr>
          <p:cNvPr name="Freeform 61" id="61"/>
          <p:cNvSpPr/>
          <p:nvPr/>
        </p:nvSpPr>
        <p:spPr>
          <a:xfrm flipH="false" flipV="false" rot="0">
            <a:off x="5376286" y="4820511"/>
            <a:ext cx="1392810" cy="738189"/>
          </a:xfrm>
          <a:custGeom>
            <a:avLst/>
            <a:gdLst/>
            <a:ahLst/>
            <a:cxnLst/>
            <a:rect r="r" b="b" t="t" l="l"/>
            <a:pathLst>
              <a:path h="738189" w="1392810">
                <a:moveTo>
                  <a:pt x="0" y="0"/>
                </a:moveTo>
                <a:lnTo>
                  <a:pt x="1392810" y="0"/>
                </a:lnTo>
                <a:lnTo>
                  <a:pt x="1392810" y="738189"/>
                </a:lnTo>
                <a:lnTo>
                  <a:pt x="0" y="7381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2" id="62"/>
          <p:cNvSpPr/>
          <p:nvPr/>
        </p:nvSpPr>
        <p:spPr>
          <a:xfrm flipH="false" flipV="false" rot="0">
            <a:off x="5755749" y="6245203"/>
            <a:ext cx="805629" cy="700897"/>
          </a:xfrm>
          <a:custGeom>
            <a:avLst/>
            <a:gdLst/>
            <a:ahLst/>
            <a:cxnLst/>
            <a:rect r="r" b="b" t="t" l="l"/>
            <a:pathLst>
              <a:path h="700897" w="805629">
                <a:moveTo>
                  <a:pt x="0" y="0"/>
                </a:moveTo>
                <a:lnTo>
                  <a:pt x="805628" y="0"/>
                </a:lnTo>
                <a:lnTo>
                  <a:pt x="805628" y="700897"/>
                </a:lnTo>
                <a:lnTo>
                  <a:pt x="0" y="70089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3" id="63"/>
          <p:cNvSpPr txBox="true"/>
          <p:nvPr/>
        </p:nvSpPr>
        <p:spPr>
          <a:xfrm rot="0">
            <a:off x="1166774" y="3198324"/>
            <a:ext cx="11530451" cy="266700"/>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Bestandsaufnahme: Fahrzeuge, Kommunikationswege, Backend-Systeme, Ladeinfrastruktur.</a:t>
            </a:r>
          </a:p>
        </p:txBody>
      </p:sp>
      <p:sp>
        <p:nvSpPr>
          <p:cNvPr name="TextBox 64" id="64"/>
          <p:cNvSpPr txBox="true"/>
          <p:nvPr/>
        </p:nvSpPr>
        <p:spPr>
          <a:xfrm rot="0">
            <a:off x="13314921" y="2498265"/>
            <a:ext cx="3774853" cy="652878"/>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AFB I: drei aussagekräftige Stichworte. Ladeinfrastruktur ist das wichtigste bei den E-Bussen</a:t>
            </a:r>
          </a:p>
        </p:txBody>
      </p:sp>
      <p:sp>
        <p:nvSpPr>
          <p:cNvPr name="TextBox 65" id="6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Telematik = Fahrzeugdaten über Mobilfunk ans Backend; das Lademanagement steuert, welcher Bus wann lädt.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38</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1</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1 b)</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Technische Aspekte der Vernetzung</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a:t>
              </a:r>
              <a:r>
                <a:rPr lang="en-US" sz="1726">
                  <a:solidFill>
                    <a:srgbClr val="FFFFFF"/>
                  </a:solidFill>
                  <a:latin typeface="Montserrat"/>
                  <a:ea typeface="Montserrat"/>
                  <a:cs typeface="Montserrat"/>
                  <a:sym typeface="Montserrat"/>
                </a:rPr>
                <a:t>   Erläutern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6 × 2 = 12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Erläutern Sie </a:t>
              </a:r>
              <a:r>
                <a:rPr lang="en-US" sz="2401" u="sng">
                  <a:solidFill>
                    <a:srgbClr val="0C1D4B"/>
                  </a:solidFill>
                  <a:latin typeface="DM Sans"/>
                  <a:ea typeface="DM Sans"/>
                  <a:cs typeface="DM Sans"/>
                  <a:sym typeface="DM Sans"/>
                </a:rPr>
                <a:t>sechs technische Aspekte</a:t>
              </a:r>
              <a:r>
                <a:rPr lang="en-US" sz="2401">
                  <a:solidFill>
                    <a:srgbClr val="0C1D4B"/>
                  </a:solidFill>
                  <a:latin typeface="DM Sans"/>
                  <a:ea typeface="DM Sans"/>
                  <a:cs typeface="DM Sans"/>
                  <a:sym typeface="DM Sans"/>
                </a:rPr>
                <a:t>, die bei der </a:t>
              </a:r>
              <a:r>
                <a:rPr lang="en-US" sz="2401" u="sng">
                  <a:solidFill>
                    <a:srgbClr val="0C1D4B"/>
                  </a:solidFill>
                  <a:latin typeface="DM Sans"/>
                  <a:ea typeface="DM Sans"/>
                  <a:cs typeface="DM Sans"/>
                  <a:sym typeface="DM Sans"/>
                </a:rPr>
                <a:t>Vernetzung</a:t>
              </a:r>
              <a:r>
                <a:rPr lang="en-US" sz="2401">
                  <a:solidFill>
                    <a:srgbClr val="0C1D4B"/>
                  </a:solidFill>
                  <a:latin typeface="DM Sans"/>
                  <a:ea typeface="DM Sans"/>
                  <a:cs typeface="DM Sans"/>
                  <a:sym typeface="DM Sans"/>
                </a:rPr>
                <a:t> von Fahrzeugen, Betriebshöfen und Leitstelle zu berücksichtigen sind.</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Entlang der Strecke: Fahrzeug → Funk → Backend → Leitstelle.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39</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1 b)</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Technische Aspekte der Vernetzung</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  ·  6 × 2 = 12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grpSp>
        <p:nvGrpSpPr>
          <p:cNvPr name="Group 29" id="29"/>
          <p:cNvGrpSpPr/>
          <p:nvPr/>
        </p:nvGrpSpPr>
        <p:grpSpPr>
          <a:xfrm rot="0">
            <a:off x="13101876" y="2353847"/>
            <a:ext cx="4200954" cy="1990944"/>
            <a:chOff x="0" y="0"/>
            <a:chExt cx="5601272" cy="2654592"/>
          </a:xfrm>
        </p:grpSpPr>
        <p:sp>
          <p:nvSpPr>
            <p:cNvPr name="Freeform 30" id="30"/>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FFF6C7"/>
            </a:solidFill>
            <a:ln w="14299" cap="sq">
              <a:solidFill>
                <a:srgbClr val="E8C50E"/>
              </a:solidFill>
              <a:prstDash val="solid"/>
              <a:miter/>
            </a:ln>
          </p:spPr>
        </p:sp>
      </p:grpSp>
      <p:grpSp>
        <p:nvGrpSpPr>
          <p:cNvPr name="Group 31" id="31"/>
          <p:cNvGrpSpPr/>
          <p:nvPr/>
        </p:nvGrpSpPr>
        <p:grpSpPr>
          <a:xfrm rot="0">
            <a:off x="13101876" y="5071739"/>
            <a:ext cx="4200954" cy="1990944"/>
            <a:chOff x="0" y="0"/>
            <a:chExt cx="5601272" cy="2654592"/>
          </a:xfrm>
        </p:grpSpPr>
        <p:sp>
          <p:nvSpPr>
            <p:cNvPr name="Freeform 32" id="32"/>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grpSp>
        <p:nvGrpSpPr>
          <p:cNvPr name="Group 33" id="33"/>
          <p:cNvGrpSpPr/>
          <p:nvPr/>
        </p:nvGrpSpPr>
        <p:grpSpPr>
          <a:xfrm rot="0">
            <a:off x="971221" y="4177122"/>
            <a:ext cx="5695774" cy="1167603"/>
            <a:chOff x="0" y="0"/>
            <a:chExt cx="7529360" cy="1543478"/>
          </a:xfrm>
        </p:grpSpPr>
        <p:sp>
          <p:nvSpPr>
            <p:cNvPr name="Freeform 34" id="34"/>
            <p:cNvSpPr/>
            <p:nvPr/>
          </p:nvSpPr>
          <p:spPr>
            <a:xfrm flipH="false" flipV="false" rot="0">
              <a:off x="0" y="0"/>
              <a:ext cx="7529323" cy="1543407"/>
            </a:xfrm>
            <a:custGeom>
              <a:avLst/>
              <a:gdLst/>
              <a:ahLst/>
              <a:cxnLst/>
              <a:rect r="r" b="b" t="t" l="l"/>
              <a:pathLst>
                <a:path h="1543407" w="7529323">
                  <a:moveTo>
                    <a:pt x="0" y="104277"/>
                  </a:moveTo>
                  <a:cubicBezTo>
                    <a:pt x="0" y="46740"/>
                    <a:pt x="41783" y="0"/>
                    <a:pt x="93218" y="0"/>
                  </a:cubicBezTo>
                  <a:lnTo>
                    <a:pt x="7436104" y="0"/>
                  </a:lnTo>
                  <a:cubicBezTo>
                    <a:pt x="7487539" y="0"/>
                    <a:pt x="7529323" y="46740"/>
                    <a:pt x="7529323" y="104277"/>
                  </a:cubicBezTo>
                  <a:lnTo>
                    <a:pt x="7529323" y="1439131"/>
                  </a:lnTo>
                  <a:cubicBezTo>
                    <a:pt x="7529323" y="1496668"/>
                    <a:pt x="7487539" y="1543407"/>
                    <a:pt x="7436104" y="1543407"/>
                  </a:cubicBezTo>
                  <a:lnTo>
                    <a:pt x="93218" y="1543407"/>
                  </a:lnTo>
                  <a:cubicBezTo>
                    <a:pt x="41783" y="1543407"/>
                    <a:pt x="0" y="1496668"/>
                    <a:pt x="0" y="1439131"/>
                  </a:cubicBezTo>
                  <a:close/>
                </a:path>
              </a:pathLst>
            </a:custGeom>
            <a:solidFill>
              <a:srgbClr val="5CE1E6"/>
            </a:solidFill>
            <a:ln w="19065" cap="sq">
              <a:solidFill>
                <a:srgbClr val="5CE1E6"/>
              </a:solidFill>
              <a:prstDash val="solid"/>
              <a:miter/>
            </a:ln>
          </p:spPr>
        </p:sp>
      </p:grpSp>
      <p:grpSp>
        <p:nvGrpSpPr>
          <p:cNvPr name="Group 35" id="35"/>
          <p:cNvGrpSpPr/>
          <p:nvPr/>
        </p:nvGrpSpPr>
        <p:grpSpPr>
          <a:xfrm rot="0">
            <a:off x="1019975" y="5439975"/>
            <a:ext cx="5647020" cy="1034844"/>
            <a:chOff x="0" y="0"/>
            <a:chExt cx="7529360" cy="1379792"/>
          </a:xfrm>
        </p:grpSpPr>
        <p:sp>
          <p:nvSpPr>
            <p:cNvPr name="Freeform 36" id="36"/>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grpSp>
        <p:nvGrpSpPr>
          <p:cNvPr name="Group 37" id="37"/>
          <p:cNvGrpSpPr/>
          <p:nvPr/>
        </p:nvGrpSpPr>
        <p:grpSpPr>
          <a:xfrm rot="0">
            <a:off x="1019975" y="6702838"/>
            <a:ext cx="5647020" cy="1034844"/>
            <a:chOff x="0" y="0"/>
            <a:chExt cx="7529360" cy="1379792"/>
          </a:xfrm>
        </p:grpSpPr>
        <p:sp>
          <p:nvSpPr>
            <p:cNvPr name="Freeform 38" id="38"/>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grpSp>
        <p:nvGrpSpPr>
          <p:cNvPr name="Group 39" id="39"/>
          <p:cNvGrpSpPr/>
          <p:nvPr/>
        </p:nvGrpSpPr>
        <p:grpSpPr>
          <a:xfrm rot="0">
            <a:off x="1019975" y="7965691"/>
            <a:ext cx="5647020" cy="1034844"/>
            <a:chOff x="0" y="0"/>
            <a:chExt cx="7529360" cy="1379792"/>
          </a:xfrm>
        </p:grpSpPr>
        <p:sp>
          <p:nvSpPr>
            <p:cNvPr name="Freeform 40" id="40"/>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grpSp>
        <p:nvGrpSpPr>
          <p:cNvPr name="Group 41" id="41"/>
          <p:cNvGrpSpPr/>
          <p:nvPr/>
        </p:nvGrpSpPr>
        <p:grpSpPr>
          <a:xfrm rot="0">
            <a:off x="7059730" y="4177122"/>
            <a:ext cx="5647020" cy="1034844"/>
            <a:chOff x="0" y="0"/>
            <a:chExt cx="7529360" cy="1379792"/>
          </a:xfrm>
        </p:grpSpPr>
        <p:sp>
          <p:nvSpPr>
            <p:cNvPr name="Freeform 42" id="42"/>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grpSp>
        <p:nvGrpSpPr>
          <p:cNvPr name="Group 43" id="43"/>
          <p:cNvGrpSpPr/>
          <p:nvPr/>
        </p:nvGrpSpPr>
        <p:grpSpPr>
          <a:xfrm rot="0">
            <a:off x="7059730" y="5439975"/>
            <a:ext cx="5647020" cy="1034844"/>
            <a:chOff x="0" y="0"/>
            <a:chExt cx="7529360" cy="1379792"/>
          </a:xfrm>
        </p:grpSpPr>
        <p:sp>
          <p:nvSpPr>
            <p:cNvPr name="Freeform 44" id="44"/>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grpSp>
        <p:nvGrpSpPr>
          <p:cNvPr name="Group 45" id="45"/>
          <p:cNvGrpSpPr/>
          <p:nvPr/>
        </p:nvGrpSpPr>
        <p:grpSpPr>
          <a:xfrm rot="0">
            <a:off x="7059730" y="6702838"/>
            <a:ext cx="5647020" cy="1034844"/>
            <a:chOff x="0" y="0"/>
            <a:chExt cx="7529360" cy="1379792"/>
          </a:xfrm>
        </p:grpSpPr>
        <p:sp>
          <p:nvSpPr>
            <p:cNvPr name="Freeform 46" id="46"/>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grpSp>
        <p:nvGrpSpPr>
          <p:cNvPr name="Group 47" id="47"/>
          <p:cNvGrpSpPr/>
          <p:nvPr/>
        </p:nvGrpSpPr>
        <p:grpSpPr>
          <a:xfrm rot="0">
            <a:off x="7059730" y="7965691"/>
            <a:ext cx="5647020" cy="1034844"/>
            <a:chOff x="0" y="0"/>
            <a:chExt cx="7529360" cy="1379792"/>
          </a:xfrm>
        </p:grpSpPr>
        <p:sp>
          <p:nvSpPr>
            <p:cNvPr name="Freeform 48" id="48"/>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grpSp>
        <p:nvGrpSpPr>
          <p:cNvPr name="Group 49" id="49"/>
          <p:cNvGrpSpPr/>
          <p:nvPr/>
        </p:nvGrpSpPr>
        <p:grpSpPr>
          <a:xfrm rot="0">
            <a:off x="1070686" y="9087088"/>
            <a:ext cx="11667715" cy="480431"/>
            <a:chOff x="0" y="0"/>
            <a:chExt cx="15556954" cy="640575"/>
          </a:xfrm>
        </p:grpSpPr>
        <p:sp>
          <p:nvSpPr>
            <p:cNvPr name="Freeform 50" id="50"/>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51" id="51"/>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Gefordert: 6 · hier 8 mögliche Lösungen zur Auswahl</a:t>
              </a:r>
            </a:p>
          </p:txBody>
        </p:sp>
      </p:grpSp>
      <p:sp>
        <p:nvSpPr>
          <p:cNvPr name="Freeform 52" id="52"/>
          <p:cNvSpPr/>
          <p:nvPr/>
        </p:nvSpPr>
        <p:spPr>
          <a:xfrm flipH="false" flipV="false" rot="0">
            <a:off x="8973845" y="2103160"/>
            <a:ext cx="1257720" cy="1283387"/>
          </a:xfrm>
          <a:custGeom>
            <a:avLst/>
            <a:gdLst/>
            <a:ahLst/>
            <a:cxnLst/>
            <a:rect r="r" b="b" t="t" l="l"/>
            <a:pathLst>
              <a:path h="1283387" w="1257720">
                <a:moveTo>
                  <a:pt x="0" y="0"/>
                </a:moveTo>
                <a:lnTo>
                  <a:pt x="1257720" y="0"/>
                </a:lnTo>
                <a:lnTo>
                  <a:pt x="1257720" y="1283387"/>
                </a:lnTo>
                <a:lnTo>
                  <a:pt x="0" y="12833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3" id="53"/>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Denke entlang der Strecke: Fahrzeug → Funk → Backend → Leitstelle.</a:t>
            </a:r>
          </a:p>
          <a:p>
            <a:pPr algn="l" marL="326264" indent="-163132" lvl="1">
              <a:lnSpc>
                <a:spcPts val="2161"/>
              </a:lnSpc>
              <a:buFont typeface="Arial"/>
              <a:buChar char="•"/>
            </a:pPr>
            <a:r>
              <a:rPr lang="en-US" sz="1801">
                <a:solidFill>
                  <a:srgbClr val="23262B"/>
                </a:solidFill>
                <a:latin typeface="DM Sans"/>
                <a:ea typeface="DM Sans"/>
                <a:cs typeface="DM Sans"/>
                <a:sym typeface="DM Sans"/>
              </a:rPr>
              <a:t>Fallbezug: mobile Fahrzeuge = Funklöcher, Roaming, Echtzeit.</a:t>
            </a:r>
          </a:p>
        </p:txBody>
      </p:sp>
      <p:sp>
        <p:nvSpPr>
          <p:cNvPr name="TextBox 54" id="54"/>
          <p:cNvSpPr txBox="true"/>
          <p:nvPr/>
        </p:nvSpPr>
        <p:spPr>
          <a:xfrm rot="0">
            <a:off x="13314921" y="2498265"/>
            <a:ext cx="3774853" cy="1702117"/>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6×2 = 12 P.: sechs unterschiedliche Aspekte, je kurz erläutert. Nur die ersten sechs zählen.</a:t>
            </a:r>
          </a:p>
        </p:txBody>
      </p:sp>
      <p:sp>
        <p:nvSpPr>
          <p:cNvPr name="TextBox 55" id="55"/>
          <p:cNvSpPr txBox="true"/>
          <p:nvPr/>
        </p:nvSpPr>
        <p:spPr>
          <a:xfrm rot="0">
            <a:off x="13314921" y="5216157"/>
            <a:ext cx="3774853" cy="652878"/>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ITxPT und VDV-Schnittstellen sind ÖPNV-Standards für interoperable Telematik – sie vermeiden Herstellerbindung.</a:t>
            </a:r>
          </a:p>
        </p:txBody>
      </p:sp>
      <p:sp>
        <p:nvSpPr>
          <p:cNvPr name="TextBox 56" id="56"/>
          <p:cNvSpPr txBox="true"/>
          <p:nvPr/>
        </p:nvSpPr>
        <p:spPr>
          <a:xfrm rot="0">
            <a:off x="1304039" y="4310196"/>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Mobilfunk-/WLAN-Anbindung der Fahrzeuge</a:t>
            </a:r>
          </a:p>
          <a:p>
            <a:pPr algn="l">
              <a:lnSpc>
                <a:spcPts val="1765"/>
              </a:lnSpc>
            </a:pPr>
            <a:r>
              <a:rPr lang="en-US" sz="1501">
                <a:solidFill>
                  <a:srgbClr val="0A3A3D"/>
                </a:solidFill>
                <a:latin typeface="DM Sans"/>
                <a:ea typeface="DM Sans"/>
                <a:cs typeface="DM Sans"/>
                <a:sym typeface="DM Sans"/>
              </a:rPr>
              <a:t>Flächendeckende Abdeckung und unterbrechungsfreies Roaming für die Fahrzeugkommunikation.</a:t>
            </a:r>
          </a:p>
        </p:txBody>
      </p:sp>
      <p:sp>
        <p:nvSpPr>
          <p:cNvPr name="TextBox 57" id="57"/>
          <p:cNvSpPr txBox="true"/>
          <p:nvPr/>
        </p:nvSpPr>
        <p:spPr>
          <a:xfrm rot="0">
            <a:off x="1304039" y="5573049"/>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Telematik-Protokolle &amp; Schnittstellen</a:t>
            </a:r>
          </a:p>
          <a:p>
            <a:pPr algn="l">
              <a:lnSpc>
                <a:spcPts val="1765"/>
              </a:lnSpc>
            </a:pPr>
            <a:r>
              <a:rPr lang="en-US" sz="1501">
                <a:solidFill>
                  <a:srgbClr val="0A3A3D"/>
                </a:solidFill>
                <a:latin typeface="DM Sans"/>
                <a:ea typeface="DM Sans"/>
                <a:cs typeface="DM Sans"/>
                <a:sym typeface="DM Sans"/>
              </a:rPr>
              <a:t>Standardisierte Anbindung (z. B. ITxPT, VDV-Schnittstellen) für Interoperabilität.</a:t>
            </a:r>
          </a:p>
        </p:txBody>
      </p:sp>
      <p:sp>
        <p:nvSpPr>
          <p:cNvPr name="TextBox 58" id="58"/>
          <p:cNvSpPr txBox="true"/>
          <p:nvPr/>
        </p:nvSpPr>
        <p:spPr>
          <a:xfrm rot="0">
            <a:off x="1304039" y="6835912"/>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Echtzeit-Datenübertragung</a:t>
            </a:r>
          </a:p>
          <a:p>
            <a:pPr algn="l">
              <a:lnSpc>
                <a:spcPts val="1765"/>
              </a:lnSpc>
            </a:pPr>
            <a:r>
              <a:rPr lang="en-US" sz="1501">
                <a:solidFill>
                  <a:srgbClr val="0A3A3D"/>
                </a:solidFill>
                <a:latin typeface="DM Sans"/>
                <a:ea typeface="DM Sans"/>
                <a:cs typeface="DM Sans"/>
                <a:sym typeface="DM Sans"/>
              </a:rPr>
              <a:t>Standort-, Anschluss- und Fahrgastinformationen müssen zeitnah vorliegen.</a:t>
            </a:r>
          </a:p>
        </p:txBody>
      </p:sp>
      <p:sp>
        <p:nvSpPr>
          <p:cNvPr name="TextBox 59" id="59"/>
          <p:cNvSpPr txBox="true"/>
          <p:nvPr/>
        </p:nvSpPr>
        <p:spPr>
          <a:xfrm rot="0">
            <a:off x="1304039" y="8098765"/>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Netzsegmentierung</a:t>
            </a:r>
          </a:p>
          <a:p>
            <a:pPr algn="l">
              <a:lnSpc>
                <a:spcPts val="1765"/>
              </a:lnSpc>
            </a:pPr>
            <a:r>
              <a:rPr lang="en-US" sz="1501">
                <a:solidFill>
                  <a:srgbClr val="0A3A3D"/>
                </a:solidFill>
                <a:latin typeface="DM Sans"/>
                <a:ea typeface="DM Sans"/>
                <a:cs typeface="DM Sans"/>
                <a:sym typeface="DM Sans"/>
              </a:rPr>
              <a:t>Trennung von Fahrzeug-, Depot- und Office-Netz zur Begrenzung der Angriffsfläche.</a:t>
            </a:r>
          </a:p>
        </p:txBody>
      </p:sp>
      <p:sp>
        <p:nvSpPr>
          <p:cNvPr name="TextBox 60" id="60"/>
          <p:cNvSpPr txBox="true"/>
          <p:nvPr/>
        </p:nvSpPr>
        <p:spPr>
          <a:xfrm rot="0">
            <a:off x="7343794" y="4310196"/>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Datenaufbereitung im Backend</a:t>
            </a:r>
          </a:p>
          <a:p>
            <a:pPr algn="l">
              <a:lnSpc>
                <a:spcPts val="1765"/>
              </a:lnSpc>
            </a:pPr>
            <a:r>
              <a:rPr lang="en-US" sz="1501">
                <a:solidFill>
                  <a:srgbClr val="0A3A3D"/>
                </a:solidFill>
                <a:latin typeface="DM Sans"/>
                <a:ea typeface="DM Sans"/>
                <a:cs typeface="DM Sans"/>
                <a:sym typeface="DM Sans"/>
              </a:rPr>
              <a:t>Aggregation und Auswertung großer Datenmengen aus der Flotte.</a:t>
            </a:r>
          </a:p>
        </p:txBody>
      </p:sp>
      <p:sp>
        <p:nvSpPr>
          <p:cNvPr name="TextBox 61" id="61"/>
          <p:cNvSpPr txBox="true"/>
          <p:nvPr/>
        </p:nvSpPr>
        <p:spPr>
          <a:xfrm rot="0">
            <a:off x="7343794" y="5573049"/>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Skalierbarkeit</a:t>
            </a:r>
          </a:p>
          <a:p>
            <a:pPr algn="l">
              <a:lnSpc>
                <a:spcPts val="1765"/>
              </a:lnSpc>
            </a:pPr>
            <a:r>
              <a:rPr lang="en-US" sz="1501">
                <a:solidFill>
                  <a:srgbClr val="0A3A3D"/>
                </a:solidFill>
                <a:latin typeface="DM Sans"/>
                <a:ea typeface="DM Sans"/>
                <a:cs typeface="DM Sans"/>
                <a:sym typeface="DM Sans"/>
              </a:rPr>
              <a:t>Wachsende E-Flotte und steigendes Datenaufkommen müssen abgebildet werden.</a:t>
            </a:r>
          </a:p>
        </p:txBody>
      </p:sp>
      <p:sp>
        <p:nvSpPr>
          <p:cNvPr name="TextBox 62" id="62"/>
          <p:cNvSpPr txBox="true"/>
          <p:nvPr/>
        </p:nvSpPr>
        <p:spPr>
          <a:xfrm rot="0">
            <a:off x="7343794" y="6835912"/>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Informationssicherheit</a:t>
            </a:r>
          </a:p>
          <a:p>
            <a:pPr algn="l">
              <a:lnSpc>
                <a:spcPts val="1765"/>
              </a:lnSpc>
            </a:pPr>
            <a:r>
              <a:rPr lang="en-US" sz="1501">
                <a:solidFill>
                  <a:srgbClr val="0A3A3D"/>
                </a:solidFill>
                <a:latin typeface="DM Sans"/>
                <a:ea typeface="DM Sans"/>
                <a:cs typeface="DM Sans"/>
                <a:sym typeface="DM Sans"/>
              </a:rPr>
              <a:t>Verschlüsselung und Authentifizierung der Fahrzeug-Backend-Kommunikation.</a:t>
            </a:r>
          </a:p>
        </p:txBody>
      </p:sp>
      <p:sp>
        <p:nvSpPr>
          <p:cNvPr name="TextBox 63" id="63"/>
          <p:cNvSpPr txBox="true"/>
          <p:nvPr/>
        </p:nvSpPr>
        <p:spPr>
          <a:xfrm rot="0">
            <a:off x="7343794" y="8098765"/>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Verfügbarkeit / Redundanz</a:t>
            </a:r>
          </a:p>
          <a:p>
            <a:pPr algn="l">
              <a:lnSpc>
                <a:spcPts val="1765"/>
              </a:lnSpc>
            </a:pPr>
            <a:r>
              <a:rPr lang="en-US" sz="1501">
                <a:solidFill>
                  <a:srgbClr val="0A3A3D"/>
                </a:solidFill>
                <a:latin typeface="DM Sans"/>
                <a:ea typeface="DM Sans"/>
                <a:cs typeface="DM Sans"/>
                <a:sym typeface="DM Sans"/>
              </a:rPr>
              <a:t>Die Leitstelle muss den Betrieb durchgängig unterstützen.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40</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1</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1 c)</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Zielarchitektur Fuhrpark</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III</a:t>
              </a:r>
              <a:r>
                <a:rPr lang="en-US" sz="1726">
                  <a:solidFill>
                    <a:srgbClr val="FFFFFF"/>
                  </a:solidFill>
                  <a:latin typeface="Montserrat"/>
                  <a:ea typeface="Montserrat"/>
                  <a:cs typeface="Montserrat"/>
                  <a:sym typeface="Montserrat"/>
                </a:rPr>
                <a:t>   Entwickeln / Begründen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6 × 3 = 18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Entwickeln Sie eine </a:t>
              </a:r>
              <a:r>
                <a:rPr lang="en-US" sz="2401" u="sng">
                  <a:solidFill>
                    <a:srgbClr val="0C1D4B"/>
                  </a:solidFill>
                  <a:latin typeface="DM Sans"/>
                  <a:ea typeface="DM Sans"/>
                  <a:cs typeface="DM Sans"/>
                  <a:sym typeface="DM Sans"/>
                </a:rPr>
                <a:t>Empfehlung</a:t>
              </a:r>
              <a:r>
                <a:rPr lang="en-US" sz="2401">
                  <a:solidFill>
                    <a:srgbClr val="0C1D4B"/>
                  </a:solidFill>
                  <a:latin typeface="DM Sans"/>
                  <a:ea typeface="DM Sans"/>
                  <a:cs typeface="DM Sans"/>
                  <a:sym typeface="DM Sans"/>
                </a:rPr>
                <a:t> für die </a:t>
              </a:r>
              <a:r>
                <a:rPr lang="en-US" sz="2401" u="sng">
                  <a:solidFill>
                    <a:srgbClr val="0C1D4B"/>
                  </a:solidFill>
                  <a:latin typeface="DM Sans"/>
                  <a:ea typeface="DM Sans"/>
                  <a:cs typeface="DM Sans"/>
                  <a:sym typeface="DM Sans"/>
                </a:rPr>
                <a:t>Zielarchitektur</a:t>
              </a:r>
              <a:r>
                <a:rPr lang="en-US" sz="2401">
                  <a:solidFill>
                    <a:srgbClr val="0C1D4B"/>
                  </a:solidFill>
                  <a:latin typeface="DM Sans"/>
                  <a:ea typeface="DM Sans"/>
                  <a:cs typeface="DM Sans"/>
                  <a:sym typeface="DM Sans"/>
                </a:rPr>
                <a:t> (zentral, dezentral oder hybrid; Cloud, On-Premise oder hybrid) und begründen Sie diese anhand von </a:t>
              </a:r>
              <a:r>
                <a:rPr lang="en-US" sz="2401" u="sng">
                  <a:solidFill>
                    <a:srgbClr val="0C1D4B"/>
                  </a:solidFill>
                  <a:latin typeface="DM Sans"/>
                  <a:ea typeface="DM Sans"/>
                  <a:cs typeface="DM Sans"/>
                  <a:sym typeface="DM Sans"/>
                </a:rPr>
                <a:t>sechs Kriterien</a:t>
              </a:r>
              <a:r>
                <a:rPr lang="en-US" sz="2401">
                  <a:solidFill>
                    <a:srgbClr val="0C1D4B"/>
                  </a:solidFill>
                  <a:latin typeface="DM Sans"/>
                  <a:ea typeface="DM Sans"/>
                  <a:cs typeface="DM Sans"/>
                  <a:sym typeface="DM Sans"/>
                </a:rPr>
                <a:t>.</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Je Kriterium eine begründete Bewertung → Konsequenz. Besonderheit: Offline bei Funklöchern.</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41</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1 c)</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Zielarchitektur Fuhrpark</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III  ·  6 × 3 = 18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Je Kriterium eine begründete Bewertung → Konsequenz.</a:t>
            </a:r>
          </a:p>
          <a:p>
            <a:pPr algn="l" marL="326264" indent="-163132" lvl="1">
              <a:lnSpc>
                <a:spcPts val="2161"/>
              </a:lnSpc>
              <a:buFont typeface="Arial"/>
              <a:buChar char="•"/>
            </a:pPr>
            <a:r>
              <a:rPr lang="en-US" sz="1801">
                <a:solidFill>
                  <a:srgbClr val="23262B"/>
                </a:solidFill>
                <a:latin typeface="DM Sans"/>
                <a:ea typeface="DM Sans"/>
                <a:cs typeface="DM Sans"/>
                <a:sym typeface="DM Sans"/>
              </a:rPr>
              <a:t>Besonderheit: Offline-Fähigkeit bei Funklöchern (Edge/Puffer).</a:t>
            </a:r>
          </a:p>
        </p:txBody>
      </p:sp>
      <p:grpSp>
        <p:nvGrpSpPr>
          <p:cNvPr name="Group 30" id="30"/>
          <p:cNvGrpSpPr/>
          <p:nvPr/>
        </p:nvGrpSpPr>
        <p:grpSpPr>
          <a:xfrm rot="0">
            <a:off x="13101876" y="2353847"/>
            <a:ext cx="4200954" cy="1990944"/>
            <a:chOff x="0" y="0"/>
            <a:chExt cx="5601272" cy="2654592"/>
          </a:xfrm>
        </p:grpSpPr>
        <p:sp>
          <p:nvSpPr>
            <p:cNvPr name="Freeform 31" id="31"/>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702117"/>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6×3 = 18 P.: sechs begründete Kriterien + klare Empfehlung. Ohne Begründung nur halbe Punkte.</a:t>
            </a:r>
          </a:p>
        </p:txBody>
      </p:sp>
      <p:grpSp>
        <p:nvGrpSpPr>
          <p:cNvPr name="Group 33" id="33"/>
          <p:cNvGrpSpPr/>
          <p:nvPr/>
        </p:nvGrpSpPr>
        <p:grpSpPr>
          <a:xfrm rot="0">
            <a:off x="13101876" y="5071739"/>
            <a:ext cx="4200954" cy="1990944"/>
            <a:chOff x="0" y="0"/>
            <a:chExt cx="5601272" cy="2654592"/>
          </a:xfrm>
        </p:grpSpPr>
        <p:sp>
          <p:nvSpPr>
            <p:cNvPr name="Freeform 34" id="34"/>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Edge-Computing im Fahrzeug puffert Daten bei Funkabriss und sendet nach – wichtig für lückenlose Telematik.</a:t>
            </a:r>
          </a:p>
        </p:txBody>
      </p:sp>
      <p:grpSp>
        <p:nvGrpSpPr>
          <p:cNvPr name="Group 36" id="36"/>
          <p:cNvGrpSpPr/>
          <p:nvPr/>
        </p:nvGrpSpPr>
        <p:grpSpPr>
          <a:xfrm rot="0">
            <a:off x="1019975" y="4177122"/>
            <a:ext cx="5647020" cy="1034844"/>
            <a:chOff x="0" y="0"/>
            <a:chExt cx="7529360" cy="1379792"/>
          </a:xfrm>
        </p:grpSpPr>
        <p:sp>
          <p:nvSpPr>
            <p:cNvPr name="Freeform 37" id="37"/>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0196"/>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Echtzeit / Latenz</a:t>
            </a:r>
          </a:p>
          <a:p>
            <a:pPr algn="l">
              <a:lnSpc>
                <a:spcPts val="1765"/>
              </a:lnSpc>
            </a:pPr>
            <a:r>
              <a:rPr lang="en-US" sz="1501">
                <a:solidFill>
                  <a:srgbClr val="0A3A3D"/>
                </a:solidFill>
                <a:latin typeface="DM Sans"/>
                <a:ea typeface="DM Sans"/>
                <a:cs typeface="DM Sans"/>
                <a:sym typeface="DM Sans"/>
              </a:rPr>
              <a:t>Die Leitstelle benötigt aktuelle Daten → leistungsfähiges, gut angebundenes Backend.</a:t>
            </a:r>
          </a:p>
        </p:txBody>
      </p:sp>
      <p:grpSp>
        <p:nvGrpSpPr>
          <p:cNvPr name="Group 39" id="39"/>
          <p:cNvGrpSpPr/>
          <p:nvPr/>
        </p:nvGrpSpPr>
        <p:grpSpPr>
          <a:xfrm rot="0">
            <a:off x="1019975" y="5439975"/>
            <a:ext cx="5647020" cy="1034844"/>
            <a:chOff x="0" y="0"/>
            <a:chExt cx="7529360" cy="1379792"/>
          </a:xfrm>
        </p:grpSpPr>
        <p:sp>
          <p:nvSpPr>
            <p:cNvPr name="Freeform 40" id="40"/>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5573049"/>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Verfügbarkeit</a:t>
            </a:r>
          </a:p>
          <a:p>
            <a:pPr algn="l">
              <a:lnSpc>
                <a:spcPts val="1765"/>
              </a:lnSpc>
            </a:pPr>
            <a:r>
              <a:rPr lang="en-US" sz="1501">
                <a:solidFill>
                  <a:srgbClr val="0A3A3D"/>
                </a:solidFill>
                <a:latin typeface="DM Sans"/>
                <a:ea typeface="DM Sans"/>
                <a:cs typeface="DM Sans"/>
                <a:sym typeface="DM Sans"/>
              </a:rPr>
              <a:t>Der Fahrbetrieb muss laufen → Redundanz und ggf. georedundante Auslegung.</a:t>
            </a:r>
          </a:p>
        </p:txBody>
      </p:sp>
      <p:grpSp>
        <p:nvGrpSpPr>
          <p:cNvPr name="Group 42" id="42"/>
          <p:cNvGrpSpPr/>
          <p:nvPr/>
        </p:nvGrpSpPr>
        <p:grpSpPr>
          <a:xfrm rot="0">
            <a:off x="1019975" y="6702838"/>
            <a:ext cx="5647020" cy="1034844"/>
            <a:chOff x="0" y="0"/>
            <a:chExt cx="7529360" cy="1379792"/>
          </a:xfrm>
        </p:grpSpPr>
        <p:sp>
          <p:nvSpPr>
            <p:cNvPr name="Freeform 43" id="43"/>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sp>
        <p:nvSpPr>
          <p:cNvPr name="TextBox 44" id="44"/>
          <p:cNvSpPr txBox="true"/>
          <p:nvPr/>
        </p:nvSpPr>
        <p:spPr>
          <a:xfrm rot="0">
            <a:off x="1304039" y="6835912"/>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Datenschutz / Datenhoheit</a:t>
            </a:r>
          </a:p>
          <a:p>
            <a:pPr algn="l">
              <a:lnSpc>
                <a:spcPts val="1765"/>
              </a:lnSpc>
            </a:pPr>
            <a:r>
              <a:rPr lang="en-US" sz="1501">
                <a:solidFill>
                  <a:srgbClr val="0A3A3D"/>
                </a:solidFill>
                <a:latin typeface="DM Sans"/>
                <a:ea typeface="DM Sans"/>
                <a:cs typeface="DM Sans"/>
                <a:sym typeface="DM Sans"/>
              </a:rPr>
              <a:t>Standort- und Videodaten sind sensibel → EU-Region bzw. kontrollierte Haltung.</a:t>
            </a:r>
          </a:p>
        </p:txBody>
      </p:sp>
      <p:grpSp>
        <p:nvGrpSpPr>
          <p:cNvPr name="Group 45" id="45"/>
          <p:cNvGrpSpPr/>
          <p:nvPr/>
        </p:nvGrpSpPr>
        <p:grpSpPr>
          <a:xfrm rot="0">
            <a:off x="1019975" y="7965691"/>
            <a:ext cx="5647020" cy="1034844"/>
            <a:chOff x="0" y="0"/>
            <a:chExt cx="7529360" cy="1379792"/>
          </a:xfrm>
        </p:grpSpPr>
        <p:sp>
          <p:nvSpPr>
            <p:cNvPr name="Freeform 46" id="46"/>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sp>
        <p:nvSpPr>
          <p:cNvPr name="TextBox 47" id="47"/>
          <p:cNvSpPr txBox="true"/>
          <p:nvPr/>
        </p:nvSpPr>
        <p:spPr>
          <a:xfrm rot="0">
            <a:off x="1304039" y="8098765"/>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Skalierbarkeit</a:t>
            </a:r>
          </a:p>
          <a:p>
            <a:pPr algn="l">
              <a:lnSpc>
                <a:spcPts val="1765"/>
              </a:lnSpc>
            </a:pPr>
            <a:r>
              <a:rPr lang="en-US" sz="1501">
                <a:solidFill>
                  <a:srgbClr val="0A3A3D"/>
                </a:solidFill>
                <a:latin typeface="DM Sans"/>
                <a:ea typeface="DM Sans"/>
                <a:cs typeface="DM Sans"/>
                <a:sym typeface="DM Sans"/>
              </a:rPr>
              <a:t>Cloud eignet sich für Flottenwachstum und Analyse großer Datenmengen.</a:t>
            </a:r>
          </a:p>
        </p:txBody>
      </p:sp>
      <p:grpSp>
        <p:nvGrpSpPr>
          <p:cNvPr name="Group 48" id="48"/>
          <p:cNvGrpSpPr/>
          <p:nvPr/>
        </p:nvGrpSpPr>
        <p:grpSpPr>
          <a:xfrm rot="0">
            <a:off x="7059730" y="4177122"/>
            <a:ext cx="5647020" cy="1034844"/>
            <a:chOff x="0" y="0"/>
            <a:chExt cx="7529360" cy="1379792"/>
          </a:xfrm>
        </p:grpSpPr>
        <p:sp>
          <p:nvSpPr>
            <p:cNvPr name="Freeform 49" id="49"/>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sp>
        <p:nvSpPr>
          <p:cNvPr name="TextBox 50" id="50"/>
          <p:cNvSpPr txBox="true"/>
          <p:nvPr/>
        </p:nvSpPr>
        <p:spPr>
          <a:xfrm rot="0">
            <a:off x="7343794" y="4310196"/>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Kosten / TCO</a:t>
            </a:r>
          </a:p>
          <a:p>
            <a:pPr algn="l">
              <a:lnSpc>
                <a:spcPts val="1765"/>
              </a:lnSpc>
            </a:pPr>
            <a:r>
              <a:rPr lang="en-US" sz="1501">
                <a:solidFill>
                  <a:srgbClr val="0A3A3D"/>
                </a:solidFill>
                <a:latin typeface="DM Sans"/>
                <a:ea typeface="DM Sans"/>
                <a:cs typeface="DM Sans"/>
                <a:sym typeface="DM Sans"/>
              </a:rPr>
              <a:t>Betriebs- und Infrastrukturkosten über den Lebenszyklus abwägen.</a:t>
            </a:r>
          </a:p>
        </p:txBody>
      </p:sp>
      <p:grpSp>
        <p:nvGrpSpPr>
          <p:cNvPr name="Group 51" id="51"/>
          <p:cNvGrpSpPr/>
          <p:nvPr/>
        </p:nvGrpSpPr>
        <p:grpSpPr>
          <a:xfrm rot="0">
            <a:off x="7059730" y="5439975"/>
            <a:ext cx="5647020" cy="1034844"/>
            <a:chOff x="0" y="0"/>
            <a:chExt cx="7529360" cy="1379792"/>
          </a:xfrm>
        </p:grpSpPr>
        <p:sp>
          <p:nvSpPr>
            <p:cNvPr name="Freeform 52" id="52"/>
            <p:cNvSpPr/>
            <p:nvPr/>
          </p:nvSpPr>
          <p:spPr>
            <a:xfrm flipH="false" flipV="false" rot="0">
              <a:off x="0" y="0"/>
              <a:ext cx="7529323" cy="1379728"/>
            </a:xfrm>
            <a:custGeom>
              <a:avLst/>
              <a:gdLst/>
              <a:ahLst/>
              <a:cxnLst/>
              <a:rect r="r" b="b" t="t" l="l"/>
              <a:pathLst>
                <a:path h="1379728" w="7529323">
                  <a:moveTo>
                    <a:pt x="0" y="93218"/>
                  </a:moveTo>
                  <a:cubicBezTo>
                    <a:pt x="0" y="41783"/>
                    <a:pt x="41783" y="0"/>
                    <a:pt x="93218" y="0"/>
                  </a:cubicBezTo>
                  <a:lnTo>
                    <a:pt x="7436104" y="0"/>
                  </a:lnTo>
                  <a:cubicBezTo>
                    <a:pt x="7487539" y="0"/>
                    <a:pt x="7529323" y="41783"/>
                    <a:pt x="7529323" y="93218"/>
                  </a:cubicBezTo>
                  <a:lnTo>
                    <a:pt x="7529323" y="1286510"/>
                  </a:lnTo>
                  <a:cubicBezTo>
                    <a:pt x="7529323" y="1337945"/>
                    <a:pt x="7487539" y="1379728"/>
                    <a:pt x="7436104" y="1379728"/>
                  </a:cubicBezTo>
                  <a:lnTo>
                    <a:pt x="93218" y="1379728"/>
                  </a:lnTo>
                  <a:cubicBezTo>
                    <a:pt x="41783" y="1379728"/>
                    <a:pt x="0" y="1337945"/>
                    <a:pt x="0" y="1286510"/>
                  </a:cubicBezTo>
                  <a:close/>
                </a:path>
              </a:pathLst>
            </a:custGeom>
            <a:solidFill>
              <a:srgbClr val="5CE1E6"/>
            </a:solidFill>
            <a:ln w="19065" cap="sq">
              <a:solidFill>
                <a:srgbClr val="5CE1E6"/>
              </a:solidFill>
              <a:prstDash val="solid"/>
              <a:miter/>
            </a:ln>
          </p:spPr>
        </p:sp>
      </p:grpSp>
      <p:sp>
        <p:nvSpPr>
          <p:cNvPr name="TextBox 53" id="53"/>
          <p:cNvSpPr txBox="true"/>
          <p:nvPr/>
        </p:nvSpPr>
        <p:spPr>
          <a:xfrm rot="0">
            <a:off x="7343794" y="5573049"/>
            <a:ext cx="5078892" cy="768696"/>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Konnektivität / Offline-Fähigkeit</a:t>
            </a:r>
          </a:p>
          <a:p>
            <a:pPr algn="l">
              <a:lnSpc>
                <a:spcPts val="1765"/>
              </a:lnSpc>
            </a:pPr>
            <a:r>
              <a:rPr lang="en-US" sz="1501">
                <a:solidFill>
                  <a:srgbClr val="0A3A3D"/>
                </a:solidFill>
                <a:latin typeface="DM Sans"/>
                <a:ea typeface="DM Sans"/>
                <a:cs typeface="DM Sans"/>
                <a:sym typeface="DM Sans"/>
              </a:rPr>
              <a:t>Fahrzeuge müssen bei Funklöchern autark weiterarbeiten (Edge/Puffer).</a:t>
            </a:r>
          </a:p>
        </p:txBody>
      </p:sp>
      <p:grpSp>
        <p:nvGrpSpPr>
          <p:cNvPr name="Group 54" id="54"/>
          <p:cNvGrpSpPr/>
          <p:nvPr/>
        </p:nvGrpSpPr>
        <p:grpSpPr>
          <a:xfrm rot="0">
            <a:off x="7059730" y="6702838"/>
            <a:ext cx="5647020" cy="1780275"/>
            <a:chOff x="0" y="0"/>
            <a:chExt cx="7529360" cy="2373700"/>
          </a:xfrm>
        </p:grpSpPr>
        <p:sp>
          <p:nvSpPr>
            <p:cNvPr name="Freeform 55" id="55"/>
            <p:cNvSpPr/>
            <p:nvPr/>
          </p:nvSpPr>
          <p:spPr>
            <a:xfrm flipH="false" flipV="false" rot="0">
              <a:off x="0" y="0"/>
              <a:ext cx="7529323" cy="2373591"/>
            </a:xfrm>
            <a:custGeom>
              <a:avLst/>
              <a:gdLst/>
              <a:ahLst/>
              <a:cxnLst/>
              <a:rect r="r" b="b" t="t" l="l"/>
              <a:pathLst>
                <a:path h="2373591" w="7529323">
                  <a:moveTo>
                    <a:pt x="0" y="160366"/>
                  </a:moveTo>
                  <a:cubicBezTo>
                    <a:pt x="0" y="71881"/>
                    <a:pt x="41783" y="0"/>
                    <a:pt x="93218" y="0"/>
                  </a:cubicBezTo>
                  <a:lnTo>
                    <a:pt x="7436104" y="0"/>
                  </a:lnTo>
                  <a:cubicBezTo>
                    <a:pt x="7487539" y="0"/>
                    <a:pt x="7529323" y="71881"/>
                    <a:pt x="7529323" y="160366"/>
                  </a:cubicBezTo>
                  <a:lnTo>
                    <a:pt x="7529323" y="2213225"/>
                  </a:lnTo>
                  <a:cubicBezTo>
                    <a:pt x="7529323" y="2301710"/>
                    <a:pt x="7487539" y="2373591"/>
                    <a:pt x="7436104" y="2373591"/>
                  </a:cubicBezTo>
                  <a:lnTo>
                    <a:pt x="93218" y="2373591"/>
                  </a:lnTo>
                  <a:cubicBezTo>
                    <a:pt x="41783" y="2373591"/>
                    <a:pt x="0" y="2301710"/>
                    <a:pt x="0" y="2213225"/>
                  </a:cubicBezTo>
                  <a:close/>
                </a:path>
              </a:pathLst>
            </a:custGeom>
            <a:solidFill>
              <a:srgbClr val="C7CEDA"/>
            </a:solidFill>
            <a:ln w="19065" cap="sq">
              <a:solidFill>
                <a:srgbClr val="C7CEDA"/>
              </a:solidFill>
              <a:prstDash val="solid"/>
              <a:miter/>
            </a:ln>
          </p:spPr>
        </p:sp>
      </p:grpSp>
      <p:sp>
        <p:nvSpPr>
          <p:cNvPr name="TextBox 56" id="56"/>
          <p:cNvSpPr txBox="true"/>
          <p:nvPr/>
        </p:nvSpPr>
        <p:spPr>
          <a:xfrm rot="0">
            <a:off x="7343794" y="6835912"/>
            <a:ext cx="5078892" cy="928958"/>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Empfehlung: Hybrid</a:t>
            </a:r>
          </a:p>
          <a:p>
            <a:pPr algn="l">
              <a:lnSpc>
                <a:spcPts val="1765"/>
              </a:lnSpc>
            </a:pPr>
            <a:r>
              <a:rPr lang="en-US" sz="1501">
                <a:solidFill>
                  <a:srgbClr val="0A3A3D"/>
                </a:solidFill>
                <a:latin typeface="DM Sans"/>
                <a:ea typeface="DM Sans"/>
                <a:cs typeface="DM Sans"/>
                <a:sym typeface="DM Sans"/>
              </a:rPr>
              <a:t>Edge-Verarbeitung im Fahrzeug/Depot, zentrales Backend in der Cloud – verbindet Echtzeit, Verfügbarkeit und Skalierbarkeit.</a:t>
            </a:r>
          </a:p>
        </p:txBody>
      </p:sp>
      <p:grpSp>
        <p:nvGrpSpPr>
          <p:cNvPr name="Group 57" id="57"/>
          <p:cNvGrpSpPr/>
          <p:nvPr/>
        </p:nvGrpSpPr>
        <p:grpSpPr>
          <a:xfrm rot="0">
            <a:off x="1070686" y="9087088"/>
            <a:ext cx="11667715" cy="480431"/>
            <a:chOff x="0" y="0"/>
            <a:chExt cx="15556954" cy="640575"/>
          </a:xfrm>
        </p:grpSpPr>
        <p:sp>
          <p:nvSpPr>
            <p:cNvPr name="Freeform 58" id="58"/>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59" id="59"/>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Gefordert: 6 · hier 7 mögliche Lösungen zur Auswahl</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42</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a:t>
              </a:r>
            </a:p>
          </p:txBody>
        </p:sp>
      </p:grpSp>
      <p:grpSp>
        <p:nvGrpSpPr>
          <p:cNvPr name="Group 15" id="15"/>
          <p:cNvGrpSpPr/>
          <p:nvPr/>
        </p:nvGrpSpPr>
        <p:grpSpPr>
          <a:xfrm rot="0">
            <a:off x="1029500" y="3088510"/>
            <a:ext cx="12354049" cy="823608"/>
            <a:chOff x="0" y="0"/>
            <a:chExt cx="16472065" cy="1098144"/>
          </a:xfrm>
        </p:grpSpPr>
        <p:sp>
          <p:nvSpPr>
            <p:cNvPr name="Freeform 16" id="16"/>
            <p:cNvSpPr/>
            <p:nvPr/>
          </p:nvSpPr>
          <p:spPr>
            <a:xfrm flipH="false" flipV="false" rot="0">
              <a:off x="0" y="0"/>
              <a:ext cx="16472069" cy="1098138"/>
            </a:xfrm>
            <a:custGeom>
              <a:avLst/>
              <a:gdLst/>
              <a:ahLst/>
              <a:cxnLst/>
              <a:rect r="r" b="b" t="t" l="l"/>
              <a:pathLst>
                <a:path h="1098138" w="16472069">
                  <a:moveTo>
                    <a:pt x="0" y="0"/>
                  </a:moveTo>
                  <a:lnTo>
                    <a:pt x="16472069" y="0"/>
                  </a:lnTo>
                  <a:lnTo>
                    <a:pt x="16472069" y="1098138"/>
                  </a:lnTo>
                  <a:lnTo>
                    <a:pt x="0" y="1098138"/>
                  </a:lnTo>
                  <a:close/>
                </a:path>
              </a:pathLst>
            </a:custGeom>
            <a:blipFill>
              <a:blip r:embed="rId3">
                <a:alphaModFix amt="0"/>
              </a:blip>
              <a:stretch>
                <a:fillRect l="0" t="-242275" r="0" b="-242275"/>
              </a:stretch>
            </a:blipFill>
          </p:spPr>
        </p:sp>
        <p:sp>
          <p:nvSpPr>
            <p:cNvPr name="TextBox 17" id="17"/>
            <p:cNvSpPr txBox="true"/>
            <p:nvPr/>
          </p:nvSpPr>
          <p:spPr>
            <a:xfrm>
              <a:off x="0" y="0"/>
              <a:ext cx="16472065" cy="1098144"/>
            </a:xfrm>
            <a:prstGeom prst="rect">
              <a:avLst/>
            </a:prstGeom>
          </p:spPr>
          <p:txBody>
            <a:bodyPr anchor="ctr" rtlCol="false" tIns="0" lIns="0" bIns="0" rIns="0"/>
            <a:lstStyle/>
            <a:p>
              <a:pPr algn="l">
                <a:lnSpc>
                  <a:spcPts val="3602"/>
                </a:lnSpc>
              </a:pPr>
              <a:r>
                <a:rPr lang="en-US" b="true" sz="3002" spc="450">
                  <a:solidFill>
                    <a:srgbClr val="FF4000"/>
                  </a:solidFill>
                  <a:latin typeface="Montserrat Bold"/>
                  <a:ea typeface="Montserrat Bold"/>
                  <a:cs typeface="Montserrat Bold"/>
                  <a:sym typeface="Montserrat Bold"/>
                </a:rPr>
                <a:t>AUFGABE 2</a:t>
              </a:r>
            </a:p>
          </p:txBody>
        </p:sp>
      </p:grpSp>
      <p:sp>
        <p:nvSpPr>
          <p:cNvPr name="TextBox 18" id="18"/>
          <p:cNvSpPr txBox="true"/>
          <p:nvPr/>
        </p:nvSpPr>
        <p:spPr>
          <a:xfrm rot="0">
            <a:off x="988324" y="3921643"/>
            <a:ext cx="16197539" cy="2186749"/>
          </a:xfrm>
          <a:prstGeom prst="rect">
            <a:avLst/>
          </a:prstGeom>
        </p:spPr>
        <p:txBody>
          <a:bodyPr anchor="t" rtlCol="false" tIns="0" lIns="0" bIns="0" rIns="0">
            <a:spAutoFit/>
          </a:bodyPr>
          <a:lstStyle/>
          <a:p>
            <a:pPr algn="l">
              <a:lnSpc>
                <a:spcPts val="7767"/>
              </a:lnSpc>
            </a:pPr>
            <a:r>
              <a:rPr lang="en-US" sz="6605" b="true">
                <a:solidFill>
                  <a:srgbClr val="0C1D4B"/>
                </a:solidFill>
                <a:latin typeface="Montserrat Bold"/>
                <a:ea typeface="Montserrat Bold"/>
                <a:cs typeface="Montserrat Bold"/>
                <a:sym typeface="Montserrat Bold"/>
              </a:rPr>
              <a:t>Ausfallsicherer Betrieb</a:t>
            </a:r>
          </a:p>
        </p:txBody>
      </p:sp>
      <p:sp>
        <p:nvSpPr>
          <p:cNvPr name="TextBox 19" id="19"/>
          <p:cNvSpPr txBox="true"/>
          <p:nvPr/>
        </p:nvSpPr>
        <p:spPr>
          <a:xfrm rot="0">
            <a:off x="1070686" y="6501146"/>
            <a:ext cx="15099392" cy="1059167"/>
          </a:xfrm>
          <a:prstGeom prst="rect">
            <a:avLst/>
          </a:prstGeom>
        </p:spPr>
        <p:txBody>
          <a:bodyPr anchor="t" rtlCol="false" tIns="0" lIns="0" bIns="0" rIns="0">
            <a:spAutoFit/>
          </a:bodyPr>
          <a:lstStyle/>
          <a:p>
            <a:pPr algn="l">
              <a:lnSpc>
                <a:spcPts val="2837"/>
              </a:lnSpc>
            </a:pPr>
            <a:r>
              <a:rPr lang="en-US" sz="2251">
                <a:solidFill>
                  <a:srgbClr val="23262B"/>
                </a:solidFill>
                <a:latin typeface="DM Sans"/>
                <a:ea typeface="DM Sans"/>
                <a:cs typeface="DM Sans"/>
                <a:sym typeface="DM Sans"/>
              </a:rPr>
              <a:t>Die zentrale Leitstelle und das Telematik-Backend müssen den laufenden Betrieb des gesamten Fuhrparks zuverlässig unterstützen. Besonders kritisch ist das </a:t>
            </a:r>
            <a:r>
              <a:rPr lang="en-US" sz="2251" u="sng">
                <a:solidFill>
                  <a:srgbClr val="23262B"/>
                </a:solidFill>
                <a:latin typeface="DM Sans"/>
                <a:ea typeface="DM Sans"/>
                <a:cs typeface="DM Sans"/>
                <a:sym typeface="DM Sans"/>
              </a:rPr>
              <a:t>Depot-Lademanagement</a:t>
            </a:r>
            <a:r>
              <a:rPr lang="en-US" sz="2251">
                <a:solidFill>
                  <a:srgbClr val="23262B"/>
                </a:solidFill>
                <a:latin typeface="DM Sans"/>
                <a:ea typeface="DM Sans"/>
                <a:cs typeface="DM Sans"/>
                <a:sym typeface="DM Sans"/>
              </a:rPr>
              <a:t>: Fallen die Ladevorgänge aus, stehen am Morgen möglicherweise nicht genügend einsatzbereite Elektrobusse zur Verfügung.</a:t>
            </a:r>
          </a:p>
        </p:txBody>
      </p:sp>
      <p:grpSp>
        <p:nvGrpSpPr>
          <p:cNvPr name="Group 20" id="20"/>
          <p:cNvGrpSpPr/>
          <p:nvPr/>
        </p:nvGrpSpPr>
        <p:grpSpPr>
          <a:xfrm rot="0">
            <a:off x="1061152" y="8295132"/>
            <a:ext cx="3038942" cy="870118"/>
            <a:chOff x="0" y="0"/>
            <a:chExt cx="4051922" cy="1160158"/>
          </a:xfrm>
        </p:grpSpPr>
        <p:sp>
          <p:nvSpPr>
            <p:cNvPr name="Freeform 21" id="21"/>
            <p:cNvSpPr/>
            <p:nvPr/>
          </p:nvSpPr>
          <p:spPr>
            <a:xfrm flipH="false" flipV="false" rot="0">
              <a:off x="0" y="0"/>
              <a:ext cx="4051935" cy="1160145"/>
            </a:xfrm>
            <a:custGeom>
              <a:avLst/>
              <a:gdLst/>
              <a:ahLst/>
              <a:cxnLst/>
              <a:rect r="r" b="b" t="t" l="l"/>
              <a:pathLst>
                <a:path h="1160145" w="4051935">
                  <a:moveTo>
                    <a:pt x="0" y="224536"/>
                  </a:moveTo>
                  <a:cubicBezTo>
                    <a:pt x="0" y="100584"/>
                    <a:pt x="100584" y="0"/>
                    <a:pt x="224536" y="0"/>
                  </a:cubicBezTo>
                  <a:lnTo>
                    <a:pt x="3827399" y="0"/>
                  </a:lnTo>
                  <a:cubicBezTo>
                    <a:pt x="3951351" y="0"/>
                    <a:pt x="4051935" y="100584"/>
                    <a:pt x="4051935" y="224536"/>
                  </a:cubicBezTo>
                  <a:lnTo>
                    <a:pt x="4051935" y="935609"/>
                  </a:lnTo>
                  <a:cubicBezTo>
                    <a:pt x="4051935" y="1059561"/>
                    <a:pt x="3951351" y="1160145"/>
                    <a:pt x="3827399" y="1160145"/>
                  </a:cubicBezTo>
                  <a:lnTo>
                    <a:pt x="224536" y="1160145"/>
                  </a:lnTo>
                  <a:cubicBezTo>
                    <a:pt x="100584" y="1160145"/>
                    <a:pt x="0" y="1059688"/>
                    <a:pt x="0" y="935609"/>
                  </a:cubicBezTo>
                  <a:close/>
                </a:path>
              </a:pathLst>
            </a:custGeom>
            <a:solidFill>
              <a:srgbClr val="5CE1E6"/>
            </a:solidFill>
            <a:ln w="19065" cap="sq">
              <a:solidFill>
                <a:srgbClr val="5CE1E6"/>
              </a:solidFill>
              <a:prstDash val="solid"/>
              <a:miter/>
            </a:ln>
          </p:spPr>
        </p:sp>
      </p:grpSp>
      <p:grpSp>
        <p:nvGrpSpPr>
          <p:cNvPr name="Group 22" id="22"/>
          <p:cNvGrpSpPr/>
          <p:nvPr/>
        </p:nvGrpSpPr>
        <p:grpSpPr>
          <a:xfrm rot="0">
            <a:off x="1070686" y="8304667"/>
            <a:ext cx="3019882" cy="851059"/>
            <a:chOff x="0" y="0"/>
            <a:chExt cx="4026510" cy="1134745"/>
          </a:xfrm>
        </p:grpSpPr>
        <p:sp>
          <p:nvSpPr>
            <p:cNvPr name="Freeform 23" id="23"/>
            <p:cNvSpPr/>
            <p:nvPr/>
          </p:nvSpPr>
          <p:spPr>
            <a:xfrm flipH="false" flipV="false" rot="0">
              <a:off x="0" y="0"/>
              <a:ext cx="4026506" cy="1134743"/>
            </a:xfrm>
            <a:custGeom>
              <a:avLst/>
              <a:gdLst/>
              <a:ahLst/>
              <a:cxnLst/>
              <a:rect r="r" b="b" t="t" l="l"/>
              <a:pathLst>
                <a:path h="1134743" w="4026506">
                  <a:moveTo>
                    <a:pt x="0" y="0"/>
                  </a:moveTo>
                  <a:lnTo>
                    <a:pt x="4026506" y="0"/>
                  </a:lnTo>
                  <a:lnTo>
                    <a:pt x="4026506" y="1134743"/>
                  </a:lnTo>
                  <a:lnTo>
                    <a:pt x="0" y="1134743"/>
                  </a:lnTo>
                  <a:close/>
                </a:path>
              </a:pathLst>
            </a:custGeom>
            <a:blipFill>
              <a:blip r:embed="rId3">
                <a:alphaModFix amt="0"/>
              </a:blip>
              <a:stretch>
                <a:fillRect l="0" t="-19140" r="0" b="-19140"/>
              </a:stretch>
            </a:blipFill>
          </p:spPr>
        </p:sp>
        <p:sp>
          <p:nvSpPr>
            <p:cNvPr name="TextBox 24" id="24"/>
            <p:cNvSpPr txBox="true"/>
            <p:nvPr/>
          </p:nvSpPr>
          <p:spPr>
            <a:xfrm>
              <a:off x="0" y="-9525"/>
              <a:ext cx="4026510" cy="1144270"/>
            </a:xfrm>
            <a:prstGeom prst="rect">
              <a:avLst/>
            </a:prstGeom>
          </p:spPr>
          <p:txBody>
            <a:bodyPr anchor="ctr" rtlCol="false" tIns="0" lIns="0" bIns="0" rIns="0"/>
            <a:lstStyle/>
            <a:p>
              <a:pPr algn="ctr">
                <a:lnSpc>
                  <a:spcPts val="2702"/>
                </a:lnSpc>
              </a:pPr>
              <a:r>
                <a:rPr lang="en-US" sz="2251" b="true">
                  <a:solidFill>
                    <a:srgbClr val="0C1D4B"/>
                  </a:solidFill>
                  <a:latin typeface="Montserrat Bold"/>
                  <a:ea typeface="Montserrat Bold"/>
                  <a:cs typeface="Montserrat Bold"/>
                  <a:sym typeface="Montserrat Bold"/>
                </a:rPr>
                <a:t>22 Punkte</a:t>
              </a:r>
            </a:p>
          </p:txBody>
        </p:sp>
      </p:grpSp>
      <p:grpSp>
        <p:nvGrpSpPr>
          <p:cNvPr name="Group 25" id="25"/>
          <p:cNvGrpSpPr/>
          <p:nvPr/>
        </p:nvGrpSpPr>
        <p:grpSpPr>
          <a:xfrm rot="0">
            <a:off x="4323921" y="8304667"/>
            <a:ext cx="8236039" cy="851059"/>
            <a:chOff x="0" y="0"/>
            <a:chExt cx="10981385" cy="1134745"/>
          </a:xfrm>
        </p:grpSpPr>
        <p:sp>
          <p:nvSpPr>
            <p:cNvPr name="Freeform 26" id="26"/>
            <p:cNvSpPr/>
            <p:nvPr/>
          </p:nvSpPr>
          <p:spPr>
            <a:xfrm flipH="false" flipV="false" rot="0">
              <a:off x="0" y="0"/>
              <a:ext cx="10981379" cy="1134743"/>
            </a:xfrm>
            <a:custGeom>
              <a:avLst/>
              <a:gdLst/>
              <a:ahLst/>
              <a:cxnLst/>
              <a:rect r="r" b="b" t="t" l="l"/>
              <a:pathLst>
                <a:path h="1134743" w="10981379">
                  <a:moveTo>
                    <a:pt x="0" y="0"/>
                  </a:moveTo>
                  <a:lnTo>
                    <a:pt x="10981379" y="0"/>
                  </a:lnTo>
                  <a:lnTo>
                    <a:pt x="10981379" y="1134743"/>
                  </a:lnTo>
                  <a:lnTo>
                    <a:pt x="0" y="1134743"/>
                  </a:lnTo>
                  <a:close/>
                </a:path>
              </a:pathLst>
            </a:custGeom>
            <a:blipFill>
              <a:blip r:embed="rId3">
                <a:alphaModFix amt="0"/>
              </a:blip>
              <a:stretch>
                <a:fillRect l="0" t="-138564" r="0" b="-138565"/>
              </a:stretch>
            </a:blipFill>
          </p:spPr>
        </p:sp>
        <p:sp>
          <p:nvSpPr>
            <p:cNvPr name="TextBox 27" id="27"/>
            <p:cNvSpPr txBox="true"/>
            <p:nvPr/>
          </p:nvSpPr>
          <p:spPr>
            <a:xfrm>
              <a:off x="0" y="9525"/>
              <a:ext cx="10981385" cy="1125220"/>
            </a:xfrm>
            <a:prstGeom prst="rect">
              <a:avLst/>
            </a:prstGeom>
          </p:spPr>
          <p:txBody>
            <a:bodyPr anchor="ctr" rtlCol="false" tIns="0" lIns="0" bIns="0" rIns="0"/>
            <a:lstStyle/>
            <a:p>
              <a:pPr algn="l">
                <a:lnSpc>
                  <a:spcPts val="2341"/>
                </a:lnSpc>
              </a:pPr>
              <a:r>
                <a:rPr lang="en-US" sz="1951">
                  <a:solidFill>
                    <a:srgbClr val="6B7280"/>
                  </a:solidFill>
                  <a:latin typeface="DM Sans"/>
                  <a:ea typeface="DM Sans"/>
                  <a:cs typeface="DM Sans"/>
                  <a:sym typeface="DM Sans"/>
                </a:rPr>
                <a:t>2 Teilaufgaben (a, b)</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43</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2</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2 a)</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Ausfallsicherer Betrieb Leitstelle &amp; Backend</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a:t>
              </a:r>
              <a:r>
                <a:rPr lang="en-US" sz="1726">
                  <a:solidFill>
                    <a:srgbClr val="FFFFFF"/>
                  </a:solidFill>
                  <a:latin typeface="Montserrat"/>
                  <a:ea typeface="Montserrat"/>
                  <a:cs typeface="Montserrat"/>
                  <a:sym typeface="Montserrat"/>
                </a:rPr>
                <a:t>   Erläutern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5 × 2 = 10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Erläutern Sie </a:t>
              </a:r>
              <a:r>
                <a:rPr lang="en-US" sz="2401" u="sng">
                  <a:solidFill>
                    <a:srgbClr val="0C1D4B"/>
                  </a:solidFill>
                  <a:latin typeface="DM Sans"/>
                  <a:ea typeface="DM Sans"/>
                  <a:cs typeface="DM Sans"/>
                  <a:sym typeface="DM Sans"/>
                </a:rPr>
                <a:t>fünf Maßnahmen</a:t>
              </a:r>
              <a:r>
                <a:rPr lang="en-US" sz="2401">
                  <a:solidFill>
                    <a:srgbClr val="0C1D4B"/>
                  </a:solidFill>
                  <a:latin typeface="DM Sans"/>
                  <a:ea typeface="DM Sans"/>
                  <a:cs typeface="DM Sans"/>
                  <a:sym typeface="DM Sans"/>
                </a:rPr>
                <a:t> für den </a:t>
              </a:r>
              <a:r>
                <a:rPr lang="en-US" sz="2401" u="sng">
                  <a:solidFill>
                    <a:srgbClr val="0C1D4B"/>
                  </a:solidFill>
                  <a:latin typeface="DM Sans"/>
                  <a:ea typeface="DM Sans"/>
                  <a:cs typeface="DM Sans"/>
                  <a:sym typeface="DM Sans"/>
                </a:rPr>
                <a:t>ausfallsicheren Betrieb</a:t>
              </a:r>
              <a:r>
                <a:rPr lang="en-US" sz="2401">
                  <a:solidFill>
                    <a:srgbClr val="0C1D4B"/>
                  </a:solidFill>
                  <a:latin typeface="DM Sans"/>
                  <a:ea typeface="DM Sans"/>
                  <a:cs typeface="DM Sans"/>
                  <a:sym typeface="DM Sans"/>
                </a:rPr>
                <a:t> der Leitstelle und des Telematik-Backends.</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Redundanz auf jeder Ebene: Server, Standort, Strom, Anbindung, Daten.</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44</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2 a)</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Ausfallsicherer Betrieb Leitstelle &amp; Backend</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  ·  5 × 2 = 10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Redundanz auf jeder Ebene: Server, Standort, Strom, Anbindung, Daten.</a:t>
            </a:r>
          </a:p>
        </p:txBody>
      </p:sp>
      <p:grpSp>
        <p:nvGrpSpPr>
          <p:cNvPr name="Group 30" id="30"/>
          <p:cNvGrpSpPr/>
          <p:nvPr/>
        </p:nvGrpSpPr>
        <p:grpSpPr>
          <a:xfrm rot="0">
            <a:off x="13101876" y="2353847"/>
            <a:ext cx="4200954" cy="1668370"/>
            <a:chOff x="0" y="0"/>
            <a:chExt cx="5601272" cy="2224494"/>
          </a:xfrm>
        </p:grpSpPr>
        <p:sp>
          <p:nvSpPr>
            <p:cNvPr name="Freeform 31" id="31"/>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5×2 = 10 P.: fünf Maßnahmen mit Wirkung. Georedundanz ist der Skalierungs-Bonus.</a:t>
            </a:r>
          </a:p>
        </p:txBody>
      </p:sp>
      <p:grpSp>
        <p:nvGrpSpPr>
          <p:cNvPr name="Group 33" id="33"/>
          <p:cNvGrpSpPr/>
          <p:nvPr/>
        </p:nvGrpSpPr>
        <p:grpSpPr>
          <a:xfrm rot="0">
            <a:off x="13101876" y="5071739"/>
            <a:ext cx="4200954" cy="1990944"/>
            <a:chOff x="0" y="0"/>
            <a:chExt cx="5601272" cy="2654592"/>
          </a:xfrm>
        </p:grpSpPr>
        <p:sp>
          <p:nvSpPr>
            <p:cNvPr name="Freeform 34" id="34"/>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Georedundanz = zweiter Standort/Region übernimmt bei Totalausfall des ersten – Schutz auch gegen Rechenzentrumsausfall.</a:t>
            </a:r>
          </a:p>
        </p:txBody>
      </p:sp>
      <p:grpSp>
        <p:nvGrpSpPr>
          <p:cNvPr name="Group 36" id="36"/>
          <p:cNvGrpSpPr/>
          <p:nvPr/>
        </p:nvGrpSpPr>
        <p:grpSpPr>
          <a:xfrm rot="0">
            <a:off x="1019975" y="4177122"/>
            <a:ext cx="5647020" cy="1455791"/>
            <a:chOff x="0" y="0"/>
            <a:chExt cx="7529360" cy="1941055"/>
          </a:xfrm>
        </p:grpSpPr>
        <p:sp>
          <p:nvSpPr>
            <p:cNvPr name="Freeform 37" id="37"/>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0196"/>
            <a:ext cx="5078892" cy="118965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Redundante Server / Failover-Cluster</a:t>
            </a:r>
          </a:p>
          <a:p>
            <a:pPr algn="l">
              <a:lnSpc>
                <a:spcPts val="1765"/>
              </a:lnSpc>
            </a:pPr>
            <a:r>
              <a:rPr lang="en-US" sz="1501">
                <a:solidFill>
                  <a:srgbClr val="0A3A3D"/>
                </a:solidFill>
                <a:latin typeface="DM Sans"/>
                <a:ea typeface="DM Sans"/>
                <a:cs typeface="DM Sans"/>
                <a:sym typeface="DM Sans"/>
              </a:rPr>
              <a:t>Die Leitstellen- und Backend-Dienste sind doppelt ausgelegt.</a:t>
            </a:r>
          </a:p>
        </p:txBody>
      </p:sp>
      <p:grpSp>
        <p:nvGrpSpPr>
          <p:cNvPr name="Group 39" id="39"/>
          <p:cNvGrpSpPr/>
          <p:nvPr/>
        </p:nvGrpSpPr>
        <p:grpSpPr>
          <a:xfrm rot="0">
            <a:off x="1019975" y="5860933"/>
            <a:ext cx="5647020" cy="1455791"/>
            <a:chOff x="0" y="0"/>
            <a:chExt cx="7529360" cy="1941055"/>
          </a:xfrm>
        </p:grpSpPr>
        <p:sp>
          <p:nvSpPr>
            <p:cNvPr name="Freeform 40" id="40"/>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5994006"/>
            <a:ext cx="5078892" cy="118965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Georedundanz</a:t>
            </a:r>
          </a:p>
          <a:p>
            <a:pPr algn="l">
              <a:lnSpc>
                <a:spcPts val="1765"/>
              </a:lnSpc>
            </a:pPr>
            <a:r>
              <a:rPr lang="en-US" sz="1501">
                <a:solidFill>
                  <a:srgbClr val="0A3A3D"/>
                </a:solidFill>
                <a:latin typeface="DM Sans"/>
                <a:ea typeface="DM Sans"/>
                <a:cs typeface="DM Sans"/>
                <a:sym typeface="DM Sans"/>
              </a:rPr>
              <a:t>Verteilung auf mehrere Rechenzentren/Cloud-Regionen erhöht die Ausfallsicherheit.</a:t>
            </a:r>
          </a:p>
        </p:txBody>
      </p:sp>
      <p:grpSp>
        <p:nvGrpSpPr>
          <p:cNvPr name="Group 42" id="42"/>
          <p:cNvGrpSpPr/>
          <p:nvPr/>
        </p:nvGrpSpPr>
        <p:grpSpPr>
          <a:xfrm rot="0">
            <a:off x="1019975" y="7544743"/>
            <a:ext cx="5647020" cy="1455791"/>
            <a:chOff x="0" y="0"/>
            <a:chExt cx="7529360" cy="1941055"/>
          </a:xfrm>
        </p:grpSpPr>
        <p:sp>
          <p:nvSpPr>
            <p:cNvPr name="Freeform 43" id="43"/>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44" id="44"/>
          <p:cNvSpPr txBox="true"/>
          <p:nvPr/>
        </p:nvSpPr>
        <p:spPr>
          <a:xfrm rot="0">
            <a:off x="1304039" y="7677817"/>
            <a:ext cx="5078892" cy="118965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USV &amp; Notstrom</a:t>
            </a:r>
          </a:p>
          <a:p>
            <a:pPr algn="l">
              <a:lnSpc>
                <a:spcPts val="1765"/>
              </a:lnSpc>
            </a:pPr>
            <a:r>
              <a:rPr lang="en-US" sz="1501">
                <a:solidFill>
                  <a:srgbClr val="0A3A3D"/>
                </a:solidFill>
                <a:latin typeface="DM Sans"/>
                <a:ea typeface="DM Sans"/>
                <a:cs typeface="DM Sans"/>
                <a:sym typeface="DM Sans"/>
              </a:rPr>
              <a:t>Sichert den Betrieb der Leitstelle bei Stromausfall.</a:t>
            </a:r>
          </a:p>
        </p:txBody>
      </p:sp>
      <p:grpSp>
        <p:nvGrpSpPr>
          <p:cNvPr name="Group 45" id="45"/>
          <p:cNvGrpSpPr/>
          <p:nvPr/>
        </p:nvGrpSpPr>
        <p:grpSpPr>
          <a:xfrm rot="0">
            <a:off x="7059730" y="4177122"/>
            <a:ext cx="5647020" cy="1455791"/>
            <a:chOff x="0" y="0"/>
            <a:chExt cx="7529360" cy="1941055"/>
          </a:xfrm>
        </p:grpSpPr>
        <p:sp>
          <p:nvSpPr>
            <p:cNvPr name="Freeform 46" id="46"/>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47" id="47"/>
          <p:cNvSpPr txBox="true"/>
          <p:nvPr/>
        </p:nvSpPr>
        <p:spPr>
          <a:xfrm rot="0">
            <a:off x="7343794" y="4310196"/>
            <a:ext cx="5078892" cy="118965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Redundante Anbindung</a:t>
            </a:r>
          </a:p>
          <a:p>
            <a:pPr algn="l">
              <a:lnSpc>
                <a:spcPts val="1765"/>
              </a:lnSpc>
            </a:pPr>
            <a:r>
              <a:rPr lang="en-US" sz="1501">
                <a:solidFill>
                  <a:srgbClr val="0A3A3D"/>
                </a:solidFill>
                <a:latin typeface="DM Sans"/>
                <a:ea typeface="DM Sans"/>
                <a:cs typeface="DM Sans"/>
                <a:sym typeface="DM Sans"/>
              </a:rPr>
              <a:t>Mehrere Mobilfunk-/Netzanbindungen vermeiden Einzelausfälle.</a:t>
            </a:r>
          </a:p>
        </p:txBody>
      </p:sp>
      <p:grpSp>
        <p:nvGrpSpPr>
          <p:cNvPr name="Group 48" id="48"/>
          <p:cNvGrpSpPr/>
          <p:nvPr/>
        </p:nvGrpSpPr>
        <p:grpSpPr>
          <a:xfrm rot="0">
            <a:off x="7059730" y="5860933"/>
            <a:ext cx="5647020" cy="1455791"/>
            <a:chOff x="0" y="0"/>
            <a:chExt cx="7529360" cy="1941055"/>
          </a:xfrm>
        </p:grpSpPr>
        <p:sp>
          <p:nvSpPr>
            <p:cNvPr name="Freeform 49" id="49"/>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50" id="50"/>
          <p:cNvSpPr txBox="true"/>
          <p:nvPr/>
        </p:nvSpPr>
        <p:spPr>
          <a:xfrm rot="0">
            <a:off x="7343794" y="5994006"/>
            <a:ext cx="5078892" cy="118965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Monitoring &amp; Alarmierung</a:t>
            </a:r>
          </a:p>
          <a:p>
            <a:pPr algn="l">
              <a:lnSpc>
                <a:spcPts val="1765"/>
              </a:lnSpc>
            </a:pPr>
            <a:r>
              <a:rPr lang="en-US" sz="1501">
                <a:solidFill>
                  <a:srgbClr val="0A3A3D"/>
                </a:solidFill>
                <a:latin typeface="DM Sans"/>
                <a:ea typeface="DM Sans"/>
                <a:cs typeface="DM Sans"/>
                <a:sym typeface="DM Sans"/>
              </a:rPr>
              <a:t>Frühzeitige Erkennung von Störungen im Backend.</a:t>
            </a:r>
          </a:p>
        </p:txBody>
      </p:sp>
      <p:grpSp>
        <p:nvGrpSpPr>
          <p:cNvPr name="Group 51" id="51"/>
          <p:cNvGrpSpPr/>
          <p:nvPr/>
        </p:nvGrpSpPr>
        <p:grpSpPr>
          <a:xfrm rot="0">
            <a:off x="7059730" y="7544743"/>
            <a:ext cx="5647020" cy="1455791"/>
            <a:chOff x="0" y="0"/>
            <a:chExt cx="7529360" cy="1941055"/>
          </a:xfrm>
        </p:grpSpPr>
        <p:sp>
          <p:nvSpPr>
            <p:cNvPr name="Freeform 52" id="52"/>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53" id="53"/>
          <p:cNvSpPr txBox="true"/>
          <p:nvPr/>
        </p:nvSpPr>
        <p:spPr>
          <a:xfrm rot="0">
            <a:off x="7343794" y="7677817"/>
            <a:ext cx="5078892" cy="118965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Backup &amp; Wiederherstellung</a:t>
            </a:r>
          </a:p>
          <a:p>
            <a:pPr algn="l">
              <a:lnSpc>
                <a:spcPts val="1765"/>
              </a:lnSpc>
            </a:pPr>
            <a:r>
              <a:rPr lang="en-US" sz="1501">
                <a:solidFill>
                  <a:srgbClr val="0A3A3D"/>
                </a:solidFill>
                <a:latin typeface="DM Sans"/>
                <a:ea typeface="DM Sans"/>
                <a:cs typeface="DM Sans"/>
                <a:sym typeface="DM Sans"/>
              </a:rPr>
              <a:t>Regelmäßige, getestete Sicherung der Betriebsdaten.</a:t>
            </a:r>
          </a:p>
        </p:txBody>
      </p:sp>
      <p:grpSp>
        <p:nvGrpSpPr>
          <p:cNvPr name="Group 54" id="54"/>
          <p:cNvGrpSpPr/>
          <p:nvPr/>
        </p:nvGrpSpPr>
        <p:grpSpPr>
          <a:xfrm rot="0">
            <a:off x="1070686" y="9087088"/>
            <a:ext cx="11667715" cy="480431"/>
            <a:chOff x="0" y="0"/>
            <a:chExt cx="15556954" cy="640575"/>
          </a:xfrm>
        </p:grpSpPr>
        <p:sp>
          <p:nvSpPr>
            <p:cNvPr name="Freeform 55" id="55"/>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56" id="56"/>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Gefordert: 5 · hier 6 mögliche Lösungen zur Auswahl</a:t>
              </a:r>
            </a:p>
          </p:txBody>
        </p:sp>
      </p:grpSp>
      <p:sp>
        <p:nvSpPr>
          <p:cNvPr name="TextBox 57" id="57"/>
          <p:cNvSpPr txBox="true"/>
          <p:nvPr/>
        </p:nvSpPr>
        <p:spPr>
          <a:xfrm rot="0">
            <a:off x="5794986" y="5603758"/>
            <a:ext cx="1992056" cy="257175"/>
          </a:xfrm>
          <a:prstGeom prst="rect">
            <a:avLst/>
          </a:prstGeom>
        </p:spPr>
        <p:txBody>
          <a:bodyPr anchor="t" rtlCol="false" tIns="0" lIns="0" bIns="0" rIns="0">
            <a:spAutoFit/>
          </a:bodyPr>
          <a:lstStyle/>
          <a:p>
            <a:pPr algn="l">
              <a:lnSpc>
                <a:spcPts val="2071"/>
              </a:lnSpc>
              <a:spcBef>
                <a:spcPct val="0"/>
              </a:spcBef>
            </a:pPr>
            <a:r>
              <a:rPr lang="en-US" b="true" sz="1726">
                <a:solidFill>
                  <a:srgbClr val="000000"/>
                </a:solidFill>
                <a:latin typeface="Montserrat Bold"/>
                <a:ea typeface="Montserrat Bold"/>
                <a:cs typeface="Montserrat Bold"/>
                <a:sym typeface="Montserrat Bold"/>
              </a:rPr>
              <a:t>REDUNDANZ</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45</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2</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2 b)</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Business-Continuity: Depot-Lademanagement</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III</a:t>
              </a:r>
              <a:r>
                <a:rPr lang="en-US" sz="1726">
                  <a:solidFill>
                    <a:srgbClr val="FFFFFF"/>
                  </a:solidFill>
                  <a:latin typeface="Montserrat"/>
                  <a:ea typeface="Montserrat"/>
                  <a:cs typeface="Montserrat"/>
                  <a:sym typeface="Montserrat"/>
                </a:rPr>
                <a:t>   Entwickeln / Begründen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4 × 3 = 12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557982" y="479062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Für den Ausfall des Depot-Lademanagements entwickeln Sie ein </a:t>
              </a:r>
              <a:r>
                <a:rPr lang="en-US" sz="2401" u="sng">
                  <a:solidFill>
                    <a:srgbClr val="0C1D4B"/>
                  </a:solidFill>
                  <a:latin typeface="DM Sans"/>
                  <a:ea typeface="DM Sans"/>
                  <a:cs typeface="DM Sans"/>
                  <a:sym typeface="DM Sans"/>
                </a:rPr>
                <a:t>Business-Continuity-Konzept</a:t>
              </a:r>
              <a:r>
                <a:rPr lang="en-US" sz="2401">
                  <a:solidFill>
                    <a:srgbClr val="0C1D4B"/>
                  </a:solidFill>
                  <a:latin typeface="DM Sans"/>
                  <a:ea typeface="DM Sans"/>
                  <a:cs typeface="DM Sans"/>
                  <a:sym typeface="DM Sans"/>
                </a:rPr>
                <a:t>. Begründen Sie </a:t>
              </a:r>
              <a:r>
                <a:rPr lang="en-US" sz="2401" u="sng">
                  <a:solidFill>
                    <a:srgbClr val="0C1D4B"/>
                  </a:solidFill>
                  <a:latin typeface="DM Sans"/>
                  <a:ea typeface="DM Sans"/>
                  <a:cs typeface="DM Sans"/>
                  <a:sym typeface="DM Sans"/>
                </a:rPr>
                <a:t>vier Maßnahmen</a:t>
              </a:r>
              <a:r>
                <a:rPr lang="en-US" sz="2401">
                  <a:solidFill>
                    <a:srgbClr val="0C1D4B"/>
                  </a:solidFill>
                  <a:latin typeface="DM Sans"/>
                  <a:ea typeface="DM Sans"/>
                  <a:cs typeface="DM Sans"/>
                  <a:sym typeface="DM Sans"/>
                </a:rPr>
                <a:t> dieses Konzepts.</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Kernfrage: Wie fahren morgen die Busse, wenn nachts das Laden ausfällt?</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46</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2 b)</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Business-Continuity: Depot-Lademanagement</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III  ·  4 × 3 = 12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533400"/>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Kernfrage: </a:t>
            </a:r>
            <a:r>
              <a:rPr lang="en-US" sz="1801" i="true">
                <a:solidFill>
                  <a:srgbClr val="23262B"/>
                </a:solidFill>
                <a:latin typeface="DM Sans Italics"/>
                <a:ea typeface="DM Sans Italics"/>
                <a:cs typeface="DM Sans Italics"/>
                <a:sym typeface="DM Sans Italics"/>
              </a:rPr>
              <a:t>Wie fahren morgen die Busse, wenn nachts das Laden ausfällt?</a:t>
            </a:r>
          </a:p>
          <a:p>
            <a:pPr algn="l" marL="326264" indent="-163132" lvl="1">
              <a:lnSpc>
                <a:spcPts val="2161"/>
              </a:lnSpc>
              <a:buFont typeface="Arial"/>
              <a:buChar char="•"/>
            </a:pPr>
            <a:r>
              <a:rPr lang="en-US" sz="1801">
                <a:solidFill>
                  <a:srgbClr val="23262B"/>
                </a:solidFill>
                <a:latin typeface="DM Sans"/>
                <a:ea typeface="DM Sans"/>
                <a:cs typeface="DM Sans"/>
                <a:sym typeface="DM Sans"/>
              </a:rPr>
              <a:t>Mische technisch (Failover, Notladen) und organisatorisch (Reserve).</a:t>
            </a:r>
          </a:p>
        </p:txBody>
      </p:sp>
      <p:grpSp>
        <p:nvGrpSpPr>
          <p:cNvPr name="Group 30" id="30"/>
          <p:cNvGrpSpPr/>
          <p:nvPr/>
        </p:nvGrpSpPr>
        <p:grpSpPr>
          <a:xfrm rot="0">
            <a:off x="13101876" y="2353847"/>
            <a:ext cx="4200954" cy="1668370"/>
            <a:chOff x="0" y="0"/>
            <a:chExt cx="5601272" cy="2224494"/>
          </a:xfrm>
        </p:grpSpPr>
        <p:sp>
          <p:nvSpPr>
            <p:cNvPr name="Freeform 31" id="31"/>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4×3 = 12 P.: je Maßnahme eine Begründung mit Fallbezug (morgendliche Einsatzfähigkeit).</a:t>
            </a:r>
          </a:p>
        </p:txBody>
      </p:sp>
      <p:grpSp>
        <p:nvGrpSpPr>
          <p:cNvPr name="Group 33" id="33"/>
          <p:cNvGrpSpPr/>
          <p:nvPr/>
        </p:nvGrpSpPr>
        <p:grpSpPr>
          <a:xfrm rot="0">
            <a:off x="13101876" y="5071739"/>
            <a:ext cx="4200954" cy="2313527"/>
            <a:chOff x="0" y="0"/>
            <a:chExt cx="5601272" cy="3084703"/>
          </a:xfrm>
        </p:grpSpPr>
        <p:sp>
          <p:nvSpPr>
            <p:cNvPr name="Freeform 34" id="34"/>
            <p:cNvSpPr/>
            <p:nvPr/>
          </p:nvSpPr>
          <p:spPr>
            <a:xfrm flipH="false" flipV="false" rot="0">
              <a:off x="0" y="0"/>
              <a:ext cx="5601208" cy="3084703"/>
            </a:xfrm>
            <a:custGeom>
              <a:avLst/>
              <a:gdLst/>
              <a:ahLst/>
              <a:cxnLst/>
              <a:rect r="r" b="b" t="t" l="l"/>
              <a:pathLst>
                <a:path h="3084703" w="5601208">
                  <a:moveTo>
                    <a:pt x="0" y="73660"/>
                  </a:moveTo>
                  <a:cubicBezTo>
                    <a:pt x="0" y="33020"/>
                    <a:pt x="33020" y="0"/>
                    <a:pt x="73660" y="0"/>
                  </a:cubicBezTo>
                  <a:lnTo>
                    <a:pt x="5527548" y="0"/>
                  </a:lnTo>
                  <a:cubicBezTo>
                    <a:pt x="5568188" y="0"/>
                    <a:pt x="5601208" y="33020"/>
                    <a:pt x="5601208" y="73660"/>
                  </a:cubicBezTo>
                  <a:lnTo>
                    <a:pt x="5601208" y="3011043"/>
                  </a:lnTo>
                  <a:cubicBezTo>
                    <a:pt x="5601208" y="3051683"/>
                    <a:pt x="5568188" y="3084703"/>
                    <a:pt x="5527548" y="3084703"/>
                  </a:cubicBezTo>
                  <a:lnTo>
                    <a:pt x="73660" y="3084703"/>
                  </a:lnTo>
                  <a:cubicBezTo>
                    <a:pt x="33020" y="3084703"/>
                    <a:pt x="0" y="3051683"/>
                    <a:pt x="0" y="3011043"/>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2024691"/>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BCM (Business Continuity Management) sichert die Kernprozesse; bei E-Bussen ist der Kernprozess: genug geladene Fahrzeuge am Morgen.</a:t>
            </a:r>
          </a:p>
        </p:txBody>
      </p:sp>
      <p:grpSp>
        <p:nvGrpSpPr>
          <p:cNvPr name="Group 36" id="36"/>
          <p:cNvGrpSpPr/>
          <p:nvPr/>
        </p:nvGrpSpPr>
        <p:grpSpPr>
          <a:xfrm rot="0">
            <a:off x="1019975" y="4177122"/>
            <a:ext cx="5647020" cy="2146706"/>
            <a:chOff x="0" y="0"/>
            <a:chExt cx="7529360" cy="2862275"/>
          </a:xfrm>
        </p:grpSpPr>
        <p:sp>
          <p:nvSpPr>
            <p:cNvPr name="Freeform 37" id="37"/>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0196"/>
            <a:ext cx="5078892" cy="114803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Manuelles / lokales Notlade-Verfahren</a:t>
            </a:r>
          </a:p>
          <a:p>
            <a:pPr algn="l">
              <a:lnSpc>
                <a:spcPts val="1765"/>
              </a:lnSpc>
            </a:pPr>
            <a:r>
              <a:rPr lang="en-US" sz="1501">
                <a:solidFill>
                  <a:srgbClr val="0A3A3D"/>
                </a:solidFill>
                <a:latin typeface="DM Sans"/>
                <a:ea typeface="DM Sans"/>
                <a:cs typeface="DM Sans"/>
                <a:sym typeface="DM Sans"/>
              </a:rPr>
              <a:t>Ladesäulen lassen sich vor Ort ohne zentrale Steuerung betreiben. </a:t>
            </a:r>
          </a:p>
          <a:p>
            <a:pPr algn="l">
              <a:lnSpc>
                <a:spcPts val="1765"/>
              </a:lnSpc>
            </a:pPr>
          </a:p>
          <a:p>
            <a:pPr algn="l">
              <a:lnSpc>
                <a:spcPts val="1765"/>
              </a:lnSpc>
            </a:pPr>
            <a:r>
              <a:rPr lang="en-US" sz="1501">
                <a:solidFill>
                  <a:srgbClr val="0A3A3D"/>
                </a:solidFill>
                <a:latin typeface="DM Sans"/>
                <a:ea typeface="DM Sans"/>
                <a:cs typeface="DM Sans"/>
                <a:sym typeface="DM Sans"/>
              </a:rPr>
              <a:t>Begründung: die Busse werden trotz Ausfall geladen.</a:t>
            </a:r>
          </a:p>
        </p:txBody>
      </p:sp>
      <p:grpSp>
        <p:nvGrpSpPr>
          <p:cNvPr name="Group 39" id="39"/>
          <p:cNvGrpSpPr/>
          <p:nvPr/>
        </p:nvGrpSpPr>
        <p:grpSpPr>
          <a:xfrm rot="0">
            <a:off x="1019975" y="6551838"/>
            <a:ext cx="5647020" cy="2146706"/>
            <a:chOff x="0" y="0"/>
            <a:chExt cx="7529360" cy="2862275"/>
          </a:xfrm>
        </p:grpSpPr>
        <p:sp>
          <p:nvSpPr>
            <p:cNvPr name="Freeform 40" id="40"/>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6684912"/>
            <a:ext cx="5078892" cy="158618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Notfall-/Priorisierungs-Ladeplan</a:t>
            </a:r>
          </a:p>
          <a:p>
            <a:pPr algn="l">
              <a:lnSpc>
                <a:spcPts val="1765"/>
              </a:lnSpc>
            </a:pPr>
            <a:r>
              <a:rPr lang="en-US" sz="1501">
                <a:solidFill>
                  <a:srgbClr val="0A3A3D"/>
                </a:solidFill>
                <a:latin typeface="DM Sans"/>
                <a:ea typeface="DM Sans"/>
                <a:cs typeface="DM Sans"/>
                <a:sym typeface="DM Sans"/>
              </a:rPr>
              <a:t>Kritische Umläufe zuerst laden. </a:t>
            </a:r>
          </a:p>
          <a:p>
            <a:pPr algn="l">
              <a:lnSpc>
                <a:spcPts val="1765"/>
              </a:lnSpc>
            </a:pPr>
          </a:p>
          <a:p>
            <a:pPr algn="l">
              <a:lnSpc>
                <a:spcPts val="1765"/>
              </a:lnSpc>
            </a:pPr>
          </a:p>
          <a:p>
            <a:pPr algn="l">
              <a:lnSpc>
                <a:spcPts val="1765"/>
              </a:lnSpc>
            </a:pPr>
          </a:p>
          <a:p>
            <a:pPr algn="l">
              <a:lnSpc>
                <a:spcPts val="1765"/>
              </a:lnSpc>
            </a:pPr>
            <a:r>
              <a:rPr lang="en-US" sz="1501">
                <a:solidFill>
                  <a:srgbClr val="0A3A3D"/>
                </a:solidFill>
                <a:latin typeface="DM Sans"/>
                <a:ea typeface="DM Sans"/>
                <a:cs typeface="DM Sans"/>
                <a:sym typeface="DM Sans"/>
              </a:rPr>
              <a:t>Begründung: sichert die morgendliche Einsatzfähigkeit der wichtigsten Linien.</a:t>
            </a:r>
          </a:p>
        </p:txBody>
      </p:sp>
      <p:grpSp>
        <p:nvGrpSpPr>
          <p:cNvPr name="Group 42" id="42"/>
          <p:cNvGrpSpPr/>
          <p:nvPr/>
        </p:nvGrpSpPr>
        <p:grpSpPr>
          <a:xfrm rot="0">
            <a:off x="7059730" y="4177122"/>
            <a:ext cx="5647020" cy="2146706"/>
            <a:chOff x="0" y="0"/>
            <a:chExt cx="7529360" cy="2862275"/>
          </a:xfrm>
        </p:grpSpPr>
        <p:sp>
          <p:nvSpPr>
            <p:cNvPr name="Freeform 43" id="43"/>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4" id="44"/>
          <p:cNvSpPr txBox="true"/>
          <p:nvPr/>
        </p:nvSpPr>
        <p:spPr>
          <a:xfrm rot="0">
            <a:off x="7343794" y="4310196"/>
            <a:ext cx="5078892" cy="141473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Redundante Steuerung / Failover des Lademanagements</a:t>
            </a:r>
          </a:p>
          <a:p>
            <a:pPr algn="l">
              <a:lnSpc>
                <a:spcPts val="1765"/>
              </a:lnSpc>
            </a:pPr>
            <a:r>
              <a:rPr lang="en-US" sz="1501">
                <a:solidFill>
                  <a:srgbClr val="0A3A3D"/>
                </a:solidFill>
                <a:latin typeface="DM Sans"/>
                <a:ea typeface="DM Sans"/>
                <a:cs typeface="DM Sans"/>
                <a:sym typeface="DM Sans"/>
              </a:rPr>
              <a:t>Ein zweites System übernimmt. </a:t>
            </a:r>
          </a:p>
          <a:p>
            <a:pPr algn="l">
              <a:lnSpc>
                <a:spcPts val="1765"/>
              </a:lnSpc>
            </a:pPr>
          </a:p>
          <a:p>
            <a:pPr algn="l">
              <a:lnSpc>
                <a:spcPts val="1765"/>
              </a:lnSpc>
            </a:pPr>
            <a:r>
              <a:rPr lang="en-US" sz="1501">
                <a:solidFill>
                  <a:srgbClr val="0A3A3D"/>
                </a:solidFill>
                <a:latin typeface="DM Sans"/>
                <a:ea typeface="DM Sans"/>
                <a:cs typeface="DM Sans"/>
                <a:sym typeface="DM Sans"/>
              </a:rPr>
              <a:t>Begründung: vermeidet den Totalausfall der Ladeprozesse.</a:t>
            </a:r>
          </a:p>
        </p:txBody>
      </p:sp>
      <p:grpSp>
        <p:nvGrpSpPr>
          <p:cNvPr name="Group 45" id="45"/>
          <p:cNvGrpSpPr/>
          <p:nvPr/>
        </p:nvGrpSpPr>
        <p:grpSpPr>
          <a:xfrm rot="0">
            <a:off x="7059730" y="6551838"/>
            <a:ext cx="5647020" cy="2146706"/>
            <a:chOff x="0" y="0"/>
            <a:chExt cx="7529360" cy="2862275"/>
          </a:xfrm>
        </p:grpSpPr>
        <p:sp>
          <p:nvSpPr>
            <p:cNvPr name="Freeform 46" id="46"/>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7" id="47"/>
          <p:cNvSpPr txBox="true"/>
          <p:nvPr/>
        </p:nvSpPr>
        <p:spPr>
          <a:xfrm rot="0">
            <a:off x="7343794" y="6684912"/>
            <a:ext cx="5078892" cy="158618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Umlaufreserve / Ersatzfahrzeuge</a:t>
            </a:r>
          </a:p>
          <a:p>
            <a:pPr algn="l">
              <a:lnSpc>
                <a:spcPts val="1765"/>
              </a:lnSpc>
            </a:pPr>
            <a:r>
              <a:rPr lang="en-US" sz="1501">
                <a:solidFill>
                  <a:srgbClr val="0A3A3D"/>
                </a:solidFill>
                <a:latin typeface="DM Sans"/>
                <a:ea typeface="DM Sans"/>
                <a:cs typeface="DM Sans"/>
                <a:sym typeface="DM Sans"/>
              </a:rPr>
              <a:t>Vorhalten von Reserve- oder Dieselbussen. </a:t>
            </a:r>
          </a:p>
          <a:p>
            <a:pPr algn="l">
              <a:lnSpc>
                <a:spcPts val="1765"/>
              </a:lnSpc>
            </a:pPr>
          </a:p>
          <a:p>
            <a:pPr algn="l">
              <a:lnSpc>
                <a:spcPts val="1765"/>
              </a:lnSpc>
            </a:pPr>
          </a:p>
          <a:p>
            <a:pPr algn="l">
              <a:lnSpc>
                <a:spcPts val="1765"/>
              </a:lnSpc>
            </a:pPr>
          </a:p>
          <a:p>
            <a:pPr algn="l">
              <a:lnSpc>
                <a:spcPts val="1765"/>
              </a:lnSpc>
            </a:pPr>
            <a:r>
              <a:rPr lang="en-US" sz="1501">
                <a:solidFill>
                  <a:srgbClr val="0A3A3D"/>
                </a:solidFill>
                <a:latin typeface="DM Sans"/>
                <a:ea typeface="DM Sans"/>
                <a:cs typeface="DM Sans"/>
                <a:sym typeface="DM Sans"/>
              </a:rPr>
              <a:t>Begründung: hält den Fahrbetrieb auch bei unzureichend geladenen Fahrzeugen aufrecht.</a:t>
            </a:r>
          </a:p>
        </p:txBody>
      </p:sp>
      <p:grpSp>
        <p:nvGrpSpPr>
          <p:cNvPr name="Group 48" id="48"/>
          <p:cNvGrpSpPr/>
          <p:nvPr/>
        </p:nvGrpSpPr>
        <p:grpSpPr>
          <a:xfrm rot="0">
            <a:off x="1070686" y="9087088"/>
            <a:ext cx="11667715" cy="480431"/>
            <a:chOff x="0" y="0"/>
            <a:chExt cx="15556954" cy="640575"/>
          </a:xfrm>
        </p:grpSpPr>
        <p:sp>
          <p:nvSpPr>
            <p:cNvPr name="Freeform 49" id="49"/>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50" id="50"/>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Erwartete Lösung – 4 Elemente</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47</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a:t>
              </a:r>
            </a:p>
          </p:txBody>
        </p:sp>
      </p:grpSp>
      <p:grpSp>
        <p:nvGrpSpPr>
          <p:cNvPr name="Group 15" id="15"/>
          <p:cNvGrpSpPr/>
          <p:nvPr/>
        </p:nvGrpSpPr>
        <p:grpSpPr>
          <a:xfrm rot="0">
            <a:off x="1029500" y="3088510"/>
            <a:ext cx="12354049" cy="823608"/>
            <a:chOff x="0" y="0"/>
            <a:chExt cx="16472065" cy="1098144"/>
          </a:xfrm>
        </p:grpSpPr>
        <p:sp>
          <p:nvSpPr>
            <p:cNvPr name="Freeform 16" id="16"/>
            <p:cNvSpPr/>
            <p:nvPr/>
          </p:nvSpPr>
          <p:spPr>
            <a:xfrm flipH="false" flipV="false" rot="0">
              <a:off x="0" y="0"/>
              <a:ext cx="16472069" cy="1098138"/>
            </a:xfrm>
            <a:custGeom>
              <a:avLst/>
              <a:gdLst/>
              <a:ahLst/>
              <a:cxnLst/>
              <a:rect r="r" b="b" t="t" l="l"/>
              <a:pathLst>
                <a:path h="1098138" w="16472069">
                  <a:moveTo>
                    <a:pt x="0" y="0"/>
                  </a:moveTo>
                  <a:lnTo>
                    <a:pt x="16472069" y="0"/>
                  </a:lnTo>
                  <a:lnTo>
                    <a:pt x="16472069" y="1098138"/>
                  </a:lnTo>
                  <a:lnTo>
                    <a:pt x="0" y="1098138"/>
                  </a:lnTo>
                  <a:close/>
                </a:path>
              </a:pathLst>
            </a:custGeom>
            <a:blipFill>
              <a:blip r:embed="rId3">
                <a:alphaModFix amt="0"/>
              </a:blip>
              <a:stretch>
                <a:fillRect l="0" t="-242275" r="0" b="-242275"/>
              </a:stretch>
            </a:blipFill>
          </p:spPr>
        </p:sp>
        <p:sp>
          <p:nvSpPr>
            <p:cNvPr name="TextBox 17" id="17"/>
            <p:cNvSpPr txBox="true"/>
            <p:nvPr/>
          </p:nvSpPr>
          <p:spPr>
            <a:xfrm>
              <a:off x="0" y="0"/>
              <a:ext cx="16472065" cy="1098144"/>
            </a:xfrm>
            <a:prstGeom prst="rect">
              <a:avLst/>
            </a:prstGeom>
          </p:spPr>
          <p:txBody>
            <a:bodyPr anchor="ctr" rtlCol="false" tIns="0" lIns="0" bIns="0" rIns="0"/>
            <a:lstStyle/>
            <a:p>
              <a:pPr algn="l">
                <a:lnSpc>
                  <a:spcPts val="3602"/>
                </a:lnSpc>
              </a:pPr>
              <a:r>
                <a:rPr lang="en-US" b="true" sz="3002" spc="450">
                  <a:solidFill>
                    <a:srgbClr val="FF4000"/>
                  </a:solidFill>
                  <a:latin typeface="Montserrat Bold"/>
                  <a:ea typeface="Montserrat Bold"/>
                  <a:cs typeface="Montserrat Bold"/>
                  <a:sym typeface="Montserrat Bold"/>
                </a:rPr>
                <a:t>AUFGABE 3</a:t>
              </a:r>
            </a:p>
          </p:txBody>
        </p:sp>
      </p:grpSp>
      <p:sp>
        <p:nvSpPr>
          <p:cNvPr name="TextBox 18" id="18"/>
          <p:cNvSpPr txBox="true"/>
          <p:nvPr/>
        </p:nvSpPr>
        <p:spPr>
          <a:xfrm rot="0">
            <a:off x="988324" y="3921643"/>
            <a:ext cx="16197539" cy="2186749"/>
          </a:xfrm>
          <a:prstGeom prst="rect">
            <a:avLst/>
          </a:prstGeom>
        </p:spPr>
        <p:txBody>
          <a:bodyPr anchor="t" rtlCol="false" tIns="0" lIns="0" bIns="0" rIns="0">
            <a:spAutoFit/>
          </a:bodyPr>
          <a:lstStyle/>
          <a:p>
            <a:pPr algn="l">
              <a:lnSpc>
                <a:spcPts val="7767"/>
              </a:lnSpc>
            </a:pPr>
            <a:r>
              <a:rPr lang="en-US" sz="6605" b="true">
                <a:solidFill>
                  <a:srgbClr val="0C1D4B"/>
                </a:solidFill>
                <a:latin typeface="Montserrat Bold"/>
                <a:ea typeface="Montserrat Bold"/>
                <a:cs typeface="Montserrat Bold"/>
                <a:sym typeface="Montserrat Bold"/>
              </a:rPr>
              <a:t>IT-Sicherheit &amp; Datensicherheit</a:t>
            </a:r>
          </a:p>
        </p:txBody>
      </p:sp>
      <p:sp>
        <p:nvSpPr>
          <p:cNvPr name="TextBox 19" id="19"/>
          <p:cNvSpPr txBox="true"/>
          <p:nvPr/>
        </p:nvSpPr>
        <p:spPr>
          <a:xfrm rot="0">
            <a:off x="1070686" y="6501146"/>
            <a:ext cx="15099392" cy="706742"/>
          </a:xfrm>
          <a:prstGeom prst="rect">
            <a:avLst/>
          </a:prstGeom>
        </p:spPr>
        <p:txBody>
          <a:bodyPr anchor="t" rtlCol="false" tIns="0" lIns="0" bIns="0" rIns="0">
            <a:spAutoFit/>
          </a:bodyPr>
          <a:lstStyle/>
          <a:p>
            <a:pPr algn="l">
              <a:lnSpc>
                <a:spcPts val="2837"/>
              </a:lnSpc>
            </a:pPr>
            <a:r>
              <a:rPr lang="en-US" sz="2251">
                <a:solidFill>
                  <a:srgbClr val="23262B"/>
                </a:solidFill>
                <a:latin typeface="DM Sans"/>
                <a:ea typeface="DM Sans"/>
                <a:cs typeface="DM Sans"/>
                <a:sym typeface="DM Sans"/>
              </a:rPr>
              <a:t>Die Vernetzung der Fahrzeuge mit dem Backend über Mobilfunk vergrößert die </a:t>
            </a:r>
            <a:r>
              <a:rPr lang="en-US" sz="2251" u="sng">
                <a:solidFill>
                  <a:srgbClr val="23262B"/>
                </a:solidFill>
                <a:latin typeface="DM Sans"/>
                <a:ea typeface="DM Sans"/>
                <a:cs typeface="DM Sans"/>
                <a:sym typeface="DM Sans"/>
              </a:rPr>
              <a:t>Angriffsfläche</a:t>
            </a:r>
            <a:r>
              <a:rPr lang="en-US" sz="2251">
                <a:solidFill>
                  <a:srgbClr val="23262B"/>
                </a:solidFill>
                <a:latin typeface="DM Sans"/>
                <a:ea typeface="DM Sans"/>
                <a:cs typeface="DM Sans"/>
                <a:sym typeface="DM Sans"/>
              </a:rPr>
              <a:t>. Zugleich werden umfangreiche Standort-, Video- und Fahrgast</a:t>
            </a:r>
            <a:r>
              <a:rPr lang="en-US" sz="2251" u="sng">
                <a:solidFill>
                  <a:srgbClr val="23262B"/>
                </a:solidFill>
                <a:latin typeface="DM Sans"/>
                <a:ea typeface="DM Sans"/>
                <a:cs typeface="DM Sans"/>
                <a:sym typeface="DM Sans"/>
              </a:rPr>
              <a:t>daten</a:t>
            </a:r>
            <a:r>
              <a:rPr lang="en-US" sz="2251">
                <a:solidFill>
                  <a:srgbClr val="23262B"/>
                </a:solidFill>
                <a:latin typeface="DM Sans"/>
                <a:ea typeface="DM Sans"/>
                <a:cs typeface="DM Sans"/>
                <a:sym typeface="DM Sans"/>
              </a:rPr>
              <a:t> verarbeitet, deren Sicherheit zu gewährleisten ist.</a:t>
            </a:r>
          </a:p>
        </p:txBody>
      </p:sp>
      <p:grpSp>
        <p:nvGrpSpPr>
          <p:cNvPr name="Group 20" id="20"/>
          <p:cNvGrpSpPr/>
          <p:nvPr/>
        </p:nvGrpSpPr>
        <p:grpSpPr>
          <a:xfrm rot="0">
            <a:off x="1061152" y="8295132"/>
            <a:ext cx="3038942" cy="870118"/>
            <a:chOff x="0" y="0"/>
            <a:chExt cx="4051922" cy="1160158"/>
          </a:xfrm>
        </p:grpSpPr>
        <p:sp>
          <p:nvSpPr>
            <p:cNvPr name="Freeform 21" id="21"/>
            <p:cNvSpPr/>
            <p:nvPr/>
          </p:nvSpPr>
          <p:spPr>
            <a:xfrm flipH="false" flipV="false" rot="0">
              <a:off x="0" y="0"/>
              <a:ext cx="4051935" cy="1160145"/>
            </a:xfrm>
            <a:custGeom>
              <a:avLst/>
              <a:gdLst/>
              <a:ahLst/>
              <a:cxnLst/>
              <a:rect r="r" b="b" t="t" l="l"/>
              <a:pathLst>
                <a:path h="1160145" w="4051935">
                  <a:moveTo>
                    <a:pt x="0" y="224536"/>
                  </a:moveTo>
                  <a:cubicBezTo>
                    <a:pt x="0" y="100584"/>
                    <a:pt x="100584" y="0"/>
                    <a:pt x="224536" y="0"/>
                  </a:cubicBezTo>
                  <a:lnTo>
                    <a:pt x="3827399" y="0"/>
                  </a:lnTo>
                  <a:cubicBezTo>
                    <a:pt x="3951351" y="0"/>
                    <a:pt x="4051935" y="100584"/>
                    <a:pt x="4051935" y="224536"/>
                  </a:cubicBezTo>
                  <a:lnTo>
                    <a:pt x="4051935" y="935609"/>
                  </a:lnTo>
                  <a:cubicBezTo>
                    <a:pt x="4051935" y="1059561"/>
                    <a:pt x="3951351" y="1160145"/>
                    <a:pt x="3827399" y="1160145"/>
                  </a:cubicBezTo>
                  <a:lnTo>
                    <a:pt x="224536" y="1160145"/>
                  </a:lnTo>
                  <a:cubicBezTo>
                    <a:pt x="100584" y="1160145"/>
                    <a:pt x="0" y="1059688"/>
                    <a:pt x="0" y="935609"/>
                  </a:cubicBezTo>
                  <a:close/>
                </a:path>
              </a:pathLst>
            </a:custGeom>
            <a:solidFill>
              <a:srgbClr val="5CE1E6"/>
            </a:solidFill>
            <a:ln w="19065" cap="sq">
              <a:solidFill>
                <a:srgbClr val="5CE1E6"/>
              </a:solidFill>
              <a:prstDash val="solid"/>
              <a:miter/>
            </a:ln>
          </p:spPr>
        </p:sp>
      </p:grpSp>
      <p:grpSp>
        <p:nvGrpSpPr>
          <p:cNvPr name="Group 22" id="22"/>
          <p:cNvGrpSpPr/>
          <p:nvPr/>
        </p:nvGrpSpPr>
        <p:grpSpPr>
          <a:xfrm rot="0">
            <a:off x="1070686" y="8304667"/>
            <a:ext cx="3019882" cy="851059"/>
            <a:chOff x="0" y="0"/>
            <a:chExt cx="4026510" cy="1134745"/>
          </a:xfrm>
        </p:grpSpPr>
        <p:sp>
          <p:nvSpPr>
            <p:cNvPr name="Freeform 23" id="23"/>
            <p:cNvSpPr/>
            <p:nvPr/>
          </p:nvSpPr>
          <p:spPr>
            <a:xfrm flipH="false" flipV="false" rot="0">
              <a:off x="0" y="0"/>
              <a:ext cx="4026506" cy="1134743"/>
            </a:xfrm>
            <a:custGeom>
              <a:avLst/>
              <a:gdLst/>
              <a:ahLst/>
              <a:cxnLst/>
              <a:rect r="r" b="b" t="t" l="l"/>
              <a:pathLst>
                <a:path h="1134743" w="4026506">
                  <a:moveTo>
                    <a:pt x="0" y="0"/>
                  </a:moveTo>
                  <a:lnTo>
                    <a:pt x="4026506" y="0"/>
                  </a:lnTo>
                  <a:lnTo>
                    <a:pt x="4026506" y="1134743"/>
                  </a:lnTo>
                  <a:lnTo>
                    <a:pt x="0" y="1134743"/>
                  </a:lnTo>
                  <a:close/>
                </a:path>
              </a:pathLst>
            </a:custGeom>
            <a:blipFill>
              <a:blip r:embed="rId3">
                <a:alphaModFix amt="0"/>
              </a:blip>
              <a:stretch>
                <a:fillRect l="0" t="-19140" r="0" b="-19140"/>
              </a:stretch>
            </a:blipFill>
          </p:spPr>
        </p:sp>
        <p:sp>
          <p:nvSpPr>
            <p:cNvPr name="TextBox 24" id="24"/>
            <p:cNvSpPr txBox="true"/>
            <p:nvPr/>
          </p:nvSpPr>
          <p:spPr>
            <a:xfrm>
              <a:off x="0" y="-9525"/>
              <a:ext cx="4026510" cy="1144270"/>
            </a:xfrm>
            <a:prstGeom prst="rect">
              <a:avLst/>
            </a:prstGeom>
          </p:spPr>
          <p:txBody>
            <a:bodyPr anchor="ctr" rtlCol="false" tIns="0" lIns="0" bIns="0" rIns="0"/>
            <a:lstStyle/>
            <a:p>
              <a:pPr algn="ctr">
                <a:lnSpc>
                  <a:spcPts val="2702"/>
                </a:lnSpc>
              </a:pPr>
              <a:r>
                <a:rPr lang="en-US" sz="2251" b="true">
                  <a:solidFill>
                    <a:srgbClr val="0C1D4B"/>
                  </a:solidFill>
                  <a:latin typeface="Montserrat Bold"/>
                  <a:ea typeface="Montserrat Bold"/>
                  <a:cs typeface="Montserrat Bold"/>
                  <a:sym typeface="Montserrat Bold"/>
                </a:rPr>
                <a:t>23 Punkte</a:t>
              </a:r>
            </a:p>
          </p:txBody>
        </p:sp>
      </p:grpSp>
      <p:grpSp>
        <p:nvGrpSpPr>
          <p:cNvPr name="Group 25" id="25"/>
          <p:cNvGrpSpPr/>
          <p:nvPr/>
        </p:nvGrpSpPr>
        <p:grpSpPr>
          <a:xfrm rot="0">
            <a:off x="4323921" y="8304667"/>
            <a:ext cx="8236039" cy="851059"/>
            <a:chOff x="0" y="0"/>
            <a:chExt cx="10981385" cy="1134745"/>
          </a:xfrm>
        </p:grpSpPr>
        <p:sp>
          <p:nvSpPr>
            <p:cNvPr name="Freeform 26" id="26"/>
            <p:cNvSpPr/>
            <p:nvPr/>
          </p:nvSpPr>
          <p:spPr>
            <a:xfrm flipH="false" flipV="false" rot="0">
              <a:off x="0" y="0"/>
              <a:ext cx="10981379" cy="1134743"/>
            </a:xfrm>
            <a:custGeom>
              <a:avLst/>
              <a:gdLst/>
              <a:ahLst/>
              <a:cxnLst/>
              <a:rect r="r" b="b" t="t" l="l"/>
              <a:pathLst>
                <a:path h="1134743" w="10981379">
                  <a:moveTo>
                    <a:pt x="0" y="0"/>
                  </a:moveTo>
                  <a:lnTo>
                    <a:pt x="10981379" y="0"/>
                  </a:lnTo>
                  <a:lnTo>
                    <a:pt x="10981379" y="1134743"/>
                  </a:lnTo>
                  <a:lnTo>
                    <a:pt x="0" y="1134743"/>
                  </a:lnTo>
                  <a:close/>
                </a:path>
              </a:pathLst>
            </a:custGeom>
            <a:blipFill>
              <a:blip r:embed="rId3">
                <a:alphaModFix amt="0"/>
              </a:blip>
              <a:stretch>
                <a:fillRect l="0" t="-138564" r="0" b="-138565"/>
              </a:stretch>
            </a:blipFill>
          </p:spPr>
        </p:sp>
        <p:sp>
          <p:nvSpPr>
            <p:cNvPr name="TextBox 27" id="27"/>
            <p:cNvSpPr txBox="true"/>
            <p:nvPr/>
          </p:nvSpPr>
          <p:spPr>
            <a:xfrm>
              <a:off x="0" y="9525"/>
              <a:ext cx="10981385" cy="1125220"/>
            </a:xfrm>
            <a:prstGeom prst="rect">
              <a:avLst/>
            </a:prstGeom>
          </p:spPr>
          <p:txBody>
            <a:bodyPr anchor="ctr" rtlCol="false" tIns="0" lIns="0" bIns="0" rIns="0"/>
            <a:lstStyle/>
            <a:p>
              <a:pPr algn="l">
                <a:lnSpc>
                  <a:spcPts val="2341"/>
                </a:lnSpc>
              </a:pPr>
              <a:r>
                <a:rPr lang="en-US" sz="1951">
                  <a:solidFill>
                    <a:srgbClr val="6B7280"/>
                  </a:solidFill>
                  <a:latin typeface="DM Sans"/>
                  <a:ea typeface="DM Sans"/>
                  <a:cs typeface="DM Sans"/>
                  <a:sym typeface="DM Sans"/>
                </a:rPr>
                <a:t>3 Teilaufgaben (a, b, c)</a:t>
              </a: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48</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3</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3 a)</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Sicherheitsrisiken</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2F8F4E"/>
            </a:solidFill>
            <a:ln w="19065" cap="sq">
              <a:solidFill>
                <a:srgbClr val="2F8F4E"/>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a:t>
              </a:r>
              <a:r>
                <a:rPr lang="en-US" sz="1726">
                  <a:solidFill>
                    <a:srgbClr val="FFFFFF"/>
                  </a:solidFill>
                  <a:latin typeface="Montserrat"/>
                  <a:ea typeface="Montserrat"/>
                  <a:cs typeface="Montserrat"/>
                  <a:sym typeface="Montserrat"/>
                </a:rPr>
                <a:t>   Nennen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5 × 1 = 5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Nennen Sie fünf </a:t>
              </a:r>
              <a:r>
                <a:rPr lang="en-US" sz="2401" u="sng">
                  <a:solidFill>
                    <a:srgbClr val="0C1D4B"/>
                  </a:solidFill>
                  <a:latin typeface="DM Sans"/>
                  <a:ea typeface="DM Sans"/>
                  <a:cs typeface="DM Sans"/>
                  <a:sym typeface="DM Sans"/>
                </a:rPr>
                <a:t>Sicherheitsrisiken</a:t>
              </a:r>
              <a:r>
                <a:rPr lang="en-US" sz="2401">
                  <a:solidFill>
                    <a:srgbClr val="0C1D4B"/>
                  </a:solidFill>
                  <a:latin typeface="DM Sans"/>
                  <a:ea typeface="DM Sans"/>
                  <a:cs typeface="DM Sans"/>
                  <a:sym typeface="DM Sans"/>
                </a:rPr>
                <a:t>, die durch die Vernetzung der Fahrzeuge mit dem Backend entstehen.</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Angriffswege der mobilen Flotte: Funk, Bordrechner, OTA-Updates, Ladeinfrastruktur.</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49</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3 a)</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Sicherheitsrisiken</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2F8F4E"/>
            </a:solidFill>
            <a:ln w="19065" cap="sq">
              <a:solidFill>
                <a:srgbClr val="2F8F4E"/>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  ·  5 × 1 = 5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Angriffswege der mobilen Flotte: Funk, Bordrechner, OTA-Updates, Ladeinfrastruktur.</a:t>
            </a:r>
          </a:p>
        </p:txBody>
      </p:sp>
      <p:grpSp>
        <p:nvGrpSpPr>
          <p:cNvPr name="Group 30" id="30"/>
          <p:cNvGrpSpPr/>
          <p:nvPr/>
        </p:nvGrpSpPr>
        <p:grpSpPr>
          <a:xfrm rot="0">
            <a:off x="13101876" y="2353847"/>
            <a:ext cx="4200954" cy="1668370"/>
            <a:chOff x="0" y="0"/>
            <a:chExt cx="5601272" cy="2224494"/>
          </a:xfrm>
        </p:grpSpPr>
        <p:sp>
          <p:nvSpPr>
            <p:cNvPr name="Freeform 31" id="31"/>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AFB I: fünf Stichworte. OTA-Updates und Bordrechner sind die fahrzeugspezifischen Risiken.</a:t>
            </a:r>
          </a:p>
        </p:txBody>
      </p:sp>
      <p:grpSp>
        <p:nvGrpSpPr>
          <p:cNvPr name="Group 33" id="33"/>
          <p:cNvGrpSpPr/>
          <p:nvPr/>
        </p:nvGrpSpPr>
        <p:grpSpPr>
          <a:xfrm rot="0">
            <a:off x="13101876" y="5071739"/>
            <a:ext cx="4200954" cy="1990944"/>
            <a:chOff x="0" y="0"/>
            <a:chExt cx="5601272" cy="2654592"/>
          </a:xfrm>
        </p:grpSpPr>
        <p:sp>
          <p:nvSpPr>
            <p:cNvPr name="Freeform 34" id="34"/>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OTA = Over-the-Air-Update: Software wird per Funk aufgespielt – ohne Signatur ein Einfallstor für manipulierte Firmware.</a:t>
            </a:r>
          </a:p>
        </p:txBody>
      </p:sp>
      <p:grpSp>
        <p:nvGrpSpPr>
          <p:cNvPr name="Group 36" id="36"/>
          <p:cNvGrpSpPr/>
          <p:nvPr/>
        </p:nvGrpSpPr>
        <p:grpSpPr>
          <a:xfrm rot="0">
            <a:off x="1017584" y="4174731"/>
            <a:ext cx="5651792" cy="1060199"/>
            <a:chOff x="0" y="0"/>
            <a:chExt cx="7535723" cy="1413599"/>
          </a:xfrm>
        </p:grpSpPr>
        <p:sp>
          <p:nvSpPr>
            <p:cNvPr name="Freeform 37" id="37"/>
            <p:cNvSpPr/>
            <p:nvPr/>
          </p:nvSpPr>
          <p:spPr>
            <a:xfrm flipH="false" flipV="false" rot="0">
              <a:off x="0" y="0"/>
              <a:ext cx="7535672" cy="1413510"/>
            </a:xfrm>
            <a:custGeom>
              <a:avLst/>
              <a:gdLst/>
              <a:ahLst/>
              <a:cxnLst/>
              <a:rect r="r" b="b" t="t" l="l"/>
              <a:pathLst>
                <a:path h="1413510" w="7535672">
                  <a:moveTo>
                    <a:pt x="0" y="93599"/>
                  </a:moveTo>
                  <a:cubicBezTo>
                    <a:pt x="0" y="41910"/>
                    <a:pt x="41910" y="0"/>
                    <a:pt x="93599" y="0"/>
                  </a:cubicBezTo>
                  <a:lnTo>
                    <a:pt x="7442073" y="0"/>
                  </a:lnTo>
                  <a:cubicBezTo>
                    <a:pt x="7493762" y="0"/>
                    <a:pt x="7535672" y="41910"/>
                    <a:pt x="7535672" y="93599"/>
                  </a:cubicBezTo>
                  <a:lnTo>
                    <a:pt x="7535672" y="1319911"/>
                  </a:lnTo>
                  <a:cubicBezTo>
                    <a:pt x="7535672" y="1371600"/>
                    <a:pt x="7493762" y="1413510"/>
                    <a:pt x="7442073" y="1413510"/>
                  </a:cubicBezTo>
                  <a:lnTo>
                    <a:pt x="93599" y="1413510"/>
                  </a:lnTo>
                  <a:cubicBezTo>
                    <a:pt x="41910" y="1413510"/>
                    <a:pt x="0" y="1371600"/>
                    <a:pt x="0" y="1319911"/>
                  </a:cubicBezTo>
                  <a:close/>
                </a:path>
              </a:pathLst>
            </a:custGeom>
            <a:solidFill>
              <a:srgbClr val="F2FCFD"/>
            </a:solidFill>
            <a:ln w="23831" cap="sq">
              <a:solidFill>
                <a:srgbClr val="2BB6BD"/>
              </a:solidFill>
              <a:prstDash val="solid"/>
              <a:miter/>
            </a:ln>
          </p:spPr>
        </p:sp>
      </p:grpSp>
      <p:grpSp>
        <p:nvGrpSpPr>
          <p:cNvPr name="Group 38" id="38"/>
          <p:cNvGrpSpPr/>
          <p:nvPr/>
        </p:nvGrpSpPr>
        <p:grpSpPr>
          <a:xfrm rot="0">
            <a:off x="1331490" y="4186647"/>
            <a:ext cx="5023980" cy="1036368"/>
            <a:chOff x="0" y="0"/>
            <a:chExt cx="6698640" cy="1381824"/>
          </a:xfrm>
        </p:grpSpPr>
        <p:sp>
          <p:nvSpPr>
            <p:cNvPr name="Freeform 39" id="39"/>
            <p:cNvSpPr/>
            <p:nvPr/>
          </p:nvSpPr>
          <p:spPr>
            <a:xfrm flipH="false" flipV="false" rot="0">
              <a:off x="0" y="0"/>
              <a:ext cx="6698642" cy="1381824"/>
            </a:xfrm>
            <a:custGeom>
              <a:avLst/>
              <a:gdLst/>
              <a:ahLst/>
              <a:cxnLst/>
              <a:rect r="r" b="b" t="t" l="l"/>
              <a:pathLst>
                <a:path h="1381824" w="6698642">
                  <a:moveTo>
                    <a:pt x="0" y="0"/>
                  </a:moveTo>
                  <a:lnTo>
                    <a:pt x="6698642" y="0"/>
                  </a:lnTo>
                  <a:lnTo>
                    <a:pt x="6698642" y="1381824"/>
                  </a:lnTo>
                  <a:lnTo>
                    <a:pt x="0" y="1381824"/>
                  </a:lnTo>
                  <a:close/>
                </a:path>
              </a:pathLst>
            </a:custGeom>
            <a:blipFill>
              <a:blip r:embed="rId3">
                <a:alphaModFix amt="0"/>
              </a:blip>
              <a:stretch>
                <a:fillRect l="0" t="-44457" r="0" b="-44457"/>
              </a:stretch>
            </a:blipFill>
          </p:spPr>
        </p:sp>
        <p:sp>
          <p:nvSpPr>
            <p:cNvPr name="TextBox 40" id="40"/>
            <p:cNvSpPr txBox="true"/>
            <p:nvPr/>
          </p:nvSpPr>
          <p:spPr>
            <a:xfrm>
              <a:off x="0" y="9525"/>
              <a:ext cx="6698640" cy="1372299"/>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Angriff über die </a:t>
              </a:r>
              <a:r>
                <a:rPr lang="en-US" b="true" sz="1876" u="sng">
                  <a:solidFill>
                    <a:srgbClr val="0C1D4B"/>
                  </a:solidFill>
                  <a:latin typeface="Montserrat Bold"/>
                  <a:ea typeface="Montserrat Bold"/>
                  <a:cs typeface="Montserrat Bold"/>
                  <a:sym typeface="Montserrat Bold"/>
                </a:rPr>
                <a:t>Mobilfunkschnittstelle</a:t>
              </a:r>
              <a:r>
                <a:rPr lang="en-US" sz="1876" b="true">
                  <a:solidFill>
                    <a:srgbClr val="0C1D4B"/>
                  </a:solidFill>
                  <a:latin typeface="Montserrat Bold"/>
                  <a:ea typeface="Montserrat Bold"/>
                  <a:cs typeface="Montserrat Bold"/>
                  <a:sym typeface="Montserrat Bold"/>
                </a:rPr>
                <a:t> des Fahrzeugs</a:t>
              </a:r>
            </a:p>
          </p:txBody>
        </p:sp>
      </p:grpSp>
      <p:grpSp>
        <p:nvGrpSpPr>
          <p:cNvPr name="Group 41" id="41"/>
          <p:cNvGrpSpPr/>
          <p:nvPr/>
        </p:nvGrpSpPr>
        <p:grpSpPr>
          <a:xfrm rot="0">
            <a:off x="1017584" y="5430726"/>
            <a:ext cx="5651792" cy="1060199"/>
            <a:chOff x="0" y="0"/>
            <a:chExt cx="7535723" cy="1413599"/>
          </a:xfrm>
        </p:grpSpPr>
        <p:sp>
          <p:nvSpPr>
            <p:cNvPr name="Freeform 42" id="42"/>
            <p:cNvSpPr/>
            <p:nvPr/>
          </p:nvSpPr>
          <p:spPr>
            <a:xfrm flipH="false" flipV="false" rot="0">
              <a:off x="0" y="0"/>
              <a:ext cx="7535672" cy="1413510"/>
            </a:xfrm>
            <a:custGeom>
              <a:avLst/>
              <a:gdLst/>
              <a:ahLst/>
              <a:cxnLst/>
              <a:rect r="r" b="b" t="t" l="l"/>
              <a:pathLst>
                <a:path h="1413510" w="7535672">
                  <a:moveTo>
                    <a:pt x="0" y="93599"/>
                  </a:moveTo>
                  <a:cubicBezTo>
                    <a:pt x="0" y="41910"/>
                    <a:pt x="41910" y="0"/>
                    <a:pt x="93599" y="0"/>
                  </a:cubicBezTo>
                  <a:lnTo>
                    <a:pt x="7442073" y="0"/>
                  </a:lnTo>
                  <a:cubicBezTo>
                    <a:pt x="7493762" y="0"/>
                    <a:pt x="7535672" y="41910"/>
                    <a:pt x="7535672" y="93599"/>
                  </a:cubicBezTo>
                  <a:lnTo>
                    <a:pt x="7535672" y="1319911"/>
                  </a:lnTo>
                  <a:cubicBezTo>
                    <a:pt x="7535672" y="1371600"/>
                    <a:pt x="7493762" y="1413510"/>
                    <a:pt x="7442073" y="1413510"/>
                  </a:cubicBezTo>
                  <a:lnTo>
                    <a:pt x="93599" y="1413510"/>
                  </a:lnTo>
                  <a:cubicBezTo>
                    <a:pt x="41910" y="1413510"/>
                    <a:pt x="0" y="1371600"/>
                    <a:pt x="0" y="1319911"/>
                  </a:cubicBezTo>
                  <a:close/>
                </a:path>
              </a:pathLst>
            </a:custGeom>
            <a:solidFill>
              <a:srgbClr val="F2FCFD"/>
            </a:solidFill>
            <a:ln w="23831" cap="sq">
              <a:solidFill>
                <a:srgbClr val="2BB6BD"/>
              </a:solidFill>
              <a:prstDash val="solid"/>
              <a:miter/>
            </a:ln>
          </p:spPr>
        </p:sp>
      </p:grpSp>
      <p:grpSp>
        <p:nvGrpSpPr>
          <p:cNvPr name="Group 43" id="43"/>
          <p:cNvGrpSpPr/>
          <p:nvPr/>
        </p:nvGrpSpPr>
        <p:grpSpPr>
          <a:xfrm rot="0">
            <a:off x="1331490" y="5442642"/>
            <a:ext cx="5023980" cy="1036368"/>
            <a:chOff x="0" y="0"/>
            <a:chExt cx="6698640" cy="1381824"/>
          </a:xfrm>
        </p:grpSpPr>
        <p:sp>
          <p:nvSpPr>
            <p:cNvPr name="Freeform 44" id="44"/>
            <p:cNvSpPr/>
            <p:nvPr/>
          </p:nvSpPr>
          <p:spPr>
            <a:xfrm flipH="false" flipV="false" rot="0">
              <a:off x="0" y="0"/>
              <a:ext cx="6698642" cy="1381824"/>
            </a:xfrm>
            <a:custGeom>
              <a:avLst/>
              <a:gdLst/>
              <a:ahLst/>
              <a:cxnLst/>
              <a:rect r="r" b="b" t="t" l="l"/>
              <a:pathLst>
                <a:path h="1381824" w="6698642">
                  <a:moveTo>
                    <a:pt x="0" y="0"/>
                  </a:moveTo>
                  <a:lnTo>
                    <a:pt x="6698642" y="0"/>
                  </a:lnTo>
                  <a:lnTo>
                    <a:pt x="6698642" y="1381824"/>
                  </a:lnTo>
                  <a:lnTo>
                    <a:pt x="0" y="1381824"/>
                  </a:lnTo>
                  <a:close/>
                </a:path>
              </a:pathLst>
            </a:custGeom>
            <a:blipFill>
              <a:blip r:embed="rId3">
                <a:alphaModFix amt="0"/>
              </a:blip>
              <a:stretch>
                <a:fillRect l="0" t="-44457" r="0" b="-44457"/>
              </a:stretch>
            </a:blipFill>
          </p:spPr>
        </p:sp>
        <p:sp>
          <p:nvSpPr>
            <p:cNvPr name="TextBox 45" id="45"/>
            <p:cNvSpPr txBox="true"/>
            <p:nvPr/>
          </p:nvSpPr>
          <p:spPr>
            <a:xfrm>
              <a:off x="0" y="9525"/>
              <a:ext cx="6698640" cy="1372299"/>
            </a:xfrm>
            <a:prstGeom prst="rect">
              <a:avLst/>
            </a:prstGeom>
          </p:spPr>
          <p:txBody>
            <a:bodyPr anchor="ctr" rtlCol="false" tIns="0" lIns="0" bIns="0" rIns="0"/>
            <a:lstStyle/>
            <a:p>
              <a:pPr algn="l">
                <a:lnSpc>
                  <a:spcPts val="2139"/>
                </a:lnSpc>
              </a:pPr>
              <a:r>
                <a:rPr lang="en-US" b="true" sz="1876" u="sng">
                  <a:solidFill>
                    <a:srgbClr val="0C1D4B"/>
                  </a:solidFill>
                  <a:latin typeface="Montserrat Bold"/>
                  <a:ea typeface="Montserrat Bold"/>
                  <a:cs typeface="Montserrat Bold"/>
                  <a:sym typeface="Montserrat Bold"/>
                </a:rPr>
                <a:t>Unverschlüsselte</a:t>
              </a:r>
              <a:r>
                <a:rPr lang="en-US" sz="1876" b="true">
                  <a:solidFill>
                    <a:srgbClr val="0C1D4B"/>
                  </a:solidFill>
                  <a:latin typeface="Montserrat Bold"/>
                  <a:ea typeface="Montserrat Bold"/>
                  <a:cs typeface="Montserrat Bold"/>
                  <a:sym typeface="Montserrat Bold"/>
                </a:rPr>
                <a:t> Übertragung von Standort- und Fahrgastdaten</a:t>
              </a:r>
            </a:p>
          </p:txBody>
        </p:sp>
      </p:grpSp>
      <p:grpSp>
        <p:nvGrpSpPr>
          <p:cNvPr name="Group 46" id="46"/>
          <p:cNvGrpSpPr/>
          <p:nvPr/>
        </p:nvGrpSpPr>
        <p:grpSpPr>
          <a:xfrm rot="0">
            <a:off x="1017584" y="6686721"/>
            <a:ext cx="5651792" cy="1060199"/>
            <a:chOff x="0" y="0"/>
            <a:chExt cx="7535723" cy="1413599"/>
          </a:xfrm>
        </p:grpSpPr>
        <p:sp>
          <p:nvSpPr>
            <p:cNvPr name="Freeform 47" id="47"/>
            <p:cNvSpPr/>
            <p:nvPr/>
          </p:nvSpPr>
          <p:spPr>
            <a:xfrm flipH="false" flipV="false" rot="0">
              <a:off x="0" y="0"/>
              <a:ext cx="7535672" cy="1413510"/>
            </a:xfrm>
            <a:custGeom>
              <a:avLst/>
              <a:gdLst/>
              <a:ahLst/>
              <a:cxnLst/>
              <a:rect r="r" b="b" t="t" l="l"/>
              <a:pathLst>
                <a:path h="1413510" w="7535672">
                  <a:moveTo>
                    <a:pt x="0" y="93599"/>
                  </a:moveTo>
                  <a:cubicBezTo>
                    <a:pt x="0" y="41910"/>
                    <a:pt x="41910" y="0"/>
                    <a:pt x="93599" y="0"/>
                  </a:cubicBezTo>
                  <a:lnTo>
                    <a:pt x="7442073" y="0"/>
                  </a:lnTo>
                  <a:cubicBezTo>
                    <a:pt x="7493762" y="0"/>
                    <a:pt x="7535672" y="41910"/>
                    <a:pt x="7535672" y="93599"/>
                  </a:cubicBezTo>
                  <a:lnTo>
                    <a:pt x="7535672" y="1319911"/>
                  </a:lnTo>
                  <a:cubicBezTo>
                    <a:pt x="7535672" y="1371600"/>
                    <a:pt x="7493762" y="1413510"/>
                    <a:pt x="7442073" y="1413510"/>
                  </a:cubicBezTo>
                  <a:lnTo>
                    <a:pt x="93599" y="1413510"/>
                  </a:lnTo>
                  <a:cubicBezTo>
                    <a:pt x="41910" y="1413510"/>
                    <a:pt x="0" y="1371600"/>
                    <a:pt x="0" y="1319911"/>
                  </a:cubicBezTo>
                  <a:close/>
                </a:path>
              </a:pathLst>
            </a:custGeom>
            <a:solidFill>
              <a:srgbClr val="F2FCFD"/>
            </a:solidFill>
            <a:ln w="23831" cap="sq">
              <a:solidFill>
                <a:srgbClr val="2BB6BD"/>
              </a:solidFill>
              <a:prstDash val="solid"/>
              <a:miter/>
            </a:ln>
          </p:spPr>
        </p:sp>
      </p:grpSp>
      <p:grpSp>
        <p:nvGrpSpPr>
          <p:cNvPr name="Group 48" id="48"/>
          <p:cNvGrpSpPr/>
          <p:nvPr/>
        </p:nvGrpSpPr>
        <p:grpSpPr>
          <a:xfrm rot="0">
            <a:off x="1331490" y="6698637"/>
            <a:ext cx="5023980" cy="1036368"/>
            <a:chOff x="0" y="0"/>
            <a:chExt cx="6698640" cy="1381824"/>
          </a:xfrm>
        </p:grpSpPr>
        <p:sp>
          <p:nvSpPr>
            <p:cNvPr name="Freeform 49" id="49"/>
            <p:cNvSpPr/>
            <p:nvPr/>
          </p:nvSpPr>
          <p:spPr>
            <a:xfrm flipH="false" flipV="false" rot="0">
              <a:off x="0" y="0"/>
              <a:ext cx="6698642" cy="1381824"/>
            </a:xfrm>
            <a:custGeom>
              <a:avLst/>
              <a:gdLst/>
              <a:ahLst/>
              <a:cxnLst/>
              <a:rect r="r" b="b" t="t" l="l"/>
              <a:pathLst>
                <a:path h="1381824" w="6698642">
                  <a:moveTo>
                    <a:pt x="0" y="0"/>
                  </a:moveTo>
                  <a:lnTo>
                    <a:pt x="6698642" y="0"/>
                  </a:lnTo>
                  <a:lnTo>
                    <a:pt x="6698642" y="1381824"/>
                  </a:lnTo>
                  <a:lnTo>
                    <a:pt x="0" y="1381824"/>
                  </a:lnTo>
                  <a:close/>
                </a:path>
              </a:pathLst>
            </a:custGeom>
            <a:blipFill>
              <a:blip r:embed="rId3">
                <a:alphaModFix amt="0"/>
              </a:blip>
              <a:stretch>
                <a:fillRect l="0" t="-44457" r="0" b="-44457"/>
              </a:stretch>
            </a:blipFill>
          </p:spPr>
        </p:sp>
        <p:sp>
          <p:nvSpPr>
            <p:cNvPr name="TextBox 50" id="50"/>
            <p:cNvSpPr txBox="true"/>
            <p:nvPr/>
          </p:nvSpPr>
          <p:spPr>
            <a:xfrm>
              <a:off x="0" y="9525"/>
              <a:ext cx="6698640" cy="1372299"/>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Kompromittierter </a:t>
              </a:r>
              <a:r>
                <a:rPr lang="en-US" b="true" sz="1876" u="sng">
                  <a:solidFill>
                    <a:srgbClr val="0C1D4B"/>
                  </a:solidFill>
                  <a:latin typeface="Montserrat Bold"/>
                  <a:ea typeface="Montserrat Bold"/>
                  <a:cs typeface="Montserrat Bold"/>
                  <a:sym typeface="Montserrat Bold"/>
                </a:rPr>
                <a:t>Bordrechner</a:t>
              </a:r>
              <a:r>
                <a:rPr lang="en-US" sz="1876" b="true">
                  <a:solidFill>
                    <a:srgbClr val="0C1D4B"/>
                  </a:solidFill>
                  <a:latin typeface="Montserrat Bold"/>
                  <a:ea typeface="Montserrat Bold"/>
                  <a:cs typeface="Montserrat Bold"/>
                  <a:sym typeface="Montserrat Bold"/>
                </a:rPr>
                <a:t> als Einfallstor ins Backend</a:t>
              </a:r>
            </a:p>
          </p:txBody>
        </p:sp>
      </p:grpSp>
      <p:grpSp>
        <p:nvGrpSpPr>
          <p:cNvPr name="Group 51" id="51"/>
          <p:cNvGrpSpPr/>
          <p:nvPr/>
        </p:nvGrpSpPr>
        <p:grpSpPr>
          <a:xfrm rot="0">
            <a:off x="1017584" y="7942717"/>
            <a:ext cx="5651792" cy="1060199"/>
            <a:chOff x="0" y="0"/>
            <a:chExt cx="7535723" cy="1413599"/>
          </a:xfrm>
        </p:grpSpPr>
        <p:sp>
          <p:nvSpPr>
            <p:cNvPr name="Freeform 52" id="52"/>
            <p:cNvSpPr/>
            <p:nvPr/>
          </p:nvSpPr>
          <p:spPr>
            <a:xfrm flipH="false" flipV="false" rot="0">
              <a:off x="0" y="0"/>
              <a:ext cx="7535672" cy="1413510"/>
            </a:xfrm>
            <a:custGeom>
              <a:avLst/>
              <a:gdLst/>
              <a:ahLst/>
              <a:cxnLst/>
              <a:rect r="r" b="b" t="t" l="l"/>
              <a:pathLst>
                <a:path h="1413510" w="7535672">
                  <a:moveTo>
                    <a:pt x="0" y="93599"/>
                  </a:moveTo>
                  <a:cubicBezTo>
                    <a:pt x="0" y="41910"/>
                    <a:pt x="41910" y="0"/>
                    <a:pt x="93599" y="0"/>
                  </a:cubicBezTo>
                  <a:lnTo>
                    <a:pt x="7442073" y="0"/>
                  </a:lnTo>
                  <a:cubicBezTo>
                    <a:pt x="7493762" y="0"/>
                    <a:pt x="7535672" y="41910"/>
                    <a:pt x="7535672" y="93599"/>
                  </a:cubicBezTo>
                  <a:lnTo>
                    <a:pt x="7535672" y="1319911"/>
                  </a:lnTo>
                  <a:cubicBezTo>
                    <a:pt x="7535672" y="1371600"/>
                    <a:pt x="7493762" y="1413510"/>
                    <a:pt x="7442073" y="1413510"/>
                  </a:cubicBezTo>
                  <a:lnTo>
                    <a:pt x="93599" y="1413510"/>
                  </a:lnTo>
                  <a:cubicBezTo>
                    <a:pt x="41910" y="1413510"/>
                    <a:pt x="0" y="1371600"/>
                    <a:pt x="0" y="1319911"/>
                  </a:cubicBezTo>
                  <a:close/>
                </a:path>
              </a:pathLst>
            </a:custGeom>
            <a:solidFill>
              <a:srgbClr val="F2FCFD"/>
            </a:solidFill>
            <a:ln w="23831" cap="sq">
              <a:solidFill>
                <a:srgbClr val="2BB6BD"/>
              </a:solidFill>
              <a:prstDash val="solid"/>
              <a:miter/>
            </a:ln>
          </p:spPr>
        </p:sp>
      </p:grpSp>
      <p:grpSp>
        <p:nvGrpSpPr>
          <p:cNvPr name="Group 53" id="53"/>
          <p:cNvGrpSpPr/>
          <p:nvPr/>
        </p:nvGrpSpPr>
        <p:grpSpPr>
          <a:xfrm rot="0">
            <a:off x="1331490" y="7954632"/>
            <a:ext cx="5023980" cy="1036368"/>
            <a:chOff x="0" y="0"/>
            <a:chExt cx="6698640" cy="1381824"/>
          </a:xfrm>
        </p:grpSpPr>
        <p:sp>
          <p:nvSpPr>
            <p:cNvPr name="Freeform 54" id="54"/>
            <p:cNvSpPr/>
            <p:nvPr/>
          </p:nvSpPr>
          <p:spPr>
            <a:xfrm flipH="false" flipV="false" rot="0">
              <a:off x="0" y="0"/>
              <a:ext cx="6698642" cy="1381824"/>
            </a:xfrm>
            <a:custGeom>
              <a:avLst/>
              <a:gdLst/>
              <a:ahLst/>
              <a:cxnLst/>
              <a:rect r="r" b="b" t="t" l="l"/>
              <a:pathLst>
                <a:path h="1381824" w="6698642">
                  <a:moveTo>
                    <a:pt x="0" y="0"/>
                  </a:moveTo>
                  <a:lnTo>
                    <a:pt x="6698642" y="0"/>
                  </a:lnTo>
                  <a:lnTo>
                    <a:pt x="6698642" y="1381824"/>
                  </a:lnTo>
                  <a:lnTo>
                    <a:pt x="0" y="1381824"/>
                  </a:lnTo>
                  <a:close/>
                </a:path>
              </a:pathLst>
            </a:custGeom>
            <a:blipFill>
              <a:blip r:embed="rId3">
                <a:alphaModFix amt="0"/>
              </a:blip>
              <a:stretch>
                <a:fillRect l="0" t="-44457" r="0" b="-44457"/>
              </a:stretch>
            </a:blipFill>
          </p:spPr>
        </p:sp>
        <p:sp>
          <p:nvSpPr>
            <p:cNvPr name="TextBox 55" id="55"/>
            <p:cNvSpPr txBox="true"/>
            <p:nvPr/>
          </p:nvSpPr>
          <p:spPr>
            <a:xfrm>
              <a:off x="0" y="9525"/>
              <a:ext cx="6698640" cy="1372299"/>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Unsichere Over-the-Air-Updates (</a:t>
              </a:r>
              <a:r>
                <a:rPr lang="en-US" b="true" sz="1876" u="sng">
                  <a:solidFill>
                    <a:srgbClr val="0C1D4B"/>
                  </a:solidFill>
                  <a:latin typeface="Montserrat Bold"/>
                  <a:ea typeface="Montserrat Bold"/>
                  <a:cs typeface="Montserrat Bold"/>
                  <a:sym typeface="Montserrat Bold"/>
                </a:rPr>
                <a:t>OTA</a:t>
              </a:r>
              <a:r>
                <a:rPr lang="en-US" sz="1876" b="true">
                  <a:solidFill>
                    <a:srgbClr val="0C1D4B"/>
                  </a:solidFill>
                  <a:latin typeface="Montserrat Bold"/>
                  <a:ea typeface="Montserrat Bold"/>
                  <a:cs typeface="Montserrat Bold"/>
                  <a:sym typeface="Montserrat Bold"/>
                </a:rPr>
                <a:t>)</a:t>
              </a:r>
            </a:p>
          </p:txBody>
        </p:sp>
      </p:grpSp>
      <p:grpSp>
        <p:nvGrpSpPr>
          <p:cNvPr name="Group 56" id="56"/>
          <p:cNvGrpSpPr/>
          <p:nvPr/>
        </p:nvGrpSpPr>
        <p:grpSpPr>
          <a:xfrm rot="0">
            <a:off x="7057349" y="4174731"/>
            <a:ext cx="5651792" cy="1060199"/>
            <a:chOff x="0" y="0"/>
            <a:chExt cx="7535723" cy="1413599"/>
          </a:xfrm>
        </p:grpSpPr>
        <p:sp>
          <p:nvSpPr>
            <p:cNvPr name="Freeform 57" id="57"/>
            <p:cNvSpPr/>
            <p:nvPr/>
          </p:nvSpPr>
          <p:spPr>
            <a:xfrm flipH="false" flipV="false" rot="0">
              <a:off x="0" y="0"/>
              <a:ext cx="7535672" cy="1413510"/>
            </a:xfrm>
            <a:custGeom>
              <a:avLst/>
              <a:gdLst/>
              <a:ahLst/>
              <a:cxnLst/>
              <a:rect r="r" b="b" t="t" l="l"/>
              <a:pathLst>
                <a:path h="1413510" w="7535672">
                  <a:moveTo>
                    <a:pt x="0" y="93599"/>
                  </a:moveTo>
                  <a:cubicBezTo>
                    <a:pt x="0" y="41910"/>
                    <a:pt x="41910" y="0"/>
                    <a:pt x="93599" y="0"/>
                  </a:cubicBezTo>
                  <a:lnTo>
                    <a:pt x="7442073" y="0"/>
                  </a:lnTo>
                  <a:cubicBezTo>
                    <a:pt x="7493762" y="0"/>
                    <a:pt x="7535672" y="41910"/>
                    <a:pt x="7535672" y="93599"/>
                  </a:cubicBezTo>
                  <a:lnTo>
                    <a:pt x="7535672" y="1319911"/>
                  </a:lnTo>
                  <a:cubicBezTo>
                    <a:pt x="7535672" y="1371600"/>
                    <a:pt x="7493762" y="1413510"/>
                    <a:pt x="7442073" y="1413510"/>
                  </a:cubicBezTo>
                  <a:lnTo>
                    <a:pt x="93599" y="1413510"/>
                  </a:lnTo>
                  <a:cubicBezTo>
                    <a:pt x="41910" y="1413510"/>
                    <a:pt x="0" y="1371600"/>
                    <a:pt x="0" y="1319911"/>
                  </a:cubicBezTo>
                  <a:close/>
                </a:path>
              </a:pathLst>
            </a:custGeom>
            <a:solidFill>
              <a:srgbClr val="F2FCFD"/>
            </a:solidFill>
            <a:ln w="23831" cap="sq">
              <a:solidFill>
                <a:srgbClr val="2BB6BD"/>
              </a:solidFill>
              <a:prstDash val="solid"/>
              <a:miter/>
            </a:ln>
          </p:spPr>
        </p:sp>
      </p:grpSp>
      <p:grpSp>
        <p:nvGrpSpPr>
          <p:cNvPr name="Group 58" id="58"/>
          <p:cNvGrpSpPr/>
          <p:nvPr/>
        </p:nvGrpSpPr>
        <p:grpSpPr>
          <a:xfrm rot="0">
            <a:off x="7371255" y="4186647"/>
            <a:ext cx="5023980" cy="1036368"/>
            <a:chOff x="0" y="0"/>
            <a:chExt cx="6698640" cy="1381824"/>
          </a:xfrm>
        </p:grpSpPr>
        <p:sp>
          <p:nvSpPr>
            <p:cNvPr name="Freeform 59" id="59"/>
            <p:cNvSpPr/>
            <p:nvPr/>
          </p:nvSpPr>
          <p:spPr>
            <a:xfrm flipH="false" flipV="false" rot="0">
              <a:off x="0" y="0"/>
              <a:ext cx="6698642" cy="1381824"/>
            </a:xfrm>
            <a:custGeom>
              <a:avLst/>
              <a:gdLst/>
              <a:ahLst/>
              <a:cxnLst/>
              <a:rect r="r" b="b" t="t" l="l"/>
              <a:pathLst>
                <a:path h="1381824" w="6698642">
                  <a:moveTo>
                    <a:pt x="0" y="0"/>
                  </a:moveTo>
                  <a:lnTo>
                    <a:pt x="6698642" y="0"/>
                  </a:lnTo>
                  <a:lnTo>
                    <a:pt x="6698642" y="1381824"/>
                  </a:lnTo>
                  <a:lnTo>
                    <a:pt x="0" y="1381824"/>
                  </a:lnTo>
                  <a:close/>
                </a:path>
              </a:pathLst>
            </a:custGeom>
            <a:blipFill>
              <a:blip r:embed="rId3">
                <a:alphaModFix amt="0"/>
              </a:blip>
              <a:stretch>
                <a:fillRect l="0" t="-44457" r="0" b="-44457"/>
              </a:stretch>
            </a:blipFill>
          </p:spPr>
        </p:sp>
        <p:sp>
          <p:nvSpPr>
            <p:cNvPr name="TextBox 60" id="60"/>
            <p:cNvSpPr txBox="true"/>
            <p:nvPr/>
          </p:nvSpPr>
          <p:spPr>
            <a:xfrm>
              <a:off x="0" y="9525"/>
              <a:ext cx="6698640" cy="1372299"/>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Unbefugter </a:t>
              </a:r>
              <a:r>
                <a:rPr lang="en-US" b="true" sz="1876" u="sng">
                  <a:solidFill>
                    <a:srgbClr val="0C1D4B"/>
                  </a:solidFill>
                  <a:latin typeface="Montserrat Bold"/>
                  <a:ea typeface="Montserrat Bold"/>
                  <a:cs typeface="Montserrat Bold"/>
                  <a:sym typeface="Montserrat Bold"/>
                </a:rPr>
                <a:t>Fernzugriff</a:t>
              </a:r>
              <a:r>
                <a:rPr lang="en-US" sz="1876" b="true">
                  <a:solidFill>
                    <a:srgbClr val="0C1D4B"/>
                  </a:solidFill>
                  <a:latin typeface="Montserrat Bold"/>
                  <a:ea typeface="Montserrat Bold"/>
                  <a:cs typeface="Montserrat Bold"/>
                  <a:sym typeface="Montserrat Bold"/>
                </a:rPr>
                <a:t> auf die Ladeinfrastruktur</a:t>
              </a:r>
            </a:p>
          </p:txBody>
        </p:sp>
      </p:grpSp>
      <p:grpSp>
        <p:nvGrpSpPr>
          <p:cNvPr name="Group 61" id="61"/>
          <p:cNvGrpSpPr/>
          <p:nvPr/>
        </p:nvGrpSpPr>
        <p:grpSpPr>
          <a:xfrm rot="0">
            <a:off x="7059730" y="5433117"/>
            <a:ext cx="5647020" cy="1055437"/>
            <a:chOff x="0" y="0"/>
            <a:chExt cx="7529360" cy="1407249"/>
          </a:xfrm>
        </p:grpSpPr>
        <p:sp>
          <p:nvSpPr>
            <p:cNvPr name="Freeform 62" id="62"/>
            <p:cNvSpPr/>
            <p:nvPr/>
          </p:nvSpPr>
          <p:spPr>
            <a:xfrm flipH="false" flipV="false" rot="0">
              <a:off x="0" y="0"/>
              <a:ext cx="7529323" cy="1407287"/>
            </a:xfrm>
            <a:custGeom>
              <a:avLst/>
              <a:gdLst/>
              <a:ahLst/>
              <a:cxnLst/>
              <a:rect r="r" b="b" t="t" l="l"/>
              <a:pathLst>
                <a:path h="1407287" w="7529323">
                  <a:moveTo>
                    <a:pt x="0" y="93218"/>
                  </a:moveTo>
                  <a:cubicBezTo>
                    <a:pt x="0" y="41783"/>
                    <a:pt x="41783" y="0"/>
                    <a:pt x="93218" y="0"/>
                  </a:cubicBezTo>
                  <a:lnTo>
                    <a:pt x="7436104" y="0"/>
                  </a:lnTo>
                  <a:cubicBezTo>
                    <a:pt x="7487539" y="0"/>
                    <a:pt x="7529323" y="41783"/>
                    <a:pt x="7529323" y="93218"/>
                  </a:cubicBezTo>
                  <a:lnTo>
                    <a:pt x="7529323" y="1314069"/>
                  </a:lnTo>
                  <a:cubicBezTo>
                    <a:pt x="7529323" y="1365504"/>
                    <a:pt x="7487539" y="1407287"/>
                    <a:pt x="7436104" y="1407287"/>
                  </a:cubicBezTo>
                  <a:lnTo>
                    <a:pt x="93218" y="1407287"/>
                  </a:lnTo>
                  <a:cubicBezTo>
                    <a:pt x="41783" y="1407287"/>
                    <a:pt x="0" y="1365504"/>
                    <a:pt x="0" y="1314069"/>
                  </a:cubicBezTo>
                  <a:close/>
                </a:path>
              </a:pathLst>
            </a:custGeom>
            <a:solidFill>
              <a:srgbClr val="FFFFFF"/>
            </a:solidFill>
            <a:ln w="19065" cap="sq">
              <a:solidFill>
                <a:srgbClr val="D8DEE7"/>
              </a:solidFill>
              <a:prstDash val="solid"/>
              <a:miter/>
            </a:ln>
          </p:spPr>
        </p:sp>
      </p:grpSp>
      <p:grpSp>
        <p:nvGrpSpPr>
          <p:cNvPr name="Group 63" id="63"/>
          <p:cNvGrpSpPr/>
          <p:nvPr/>
        </p:nvGrpSpPr>
        <p:grpSpPr>
          <a:xfrm rot="0">
            <a:off x="7371255" y="5442642"/>
            <a:ext cx="5023980" cy="1036368"/>
            <a:chOff x="0" y="0"/>
            <a:chExt cx="6698640" cy="1381824"/>
          </a:xfrm>
        </p:grpSpPr>
        <p:sp>
          <p:nvSpPr>
            <p:cNvPr name="Freeform 64" id="64"/>
            <p:cNvSpPr/>
            <p:nvPr/>
          </p:nvSpPr>
          <p:spPr>
            <a:xfrm flipH="false" flipV="false" rot="0">
              <a:off x="0" y="0"/>
              <a:ext cx="6698642" cy="1381824"/>
            </a:xfrm>
            <a:custGeom>
              <a:avLst/>
              <a:gdLst/>
              <a:ahLst/>
              <a:cxnLst/>
              <a:rect r="r" b="b" t="t" l="l"/>
              <a:pathLst>
                <a:path h="1381824" w="6698642">
                  <a:moveTo>
                    <a:pt x="0" y="0"/>
                  </a:moveTo>
                  <a:lnTo>
                    <a:pt x="6698642" y="0"/>
                  </a:lnTo>
                  <a:lnTo>
                    <a:pt x="6698642" y="1381824"/>
                  </a:lnTo>
                  <a:lnTo>
                    <a:pt x="0" y="1381824"/>
                  </a:lnTo>
                  <a:close/>
                </a:path>
              </a:pathLst>
            </a:custGeom>
            <a:blipFill>
              <a:blip r:embed="rId3">
                <a:alphaModFix amt="0"/>
              </a:blip>
              <a:stretch>
                <a:fillRect l="0" t="-44457" r="0" b="-44457"/>
              </a:stretch>
            </a:blipFill>
          </p:spPr>
        </p:sp>
        <p:sp>
          <p:nvSpPr>
            <p:cNvPr name="TextBox 65" id="65"/>
            <p:cNvSpPr txBox="true"/>
            <p:nvPr/>
          </p:nvSpPr>
          <p:spPr>
            <a:xfrm>
              <a:off x="0" y="9525"/>
              <a:ext cx="6698640" cy="1372299"/>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Denial-of-Service gegen die Leitstelle</a:t>
              </a:r>
            </a:p>
          </p:txBody>
        </p:sp>
      </p:grpSp>
      <p:grpSp>
        <p:nvGrpSpPr>
          <p:cNvPr name="Group 66" id="66"/>
          <p:cNvGrpSpPr/>
          <p:nvPr/>
        </p:nvGrpSpPr>
        <p:grpSpPr>
          <a:xfrm rot="0">
            <a:off x="7059730" y="6689112"/>
            <a:ext cx="5647020" cy="1055437"/>
            <a:chOff x="0" y="0"/>
            <a:chExt cx="7529360" cy="1407249"/>
          </a:xfrm>
        </p:grpSpPr>
        <p:sp>
          <p:nvSpPr>
            <p:cNvPr name="Freeform 67" id="67"/>
            <p:cNvSpPr/>
            <p:nvPr/>
          </p:nvSpPr>
          <p:spPr>
            <a:xfrm flipH="false" flipV="false" rot="0">
              <a:off x="0" y="0"/>
              <a:ext cx="7529323" cy="1407287"/>
            </a:xfrm>
            <a:custGeom>
              <a:avLst/>
              <a:gdLst/>
              <a:ahLst/>
              <a:cxnLst/>
              <a:rect r="r" b="b" t="t" l="l"/>
              <a:pathLst>
                <a:path h="1407287" w="7529323">
                  <a:moveTo>
                    <a:pt x="0" y="93218"/>
                  </a:moveTo>
                  <a:cubicBezTo>
                    <a:pt x="0" y="41783"/>
                    <a:pt x="41783" y="0"/>
                    <a:pt x="93218" y="0"/>
                  </a:cubicBezTo>
                  <a:lnTo>
                    <a:pt x="7436104" y="0"/>
                  </a:lnTo>
                  <a:cubicBezTo>
                    <a:pt x="7487539" y="0"/>
                    <a:pt x="7529323" y="41783"/>
                    <a:pt x="7529323" y="93218"/>
                  </a:cubicBezTo>
                  <a:lnTo>
                    <a:pt x="7529323" y="1314069"/>
                  </a:lnTo>
                  <a:cubicBezTo>
                    <a:pt x="7529323" y="1365504"/>
                    <a:pt x="7487539" y="1407287"/>
                    <a:pt x="7436104" y="1407287"/>
                  </a:cubicBezTo>
                  <a:lnTo>
                    <a:pt x="93218" y="1407287"/>
                  </a:lnTo>
                  <a:cubicBezTo>
                    <a:pt x="41783" y="1407287"/>
                    <a:pt x="0" y="1365504"/>
                    <a:pt x="0" y="1314069"/>
                  </a:cubicBezTo>
                  <a:close/>
                </a:path>
              </a:pathLst>
            </a:custGeom>
            <a:solidFill>
              <a:srgbClr val="FFFFFF"/>
            </a:solidFill>
            <a:ln w="19065" cap="sq">
              <a:solidFill>
                <a:srgbClr val="D8DEE7"/>
              </a:solidFill>
              <a:prstDash val="solid"/>
              <a:miter/>
            </a:ln>
          </p:spPr>
        </p:sp>
      </p:grpSp>
      <p:grpSp>
        <p:nvGrpSpPr>
          <p:cNvPr name="Group 68" id="68"/>
          <p:cNvGrpSpPr/>
          <p:nvPr/>
        </p:nvGrpSpPr>
        <p:grpSpPr>
          <a:xfrm rot="0">
            <a:off x="7371255" y="6698637"/>
            <a:ext cx="5023980" cy="1036368"/>
            <a:chOff x="0" y="0"/>
            <a:chExt cx="6698640" cy="1381824"/>
          </a:xfrm>
        </p:grpSpPr>
        <p:sp>
          <p:nvSpPr>
            <p:cNvPr name="Freeform 69" id="69"/>
            <p:cNvSpPr/>
            <p:nvPr/>
          </p:nvSpPr>
          <p:spPr>
            <a:xfrm flipH="false" flipV="false" rot="0">
              <a:off x="0" y="0"/>
              <a:ext cx="6698642" cy="1381824"/>
            </a:xfrm>
            <a:custGeom>
              <a:avLst/>
              <a:gdLst/>
              <a:ahLst/>
              <a:cxnLst/>
              <a:rect r="r" b="b" t="t" l="l"/>
              <a:pathLst>
                <a:path h="1381824" w="6698642">
                  <a:moveTo>
                    <a:pt x="0" y="0"/>
                  </a:moveTo>
                  <a:lnTo>
                    <a:pt x="6698642" y="0"/>
                  </a:lnTo>
                  <a:lnTo>
                    <a:pt x="6698642" y="1381824"/>
                  </a:lnTo>
                  <a:lnTo>
                    <a:pt x="0" y="1381824"/>
                  </a:lnTo>
                  <a:close/>
                </a:path>
              </a:pathLst>
            </a:custGeom>
            <a:blipFill>
              <a:blip r:embed="rId3">
                <a:alphaModFix amt="0"/>
              </a:blip>
              <a:stretch>
                <a:fillRect l="0" t="-44457" r="0" b="-44457"/>
              </a:stretch>
            </a:blipFill>
          </p:spPr>
        </p:sp>
        <p:sp>
          <p:nvSpPr>
            <p:cNvPr name="TextBox 70" id="70"/>
            <p:cNvSpPr txBox="true"/>
            <p:nvPr/>
          </p:nvSpPr>
          <p:spPr>
            <a:xfrm>
              <a:off x="0" y="9525"/>
              <a:ext cx="6698640" cy="1372299"/>
            </a:xfrm>
            <a:prstGeom prst="rect">
              <a:avLst/>
            </a:prstGeom>
          </p:spPr>
          <p:txBody>
            <a:bodyPr anchor="ctr" rtlCol="false" tIns="0" lIns="0" bIns="0" rIns="0"/>
            <a:lstStyle/>
            <a:p>
              <a:pPr algn="l">
                <a:lnSpc>
                  <a:spcPts val="2139"/>
                </a:lnSpc>
              </a:pPr>
              <a:r>
                <a:rPr lang="en-US" sz="1876" b="true">
                  <a:solidFill>
                    <a:srgbClr val="0C1D4B"/>
                  </a:solidFill>
                  <a:latin typeface="Montserrat Bold"/>
                  <a:ea typeface="Montserrat Bold"/>
                  <a:cs typeface="Montserrat Bold"/>
                  <a:sym typeface="Montserrat Bold"/>
                </a:rPr>
                <a:t>Verlust/Diebstahl mobiler Endgeräte mit Zugangsdaten</a:t>
              </a:r>
            </a:p>
          </p:txBody>
        </p:sp>
      </p:grpSp>
      <p:grpSp>
        <p:nvGrpSpPr>
          <p:cNvPr name="Group 71" id="71"/>
          <p:cNvGrpSpPr/>
          <p:nvPr/>
        </p:nvGrpSpPr>
        <p:grpSpPr>
          <a:xfrm rot="0">
            <a:off x="1070686" y="9087088"/>
            <a:ext cx="11667715" cy="480431"/>
            <a:chOff x="0" y="0"/>
            <a:chExt cx="15556954" cy="640575"/>
          </a:xfrm>
        </p:grpSpPr>
        <p:sp>
          <p:nvSpPr>
            <p:cNvPr name="Freeform 72" id="72"/>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73" id="73"/>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Gefordert: 5 · hier 7 mögliche Lösungen zur Auswahl</a:t>
              </a:r>
            </a:p>
          </p:txBody>
        </p:sp>
      </p:gr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50</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3</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3 b)</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Datensicherheit Standort- &amp; Fahrgastdaten</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a:t>
              </a:r>
              <a:r>
                <a:rPr lang="en-US" sz="1726">
                  <a:solidFill>
                    <a:srgbClr val="FFFFFF"/>
                  </a:solidFill>
                  <a:latin typeface="Montserrat"/>
                  <a:ea typeface="Montserrat"/>
                  <a:cs typeface="Montserrat"/>
                  <a:sym typeface="Montserrat"/>
                </a:rPr>
                <a:t>   Erläutern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3 × 2 = 6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Erläutern Sie </a:t>
              </a:r>
              <a:r>
                <a:rPr lang="en-US" sz="2401" u="sng">
                  <a:solidFill>
                    <a:srgbClr val="0C1D4B"/>
                  </a:solidFill>
                  <a:latin typeface="DM Sans"/>
                  <a:ea typeface="DM Sans"/>
                  <a:cs typeface="DM Sans"/>
                  <a:sym typeface="DM Sans"/>
                </a:rPr>
                <a:t>drei technische</a:t>
              </a:r>
              <a:r>
                <a:rPr lang="en-US" sz="2401">
                  <a:solidFill>
                    <a:srgbClr val="0C1D4B"/>
                  </a:solidFill>
                  <a:latin typeface="DM Sans"/>
                  <a:ea typeface="DM Sans"/>
                  <a:cs typeface="DM Sans"/>
                  <a:sym typeface="DM Sans"/>
                </a:rPr>
                <a:t> bzw. </a:t>
              </a:r>
              <a:r>
                <a:rPr lang="en-US" sz="2401" u="sng">
                  <a:solidFill>
                    <a:srgbClr val="0C1D4B"/>
                  </a:solidFill>
                  <a:latin typeface="DM Sans"/>
                  <a:ea typeface="DM Sans"/>
                  <a:cs typeface="DM Sans"/>
                  <a:sym typeface="DM Sans"/>
                </a:rPr>
                <a:t>organisatorische Maßnahmen</a:t>
              </a:r>
              <a:r>
                <a:rPr lang="en-US" sz="2401">
                  <a:solidFill>
                    <a:srgbClr val="0C1D4B"/>
                  </a:solidFill>
                  <a:latin typeface="DM Sans"/>
                  <a:ea typeface="DM Sans"/>
                  <a:cs typeface="DM Sans"/>
                  <a:sym typeface="DM Sans"/>
                </a:rPr>
                <a:t> der Datensicherheit für die Standort- und Fahrgastdaten.</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TOM: Verschlüsselung, Zugriff, Datensparsamkeit, Protokollierung.</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51</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3 b)</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Datensicherheit Standort- &amp; Fahrgastdaten</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  ·  3 × 2 = 6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TOM: Verschlüsselung, Zugriff, Datensparsamkeit, Protokollierung.</a:t>
            </a:r>
          </a:p>
        </p:txBody>
      </p:sp>
      <p:grpSp>
        <p:nvGrpSpPr>
          <p:cNvPr name="Group 30" id="30"/>
          <p:cNvGrpSpPr/>
          <p:nvPr/>
        </p:nvGrpSpPr>
        <p:grpSpPr>
          <a:xfrm rot="0">
            <a:off x="13101876" y="2353847"/>
            <a:ext cx="4200954" cy="1990944"/>
            <a:chOff x="0" y="0"/>
            <a:chExt cx="5601272" cy="2654592"/>
          </a:xfrm>
        </p:grpSpPr>
        <p:sp>
          <p:nvSpPr>
            <p:cNvPr name="Freeform 31" id="31"/>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702117"/>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Drei Maßnahmen, je ein Halbsatz. Pseudonymisierung ist bei Standortdaten der Datenschutz-Bonus.</a:t>
            </a:r>
          </a:p>
        </p:txBody>
      </p:sp>
      <p:grpSp>
        <p:nvGrpSpPr>
          <p:cNvPr name="Group 33" id="33"/>
          <p:cNvGrpSpPr/>
          <p:nvPr/>
        </p:nvGrpSpPr>
        <p:grpSpPr>
          <a:xfrm rot="0">
            <a:off x="13101876" y="5071739"/>
            <a:ext cx="4200954" cy="1990944"/>
            <a:chOff x="0" y="0"/>
            <a:chExt cx="5601272" cy="2654592"/>
          </a:xfrm>
        </p:grpSpPr>
        <p:sp>
          <p:nvSpPr>
            <p:cNvPr name="Freeform 34" id="34"/>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Standortdaten sind besonders sensibel (Bewegungsprofile) – Pseudonymisierung und Zweckbindung reduzieren das Risiko erheblich.</a:t>
            </a:r>
          </a:p>
        </p:txBody>
      </p:sp>
      <p:grpSp>
        <p:nvGrpSpPr>
          <p:cNvPr name="Group 36" id="36"/>
          <p:cNvGrpSpPr/>
          <p:nvPr/>
        </p:nvGrpSpPr>
        <p:grpSpPr>
          <a:xfrm rot="0">
            <a:off x="1019975" y="4177122"/>
            <a:ext cx="5647020" cy="2146706"/>
            <a:chOff x="0" y="0"/>
            <a:chExt cx="7529360" cy="2862275"/>
          </a:xfrm>
        </p:grpSpPr>
        <p:sp>
          <p:nvSpPr>
            <p:cNvPr name="Freeform 37" id="37"/>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0196"/>
            <a:ext cx="5078892" cy="70988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Verschlüsselung</a:t>
            </a:r>
          </a:p>
          <a:p>
            <a:pPr algn="l">
              <a:lnSpc>
                <a:spcPts val="1765"/>
              </a:lnSpc>
            </a:pPr>
            <a:r>
              <a:rPr lang="en-US" sz="1501">
                <a:solidFill>
                  <a:srgbClr val="0A3A3D"/>
                </a:solidFill>
                <a:latin typeface="DM Sans"/>
                <a:ea typeface="DM Sans"/>
                <a:cs typeface="DM Sans"/>
                <a:sym typeface="DM Sans"/>
              </a:rPr>
              <a:t>Schutz der Standort- und Fahrgastdaten bei Übertragung und Speicherung.</a:t>
            </a:r>
          </a:p>
        </p:txBody>
      </p:sp>
      <p:grpSp>
        <p:nvGrpSpPr>
          <p:cNvPr name="Group 39" id="39"/>
          <p:cNvGrpSpPr/>
          <p:nvPr/>
        </p:nvGrpSpPr>
        <p:grpSpPr>
          <a:xfrm rot="0">
            <a:off x="1019975" y="6551838"/>
            <a:ext cx="5647020" cy="2146706"/>
            <a:chOff x="0" y="0"/>
            <a:chExt cx="7529360" cy="2862275"/>
          </a:xfrm>
        </p:grpSpPr>
        <p:sp>
          <p:nvSpPr>
            <p:cNvPr name="Freeform 40" id="40"/>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6684912"/>
            <a:ext cx="5078892" cy="1880559"/>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Zugriffskontrolle mit MFA</a:t>
            </a:r>
          </a:p>
          <a:p>
            <a:pPr algn="l">
              <a:lnSpc>
                <a:spcPts val="1765"/>
              </a:lnSpc>
            </a:pPr>
            <a:r>
              <a:rPr lang="en-US" sz="1501">
                <a:solidFill>
                  <a:srgbClr val="0A3A3D"/>
                </a:solidFill>
                <a:latin typeface="DM Sans"/>
                <a:ea typeface="DM Sans"/>
                <a:cs typeface="DM Sans"/>
                <a:sym typeface="DM Sans"/>
              </a:rPr>
              <a:t>Rollenbasierte Rechtevergabe für Leitstelle und Backend.</a:t>
            </a:r>
          </a:p>
        </p:txBody>
      </p:sp>
      <p:grpSp>
        <p:nvGrpSpPr>
          <p:cNvPr name="Group 42" id="42"/>
          <p:cNvGrpSpPr/>
          <p:nvPr/>
        </p:nvGrpSpPr>
        <p:grpSpPr>
          <a:xfrm rot="0">
            <a:off x="7059730" y="4177122"/>
            <a:ext cx="5647020" cy="2146706"/>
            <a:chOff x="0" y="0"/>
            <a:chExt cx="7529360" cy="2862275"/>
          </a:xfrm>
        </p:grpSpPr>
        <p:sp>
          <p:nvSpPr>
            <p:cNvPr name="Freeform 43" id="43"/>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4" id="44"/>
          <p:cNvSpPr txBox="true"/>
          <p:nvPr/>
        </p:nvSpPr>
        <p:spPr>
          <a:xfrm rot="0">
            <a:off x="7343794" y="4310196"/>
            <a:ext cx="5078892" cy="1880559"/>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Pseudonymisierung &amp; Zweckbindung</a:t>
            </a:r>
          </a:p>
          <a:p>
            <a:pPr algn="l">
              <a:lnSpc>
                <a:spcPts val="1765"/>
              </a:lnSpc>
            </a:pPr>
            <a:r>
              <a:rPr lang="en-US" sz="1501">
                <a:solidFill>
                  <a:srgbClr val="0A3A3D"/>
                </a:solidFill>
                <a:latin typeface="DM Sans"/>
                <a:ea typeface="DM Sans"/>
                <a:cs typeface="DM Sans"/>
                <a:sym typeface="DM Sans"/>
              </a:rPr>
              <a:t>Standortdaten nur zweckgebunden und datenminimierend verarbeiten.</a:t>
            </a:r>
          </a:p>
        </p:txBody>
      </p:sp>
      <p:grpSp>
        <p:nvGrpSpPr>
          <p:cNvPr name="Group 45" id="45"/>
          <p:cNvGrpSpPr/>
          <p:nvPr/>
        </p:nvGrpSpPr>
        <p:grpSpPr>
          <a:xfrm rot="0">
            <a:off x="7059730" y="6551838"/>
            <a:ext cx="5647020" cy="2146706"/>
            <a:chOff x="0" y="0"/>
            <a:chExt cx="7529360" cy="2862275"/>
          </a:xfrm>
        </p:grpSpPr>
        <p:sp>
          <p:nvSpPr>
            <p:cNvPr name="Freeform 46" id="46"/>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7" id="47"/>
          <p:cNvSpPr txBox="true"/>
          <p:nvPr/>
        </p:nvSpPr>
        <p:spPr>
          <a:xfrm rot="0">
            <a:off x="7343794" y="6684912"/>
            <a:ext cx="5078892" cy="1880559"/>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Logging &amp; Monitoring</a:t>
            </a:r>
          </a:p>
          <a:p>
            <a:pPr algn="l">
              <a:lnSpc>
                <a:spcPts val="1765"/>
              </a:lnSpc>
            </a:pPr>
            <a:r>
              <a:rPr lang="en-US" sz="1501">
                <a:solidFill>
                  <a:srgbClr val="0A3A3D"/>
                </a:solidFill>
                <a:latin typeface="DM Sans"/>
                <a:ea typeface="DM Sans"/>
                <a:cs typeface="DM Sans"/>
                <a:sym typeface="DM Sans"/>
              </a:rPr>
              <a:t>Nachvollziehbarkeit und Angriffserkennung.</a:t>
            </a:r>
          </a:p>
        </p:txBody>
      </p:sp>
      <p:grpSp>
        <p:nvGrpSpPr>
          <p:cNvPr name="Group 48" id="48"/>
          <p:cNvGrpSpPr/>
          <p:nvPr/>
        </p:nvGrpSpPr>
        <p:grpSpPr>
          <a:xfrm rot="0">
            <a:off x="1070686" y="9087088"/>
            <a:ext cx="11667715" cy="480431"/>
            <a:chOff x="0" y="0"/>
            <a:chExt cx="15556954" cy="640575"/>
          </a:xfrm>
        </p:grpSpPr>
        <p:sp>
          <p:nvSpPr>
            <p:cNvPr name="Freeform 49" id="49"/>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50" id="50"/>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Gefordert: 3 · hier 4 mögliche Lösungen zur Auswahl</a:t>
              </a:r>
            </a:p>
          </p:txBody>
        </p:sp>
      </p:gr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52</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3</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3 c)</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Risikomindernde Maßnahmen bewerten</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III</a:t>
              </a:r>
              <a:r>
                <a:rPr lang="en-US" sz="1726">
                  <a:solidFill>
                    <a:srgbClr val="FFFFFF"/>
                  </a:solidFill>
                  <a:latin typeface="Montserrat"/>
                  <a:ea typeface="Montserrat"/>
                  <a:cs typeface="Montserrat"/>
                  <a:sym typeface="Montserrat"/>
                </a:rPr>
                <a:t>   Bewerten / Begründen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4 × 3 = 12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Bewerten Sie </a:t>
              </a:r>
              <a:r>
                <a:rPr lang="en-US" sz="2401" u="sng">
                  <a:solidFill>
                    <a:srgbClr val="0C1D4B"/>
                  </a:solidFill>
                  <a:latin typeface="DM Sans"/>
                  <a:ea typeface="DM Sans"/>
                  <a:cs typeface="DM Sans"/>
                  <a:sym typeface="DM Sans"/>
                </a:rPr>
                <a:t>vier risikomindernde Sicherheitsmaßnahmen</a:t>
              </a:r>
              <a:r>
                <a:rPr lang="en-US" sz="2401">
                  <a:solidFill>
                    <a:srgbClr val="0C1D4B"/>
                  </a:solidFill>
                  <a:latin typeface="DM Sans"/>
                  <a:ea typeface="DM Sans"/>
                  <a:cs typeface="DM Sans"/>
                  <a:sym typeface="DM Sans"/>
                </a:rPr>
                <a:t> für die vernetzten Fahrzeug- und Backend-Systeme und begründen Sie jeweils.</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Je Maßnahme Nutzen + Grenze abwägen. Fahrzeugspezifisch: OTA, Bordrechner.</a:t>
              </a:r>
            </a:p>
          </p:txBody>
        </p:sp>
      </p:gr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53</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3 c)</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Risikomindernde Maßnahmen bewerten</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III  ·  4 × 3 = 12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533400"/>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Je Maßnahme </a:t>
            </a:r>
            <a:r>
              <a:rPr lang="en-US" sz="1801" u="sng">
                <a:solidFill>
                  <a:srgbClr val="23262B"/>
                </a:solidFill>
                <a:latin typeface="DM Sans"/>
                <a:ea typeface="DM Sans"/>
                <a:cs typeface="DM Sans"/>
                <a:sym typeface="DM Sans"/>
              </a:rPr>
              <a:t>Nutzen + Grenze </a:t>
            </a:r>
            <a:r>
              <a:rPr lang="en-US" sz="1801">
                <a:solidFill>
                  <a:srgbClr val="23262B"/>
                </a:solidFill>
                <a:latin typeface="DM Sans"/>
                <a:ea typeface="DM Sans"/>
                <a:cs typeface="DM Sans"/>
                <a:sym typeface="DM Sans"/>
              </a:rPr>
              <a:t>abwägen.</a:t>
            </a:r>
          </a:p>
          <a:p>
            <a:pPr algn="l" marL="326264" indent="-163132" lvl="1">
              <a:lnSpc>
                <a:spcPts val="2161"/>
              </a:lnSpc>
              <a:buFont typeface="Arial"/>
              <a:buChar char="•"/>
            </a:pPr>
            <a:r>
              <a:rPr lang="en-US" sz="1801">
                <a:solidFill>
                  <a:srgbClr val="23262B"/>
                </a:solidFill>
                <a:latin typeface="DM Sans"/>
                <a:ea typeface="DM Sans"/>
                <a:cs typeface="DM Sans"/>
                <a:sym typeface="DM Sans"/>
              </a:rPr>
              <a:t>Fahrzeugspezifisch: signierte OTA-Updates, Bordrechner-Härtung.</a:t>
            </a:r>
          </a:p>
        </p:txBody>
      </p:sp>
      <p:grpSp>
        <p:nvGrpSpPr>
          <p:cNvPr name="Group 30" id="30"/>
          <p:cNvGrpSpPr/>
          <p:nvPr/>
        </p:nvGrpSpPr>
        <p:grpSpPr>
          <a:xfrm rot="0">
            <a:off x="13101876" y="2353847"/>
            <a:ext cx="4200954" cy="1668370"/>
            <a:chOff x="0" y="0"/>
            <a:chExt cx="5601272" cy="2224494"/>
          </a:xfrm>
        </p:grpSpPr>
        <p:sp>
          <p:nvSpPr>
            <p:cNvPr name="Freeform 31" id="31"/>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4×3 = 12 P.: bewerten = Wirksamkeit + Einschränkung. Nicht nur aufzählen.</a:t>
            </a:r>
          </a:p>
        </p:txBody>
      </p:sp>
      <p:grpSp>
        <p:nvGrpSpPr>
          <p:cNvPr name="Group 33" id="33"/>
          <p:cNvGrpSpPr/>
          <p:nvPr/>
        </p:nvGrpSpPr>
        <p:grpSpPr>
          <a:xfrm rot="0">
            <a:off x="13101876" y="5071739"/>
            <a:ext cx="4200954" cy="1990944"/>
            <a:chOff x="0" y="0"/>
            <a:chExt cx="5601272" cy="2654592"/>
          </a:xfrm>
        </p:grpSpPr>
        <p:sp>
          <p:nvSpPr>
            <p:cNvPr name="Freeform 34" id="34"/>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Signierte OTA-Updates: nur mit gültigem Zertifikat signierte Firmware wird akzeptiert – schützt vor manipulierten Updates.</a:t>
            </a:r>
          </a:p>
        </p:txBody>
      </p:sp>
      <p:grpSp>
        <p:nvGrpSpPr>
          <p:cNvPr name="Group 36" id="36"/>
          <p:cNvGrpSpPr/>
          <p:nvPr/>
        </p:nvGrpSpPr>
        <p:grpSpPr>
          <a:xfrm rot="0">
            <a:off x="1019975" y="4177122"/>
            <a:ext cx="5647020" cy="1455791"/>
            <a:chOff x="0" y="0"/>
            <a:chExt cx="7529360" cy="1941055"/>
          </a:xfrm>
        </p:grpSpPr>
        <p:sp>
          <p:nvSpPr>
            <p:cNvPr name="Freeform 37" id="37"/>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0196"/>
            <a:ext cx="5078892" cy="97658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Ende-zu-Ende-Verschlüsselung Fahrzeug ↔ Backend</a:t>
            </a:r>
          </a:p>
          <a:p>
            <a:pPr algn="l">
              <a:lnSpc>
                <a:spcPts val="1765"/>
              </a:lnSpc>
            </a:pPr>
            <a:r>
              <a:rPr lang="en-US" sz="1501">
                <a:solidFill>
                  <a:srgbClr val="0A3A3D"/>
                </a:solidFill>
                <a:latin typeface="DM Sans"/>
                <a:ea typeface="DM Sans"/>
                <a:cs typeface="DM Sans"/>
                <a:sym typeface="DM Sans"/>
              </a:rPr>
              <a:t>Bewertung: sehr wirksam gegen </a:t>
            </a:r>
            <a:r>
              <a:rPr lang="en-US" sz="1501" u="sng">
                <a:solidFill>
                  <a:srgbClr val="0A3A3D"/>
                </a:solidFill>
                <a:latin typeface="DM Sans"/>
                <a:ea typeface="DM Sans"/>
                <a:cs typeface="DM Sans"/>
                <a:sym typeface="DM Sans"/>
              </a:rPr>
              <a:t>Abhören</a:t>
            </a:r>
            <a:r>
              <a:rPr lang="en-US" sz="1501">
                <a:solidFill>
                  <a:srgbClr val="0A3A3D"/>
                </a:solidFill>
                <a:latin typeface="DM Sans"/>
                <a:ea typeface="DM Sans"/>
                <a:cs typeface="DM Sans"/>
                <a:sym typeface="DM Sans"/>
              </a:rPr>
              <a:t> und </a:t>
            </a:r>
            <a:r>
              <a:rPr lang="en-US" sz="1501" u="sng">
                <a:solidFill>
                  <a:srgbClr val="0A3A3D"/>
                </a:solidFill>
                <a:latin typeface="DM Sans"/>
                <a:ea typeface="DM Sans"/>
                <a:cs typeface="DM Sans"/>
                <a:sym typeface="DM Sans"/>
              </a:rPr>
              <a:t>Manipulation der Übertragung</a:t>
            </a:r>
            <a:r>
              <a:rPr lang="en-US" sz="1501">
                <a:solidFill>
                  <a:srgbClr val="0A3A3D"/>
                </a:solidFill>
                <a:latin typeface="DM Sans"/>
                <a:ea typeface="DM Sans"/>
                <a:cs typeface="DM Sans"/>
                <a:sym typeface="DM Sans"/>
              </a:rPr>
              <a:t>.</a:t>
            </a:r>
          </a:p>
        </p:txBody>
      </p:sp>
      <p:grpSp>
        <p:nvGrpSpPr>
          <p:cNvPr name="Group 39" id="39"/>
          <p:cNvGrpSpPr/>
          <p:nvPr/>
        </p:nvGrpSpPr>
        <p:grpSpPr>
          <a:xfrm rot="0">
            <a:off x="1019975" y="5860933"/>
            <a:ext cx="5647020" cy="1455791"/>
            <a:chOff x="0" y="0"/>
            <a:chExt cx="7529360" cy="1941055"/>
          </a:xfrm>
        </p:grpSpPr>
        <p:sp>
          <p:nvSpPr>
            <p:cNvPr name="Freeform 40" id="40"/>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5994006"/>
            <a:ext cx="5078892" cy="118965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Netzsegmentierung (Fahrzeug/Depot/Office)</a:t>
            </a:r>
          </a:p>
          <a:p>
            <a:pPr algn="l">
              <a:lnSpc>
                <a:spcPts val="1765"/>
              </a:lnSpc>
            </a:pPr>
            <a:r>
              <a:rPr lang="en-US" sz="1501">
                <a:solidFill>
                  <a:srgbClr val="0A3A3D"/>
                </a:solidFill>
                <a:latin typeface="DM Sans"/>
                <a:ea typeface="DM Sans"/>
                <a:cs typeface="DM Sans"/>
                <a:sym typeface="DM Sans"/>
              </a:rPr>
              <a:t>Bewertung: begrenzt die Ausbreitung eines kompromittierten Systems.</a:t>
            </a:r>
          </a:p>
        </p:txBody>
      </p:sp>
      <p:grpSp>
        <p:nvGrpSpPr>
          <p:cNvPr name="Group 42" id="42"/>
          <p:cNvGrpSpPr/>
          <p:nvPr/>
        </p:nvGrpSpPr>
        <p:grpSpPr>
          <a:xfrm rot="0">
            <a:off x="1019975" y="7544743"/>
            <a:ext cx="5647020" cy="1455791"/>
            <a:chOff x="0" y="0"/>
            <a:chExt cx="7529360" cy="1941055"/>
          </a:xfrm>
        </p:grpSpPr>
        <p:sp>
          <p:nvSpPr>
            <p:cNvPr name="Freeform 43" id="43"/>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44" id="44"/>
          <p:cNvSpPr txBox="true"/>
          <p:nvPr/>
        </p:nvSpPr>
        <p:spPr>
          <a:xfrm rot="0">
            <a:off x="1304039" y="7677817"/>
            <a:ext cx="5078892" cy="70988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Signierte OTA-Updates mit Zertifikaten</a:t>
            </a:r>
          </a:p>
          <a:p>
            <a:pPr algn="l">
              <a:lnSpc>
                <a:spcPts val="1765"/>
              </a:lnSpc>
            </a:pPr>
            <a:r>
              <a:rPr lang="en-US" sz="1501">
                <a:solidFill>
                  <a:srgbClr val="0A3A3D"/>
                </a:solidFill>
                <a:latin typeface="DM Sans"/>
                <a:ea typeface="DM Sans"/>
                <a:cs typeface="DM Sans"/>
                <a:sym typeface="DM Sans"/>
              </a:rPr>
              <a:t>Bewertung: verhindert das </a:t>
            </a:r>
            <a:r>
              <a:rPr lang="en-US" sz="1501" u="sng">
                <a:solidFill>
                  <a:srgbClr val="0A3A3D"/>
                </a:solidFill>
                <a:latin typeface="DM Sans"/>
                <a:ea typeface="DM Sans"/>
                <a:cs typeface="DM Sans"/>
                <a:sym typeface="DM Sans"/>
              </a:rPr>
              <a:t>Einspielen manipulierter Software</a:t>
            </a:r>
            <a:r>
              <a:rPr lang="en-US" sz="1501">
                <a:solidFill>
                  <a:srgbClr val="0A3A3D"/>
                </a:solidFill>
                <a:latin typeface="DM Sans"/>
                <a:ea typeface="DM Sans"/>
                <a:cs typeface="DM Sans"/>
                <a:sym typeface="DM Sans"/>
              </a:rPr>
              <a:t> auf die Bordrechner.</a:t>
            </a:r>
          </a:p>
        </p:txBody>
      </p:sp>
      <p:grpSp>
        <p:nvGrpSpPr>
          <p:cNvPr name="Group 45" id="45"/>
          <p:cNvGrpSpPr/>
          <p:nvPr/>
        </p:nvGrpSpPr>
        <p:grpSpPr>
          <a:xfrm rot="0">
            <a:off x="7059730" y="4177122"/>
            <a:ext cx="5647020" cy="1455791"/>
            <a:chOff x="0" y="0"/>
            <a:chExt cx="7529360" cy="1941055"/>
          </a:xfrm>
        </p:grpSpPr>
        <p:sp>
          <p:nvSpPr>
            <p:cNvPr name="Freeform 46" id="46"/>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47" id="47"/>
          <p:cNvSpPr txBox="true"/>
          <p:nvPr/>
        </p:nvSpPr>
        <p:spPr>
          <a:xfrm rot="0">
            <a:off x="7343794" y="4310196"/>
            <a:ext cx="5078892" cy="70988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Anomalie-Monitoring / IDS im Backend</a:t>
            </a:r>
          </a:p>
          <a:p>
            <a:pPr algn="l">
              <a:lnSpc>
                <a:spcPts val="1765"/>
              </a:lnSpc>
            </a:pPr>
            <a:r>
              <a:rPr lang="en-US" sz="1501">
                <a:solidFill>
                  <a:srgbClr val="0A3A3D"/>
                </a:solidFill>
                <a:latin typeface="DM Sans"/>
                <a:ea typeface="DM Sans"/>
                <a:cs typeface="DM Sans"/>
                <a:sym typeface="DM Sans"/>
              </a:rPr>
              <a:t>Bewertung: erkennt Angriffe früh, erfordert jedoch </a:t>
            </a:r>
            <a:r>
              <a:rPr lang="en-US" sz="1501" u="sng">
                <a:solidFill>
                  <a:srgbClr val="0A3A3D"/>
                </a:solidFill>
                <a:latin typeface="DM Sans"/>
                <a:ea typeface="DM Sans"/>
                <a:cs typeface="DM Sans"/>
                <a:sym typeface="DM Sans"/>
              </a:rPr>
              <a:t>Auswertung</a:t>
            </a:r>
            <a:r>
              <a:rPr lang="en-US" sz="1501">
                <a:solidFill>
                  <a:srgbClr val="0A3A3D"/>
                </a:solidFill>
                <a:latin typeface="DM Sans"/>
                <a:ea typeface="DM Sans"/>
                <a:cs typeface="DM Sans"/>
                <a:sym typeface="DM Sans"/>
              </a:rPr>
              <a:t>.</a:t>
            </a:r>
          </a:p>
        </p:txBody>
      </p:sp>
      <p:grpSp>
        <p:nvGrpSpPr>
          <p:cNvPr name="Group 48" id="48"/>
          <p:cNvGrpSpPr/>
          <p:nvPr/>
        </p:nvGrpSpPr>
        <p:grpSpPr>
          <a:xfrm rot="0">
            <a:off x="7059730" y="5860933"/>
            <a:ext cx="5647020" cy="1455791"/>
            <a:chOff x="0" y="0"/>
            <a:chExt cx="7529360" cy="1941055"/>
          </a:xfrm>
        </p:grpSpPr>
        <p:sp>
          <p:nvSpPr>
            <p:cNvPr name="Freeform 49" id="49"/>
            <p:cNvSpPr/>
            <p:nvPr/>
          </p:nvSpPr>
          <p:spPr>
            <a:xfrm flipH="false" flipV="false" rot="0">
              <a:off x="0" y="0"/>
              <a:ext cx="7529322" cy="1941068"/>
            </a:xfrm>
            <a:custGeom>
              <a:avLst/>
              <a:gdLst/>
              <a:ahLst/>
              <a:cxnLst/>
              <a:rect r="r" b="b" t="t" l="l"/>
              <a:pathLst>
                <a:path h="1941068" w="7529322">
                  <a:moveTo>
                    <a:pt x="0" y="92710"/>
                  </a:moveTo>
                  <a:cubicBezTo>
                    <a:pt x="0" y="41529"/>
                    <a:pt x="41529" y="0"/>
                    <a:pt x="92710" y="0"/>
                  </a:cubicBezTo>
                  <a:lnTo>
                    <a:pt x="7436612" y="0"/>
                  </a:lnTo>
                  <a:cubicBezTo>
                    <a:pt x="7487793" y="0"/>
                    <a:pt x="7529322" y="41529"/>
                    <a:pt x="7529322" y="92710"/>
                  </a:cubicBezTo>
                  <a:lnTo>
                    <a:pt x="7529322" y="1848358"/>
                  </a:lnTo>
                  <a:cubicBezTo>
                    <a:pt x="7529322" y="1899539"/>
                    <a:pt x="7487793" y="1941068"/>
                    <a:pt x="7436612" y="1941068"/>
                  </a:cubicBezTo>
                  <a:lnTo>
                    <a:pt x="92710" y="1941068"/>
                  </a:lnTo>
                  <a:cubicBezTo>
                    <a:pt x="41529" y="1941068"/>
                    <a:pt x="0" y="1899539"/>
                    <a:pt x="0" y="1848358"/>
                  </a:cubicBezTo>
                  <a:close/>
                </a:path>
              </a:pathLst>
            </a:custGeom>
            <a:solidFill>
              <a:srgbClr val="5CE1E6"/>
            </a:solidFill>
            <a:ln w="19065" cap="sq">
              <a:solidFill>
                <a:srgbClr val="5CE1E6"/>
              </a:solidFill>
              <a:prstDash val="solid"/>
              <a:miter/>
            </a:ln>
          </p:spPr>
        </p:sp>
      </p:grpSp>
      <p:sp>
        <p:nvSpPr>
          <p:cNvPr name="TextBox 50" id="50"/>
          <p:cNvSpPr txBox="true"/>
          <p:nvPr/>
        </p:nvSpPr>
        <p:spPr>
          <a:xfrm rot="0">
            <a:off x="7343794" y="5994006"/>
            <a:ext cx="5078892" cy="709883"/>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Härtung der Bordrechner</a:t>
            </a:r>
          </a:p>
          <a:p>
            <a:pPr algn="l">
              <a:lnSpc>
                <a:spcPts val="1765"/>
              </a:lnSpc>
            </a:pPr>
            <a:r>
              <a:rPr lang="en-US" sz="1501">
                <a:solidFill>
                  <a:srgbClr val="0A3A3D"/>
                </a:solidFill>
                <a:latin typeface="DM Sans"/>
                <a:ea typeface="DM Sans"/>
                <a:cs typeface="DM Sans"/>
                <a:sym typeface="DM Sans"/>
              </a:rPr>
              <a:t>Bewertung: reduziert die </a:t>
            </a:r>
            <a:r>
              <a:rPr lang="en-US" sz="1501" u="sng">
                <a:solidFill>
                  <a:srgbClr val="0A3A3D"/>
                </a:solidFill>
                <a:latin typeface="DM Sans"/>
                <a:ea typeface="DM Sans"/>
                <a:cs typeface="DM Sans"/>
                <a:sym typeface="DM Sans"/>
              </a:rPr>
              <a:t>Angriffsfläche</a:t>
            </a:r>
            <a:r>
              <a:rPr lang="en-US" sz="1501">
                <a:solidFill>
                  <a:srgbClr val="0A3A3D"/>
                </a:solidFill>
                <a:latin typeface="DM Sans"/>
                <a:ea typeface="DM Sans"/>
                <a:cs typeface="DM Sans"/>
                <a:sym typeface="DM Sans"/>
              </a:rPr>
              <a:t> der Fahrzeugsysteme.</a:t>
            </a:r>
          </a:p>
        </p:txBody>
      </p:sp>
      <p:grpSp>
        <p:nvGrpSpPr>
          <p:cNvPr name="Group 51" id="51"/>
          <p:cNvGrpSpPr/>
          <p:nvPr/>
        </p:nvGrpSpPr>
        <p:grpSpPr>
          <a:xfrm rot="0">
            <a:off x="1070686" y="9087088"/>
            <a:ext cx="11667715" cy="480431"/>
            <a:chOff x="0" y="0"/>
            <a:chExt cx="15556954" cy="640575"/>
          </a:xfrm>
        </p:grpSpPr>
        <p:sp>
          <p:nvSpPr>
            <p:cNvPr name="Freeform 52" id="52"/>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53" id="53"/>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Gefordert: 4 · hier 5 mögliche Lösungen zur Auswahl</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54</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a:t>
              </a:r>
            </a:p>
          </p:txBody>
        </p:sp>
      </p:grpSp>
      <p:grpSp>
        <p:nvGrpSpPr>
          <p:cNvPr name="Group 15" id="15"/>
          <p:cNvGrpSpPr/>
          <p:nvPr/>
        </p:nvGrpSpPr>
        <p:grpSpPr>
          <a:xfrm rot="0">
            <a:off x="1029500" y="3088510"/>
            <a:ext cx="12354049" cy="823608"/>
            <a:chOff x="0" y="0"/>
            <a:chExt cx="16472065" cy="1098144"/>
          </a:xfrm>
        </p:grpSpPr>
        <p:sp>
          <p:nvSpPr>
            <p:cNvPr name="Freeform 16" id="16"/>
            <p:cNvSpPr/>
            <p:nvPr/>
          </p:nvSpPr>
          <p:spPr>
            <a:xfrm flipH="false" flipV="false" rot="0">
              <a:off x="0" y="0"/>
              <a:ext cx="16472069" cy="1098138"/>
            </a:xfrm>
            <a:custGeom>
              <a:avLst/>
              <a:gdLst/>
              <a:ahLst/>
              <a:cxnLst/>
              <a:rect r="r" b="b" t="t" l="l"/>
              <a:pathLst>
                <a:path h="1098138" w="16472069">
                  <a:moveTo>
                    <a:pt x="0" y="0"/>
                  </a:moveTo>
                  <a:lnTo>
                    <a:pt x="16472069" y="0"/>
                  </a:lnTo>
                  <a:lnTo>
                    <a:pt x="16472069" y="1098138"/>
                  </a:lnTo>
                  <a:lnTo>
                    <a:pt x="0" y="1098138"/>
                  </a:lnTo>
                  <a:close/>
                </a:path>
              </a:pathLst>
            </a:custGeom>
            <a:blipFill>
              <a:blip r:embed="rId3">
                <a:alphaModFix amt="0"/>
              </a:blip>
              <a:stretch>
                <a:fillRect l="0" t="-242275" r="0" b="-242275"/>
              </a:stretch>
            </a:blipFill>
          </p:spPr>
        </p:sp>
        <p:sp>
          <p:nvSpPr>
            <p:cNvPr name="TextBox 17" id="17"/>
            <p:cNvSpPr txBox="true"/>
            <p:nvPr/>
          </p:nvSpPr>
          <p:spPr>
            <a:xfrm>
              <a:off x="0" y="0"/>
              <a:ext cx="16472065" cy="1098144"/>
            </a:xfrm>
            <a:prstGeom prst="rect">
              <a:avLst/>
            </a:prstGeom>
          </p:spPr>
          <p:txBody>
            <a:bodyPr anchor="ctr" rtlCol="false" tIns="0" lIns="0" bIns="0" rIns="0"/>
            <a:lstStyle/>
            <a:p>
              <a:pPr algn="l">
                <a:lnSpc>
                  <a:spcPts val="3602"/>
                </a:lnSpc>
              </a:pPr>
              <a:r>
                <a:rPr lang="en-US" b="true" sz="3002" spc="450">
                  <a:solidFill>
                    <a:srgbClr val="FF4000"/>
                  </a:solidFill>
                  <a:latin typeface="Montserrat Bold"/>
                  <a:ea typeface="Montserrat Bold"/>
                  <a:cs typeface="Montserrat Bold"/>
                  <a:sym typeface="Montserrat Bold"/>
                </a:rPr>
                <a:t>AUFGABE 4</a:t>
              </a:r>
            </a:p>
          </p:txBody>
        </p:sp>
      </p:grpSp>
      <p:sp>
        <p:nvSpPr>
          <p:cNvPr name="TextBox 18" id="18"/>
          <p:cNvSpPr txBox="true"/>
          <p:nvPr/>
        </p:nvSpPr>
        <p:spPr>
          <a:xfrm rot="0">
            <a:off x="988324" y="3921643"/>
            <a:ext cx="16197539" cy="2186749"/>
          </a:xfrm>
          <a:prstGeom prst="rect">
            <a:avLst/>
          </a:prstGeom>
        </p:spPr>
        <p:txBody>
          <a:bodyPr anchor="t" rtlCol="false" tIns="0" lIns="0" bIns="0" rIns="0">
            <a:spAutoFit/>
          </a:bodyPr>
          <a:lstStyle/>
          <a:p>
            <a:pPr algn="l">
              <a:lnSpc>
                <a:spcPts val="7767"/>
              </a:lnSpc>
            </a:pPr>
            <a:r>
              <a:rPr lang="en-US" sz="6605" b="true">
                <a:solidFill>
                  <a:srgbClr val="0C1D4B"/>
                </a:solidFill>
                <a:latin typeface="Montserrat Bold"/>
                <a:ea typeface="Montserrat Bold"/>
                <a:cs typeface="Montserrat Bold"/>
                <a:sym typeface="Montserrat Bold"/>
              </a:rPr>
              <a:t>Rechtliche Vorgaben &amp; Nachweis</a:t>
            </a:r>
          </a:p>
        </p:txBody>
      </p:sp>
      <p:sp>
        <p:nvSpPr>
          <p:cNvPr name="TextBox 19" id="19"/>
          <p:cNvSpPr txBox="true"/>
          <p:nvPr/>
        </p:nvSpPr>
        <p:spPr>
          <a:xfrm rot="0">
            <a:off x="1070686" y="6501146"/>
            <a:ext cx="15099392" cy="706742"/>
          </a:xfrm>
          <a:prstGeom prst="rect">
            <a:avLst/>
          </a:prstGeom>
        </p:spPr>
        <p:txBody>
          <a:bodyPr anchor="t" rtlCol="false" tIns="0" lIns="0" bIns="0" rIns="0">
            <a:spAutoFit/>
          </a:bodyPr>
          <a:lstStyle/>
          <a:p>
            <a:pPr algn="l">
              <a:lnSpc>
                <a:spcPts val="2837"/>
              </a:lnSpc>
            </a:pPr>
            <a:r>
              <a:rPr lang="en-US" sz="2251">
                <a:solidFill>
                  <a:srgbClr val="23262B"/>
                </a:solidFill>
                <a:latin typeface="DM Sans"/>
                <a:ea typeface="DM Sans"/>
                <a:cs typeface="DM Sans"/>
                <a:sym typeface="DM Sans"/>
              </a:rPr>
              <a:t>Bei der Verarbeitung von Standort-, Video- und </a:t>
            </a:r>
            <a:r>
              <a:rPr lang="en-US" sz="2251" u="sng">
                <a:solidFill>
                  <a:srgbClr val="23262B"/>
                </a:solidFill>
                <a:latin typeface="DM Sans"/>
                <a:ea typeface="DM Sans"/>
                <a:cs typeface="DM Sans"/>
                <a:sym typeface="DM Sans"/>
              </a:rPr>
              <a:t>Fahrgastdaten</a:t>
            </a:r>
            <a:r>
              <a:rPr lang="en-US" sz="2251">
                <a:solidFill>
                  <a:srgbClr val="23262B"/>
                </a:solidFill>
                <a:latin typeface="DM Sans"/>
                <a:ea typeface="DM Sans"/>
                <a:cs typeface="DM Sans"/>
                <a:sym typeface="DM Sans"/>
              </a:rPr>
              <a:t> sowie im Betrieb sind organisatorische und rechtliche Vorgaben einzuhalten.</a:t>
            </a:r>
          </a:p>
        </p:txBody>
      </p:sp>
      <p:grpSp>
        <p:nvGrpSpPr>
          <p:cNvPr name="Group 20" id="20"/>
          <p:cNvGrpSpPr/>
          <p:nvPr/>
        </p:nvGrpSpPr>
        <p:grpSpPr>
          <a:xfrm rot="0">
            <a:off x="1061152" y="8295132"/>
            <a:ext cx="3038942" cy="870118"/>
            <a:chOff x="0" y="0"/>
            <a:chExt cx="4051922" cy="1160158"/>
          </a:xfrm>
        </p:grpSpPr>
        <p:sp>
          <p:nvSpPr>
            <p:cNvPr name="Freeform 21" id="21"/>
            <p:cNvSpPr/>
            <p:nvPr/>
          </p:nvSpPr>
          <p:spPr>
            <a:xfrm flipH="false" flipV="false" rot="0">
              <a:off x="0" y="0"/>
              <a:ext cx="4051935" cy="1160145"/>
            </a:xfrm>
            <a:custGeom>
              <a:avLst/>
              <a:gdLst/>
              <a:ahLst/>
              <a:cxnLst/>
              <a:rect r="r" b="b" t="t" l="l"/>
              <a:pathLst>
                <a:path h="1160145" w="4051935">
                  <a:moveTo>
                    <a:pt x="0" y="224536"/>
                  </a:moveTo>
                  <a:cubicBezTo>
                    <a:pt x="0" y="100584"/>
                    <a:pt x="100584" y="0"/>
                    <a:pt x="224536" y="0"/>
                  </a:cubicBezTo>
                  <a:lnTo>
                    <a:pt x="3827399" y="0"/>
                  </a:lnTo>
                  <a:cubicBezTo>
                    <a:pt x="3951351" y="0"/>
                    <a:pt x="4051935" y="100584"/>
                    <a:pt x="4051935" y="224536"/>
                  </a:cubicBezTo>
                  <a:lnTo>
                    <a:pt x="4051935" y="935609"/>
                  </a:lnTo>
                  <a:cubicBezTo>
                    <a:pt x="4051935" y="1059561"/>
                    <a:pt x="3951351" y="1160145"/>
                    <a:pt x="3827399" y="1160145"/>
                  </a:cubicBezTo>
                  <a:lnTo>
                    <a:pt x="224536" y="1160145"/>
                  </a:lnTo>
                  <a:cubicBezTo>
                    <a:pt x="100584" y="1160145"/>
                    <a:pt x="0" y="1059688"/>
                    <a:pt x="0" y="935609"/>
                  </a:cubicBezTo>
                  <a:close/>
                </a:path>
              </a:pathLst>
            </a:custGeom>
            <a:solidFill>
              <a:srgbClr val="5CE1E6"/>
            </a:solidFill>
            <a:ln w="19065" cap="sq">
              <a:solidFill>
                <a:srgbClr val="5CE1E6"/>
              </a:solidFill>
              <a:prstDash val="solid"/>
              <a:miter/>
            </a:ln>
          </p:spPr>
        </p:sp>
      </p:grpSp>
      <p:grpSp>
        <p:nvGrpSpPr>
          <p:cNvPr name="Group 22" id="22"/>
          <p:cNvGrpSpPr/>
          <p:nvPr/>
        </p:nvGrpSpPr>
        <p:grpSpPr>
          <a:xfrm rot="0">
            <a:off x="1070686" y="8304667"/>
            <a:ext cx="3019882" cy="851059"/>
            <a:chOff x="0" y="0"/>
            <a:chExt cx="4026510" cy="1134745"/>
          </a:xfrm>
        </p:grpSpPr>
        <p:sp>
          <p:nvSpPr>
            <p:cNvPr name="Freeform 23" id="23"/>
            <p:cNvSpPr/>
            <p:nvPr/>
          </p:nvSpPr>
          <p:spPr>
            <a:xfrm flipH="false" flipV="false" rot="0">
              <a:off x="0" y="0"/>
              <a:ext cx="4026506" cy="1134743"/>
            </a:xfrm>
            <a:custGeom>
              <a:avLst/>
              <a:gdLst/>
              <a:ahLst/>
              <a:cxnLst/>
              <a:rect r="r" b="b" t="t" l="l"/>
              <a:pathLst>
                <a:path h="1134743" w="4026506">
                  <a:moveTo>
                    <a:pt x="0" y="0"/>
                  </a:moveTo>
                  <a:lnTo>
                    <a:pt x="4026506" y="0"/>
                  </a:lnTo>
                  <a:lnTo>
                    <a:pt x="4026506" y="1134743"/>
                  </a:lnTo>
                  <a:lnTo>
                    <a:pt x="0" y="1134743"/>
                  </a:lnTo>
                  <a:close/>
                </a:path>
              </a:pathLst>
            </a:custGeom>
            <a:blipFill>
              <a:blip r:embed="rId3">
                <a:alphaModFix amt="0"/>
              </a:blip>
              <a:stretch>
                <a:fillRect l="0" t="-19140" r="0" b="-19140"/>
              </a:stretch>
            </a:blipFill>
          </p:spPr>
        </p:sp>
        <p:sp>
          <p:nvSpPr>
            <p:cNvPr name="TextBox 24" id="24"/>
            <p:cNvSpPr txBox="true"/>
            <p:nvPr/>
          </p:nvSpPr>
          <p:spPr>
            <a:xfrm>
              <a:off x="0" y="-9525"/>
              <a:ext cx="4026510" cy="1144270"/>
            </a:xfrm>
            <a:prstGeom prst="rect">
              <a:avLst/>
            </a:prstGeom>
          </p:spPr>
          <p:txBody>
            <a:bodyPr anchor="ctr" rtlCol="false" tIns="0" lIns="0" bIns="0" rIns="0"/>
            <a:lstStyle/>
            <a:p>
              <a:pPr algn="ctr">
                <a:lnSpc>
                  <a:spcPts val="2702"/>
                </a:lnSpc>
              </a:pPr>
              <a:r>
                <a:rPr lang="en-US" sz="2251" b="true">
                  <a:solidFill>
                    <a:srgbClr val="0C1D4B"/>
                  </a:solidFill>
                  <a:latin typeface="Montserrat Bold"/>
                  <a:ea typeface="Montserrat Bold"/>
                  <a:cs typeface="Montserrat Bold"/>
                  <a:sym typeface="Montserrat Bold"/>
                </a:rPr>
                <a:t>10 Punkte</a:t>
              </a:r>
            </a:p>
          </p:txBody>
        </p:sp>
      </p:grpSp>
      <p:grpSp>
        <p:nvGrpSpPr>
          <p:cNvPr name="Group 25" id="25"/>
          <p:cNvGrpSpPr/>
          <p:nvPr/>
        </p:nvGrpSpPr>
        <p:grpSpPr>
          <a:xfrm rot="0">
            <a:off x="4323921" y="8304667"/>
            <a:ext cx="8236039" cy="851059"/>
            <a:chOff x="0" y="0"/>
            <a:chExt cx="10981385" cy="1134745"/>
          </a:xfrm>
        </p:grpSpPr>
        <p:sp>
          <p:nvSpPr>
            <p:cNvPr name="Freeform 26" id="26"/>
            <p:cNvSpPr/>
            <p:nvPr/>
          </p:nvSpPr>
          <p:spPr>
            <a:xfrm flipH="false" flipV="false" rot="0">
              <a:off x="0" y="0"/>
              <a:ext cx="10981379" cy="1134743"/>
            </a:xfrm>
            <a:custGeom>
              <a:avLst/>
              <a:gdLst/>
              <a:ahLst/>
              <a:cxnLst/>
              <a:rect r="r" b="b" t="t" l="l"/>
              <a:pathLst>
                <a:path h="1134743" w="10981379">
                  <a:moveTo>
                    <a:pt x="0" y="0"/>
                  </a:moveTo>
                  <a:lnTo>
                    <a:pt x="10981379" y="0"/>
                  </a:lnTo>
                  <a:lnTo>
                    <a:pt x="10981379" y="1134743"/>
                  </a:lnTo>
                  <a:lnTo>
                    <a:pt x="0" y="1134743"/>
                  </a:lnTo>
                  <a:close/>
                </a:path>
              </a:pathLst>
            </a:custGeom>
            <a:blipFill>
              <a:blip r:embed="rId3">
                <a:alphaModFix amt="0"/>
              </a:blip>
              <a:stretch>
                <a:fillRect l="0" t="-138564" r="0" b="-138565"/>
              </a:stretch>
            </a:blipFill>
          </p:spPr>
        </p:sp>
        <p:sp>
          <p:nvSpPr>
            <p:cNvPr name="TextBox 27" id="27"/>
            <p:cNvSpPr txBox="true"/>
            <p:nvPr/>
          </p:nvSpPr>
          <p:spPr>
            <a:xfrm>
              <a:off x="0" y="9525"/>
              <a:ext cx="10981385" cy="1125220"/>
            </a:xfrm>
            <a:prstGeom prst="rect">
              <a:avLst/>
            </a:prstGeom>
          </p:spPr>
          <p:txBody>
            <a:bodyPr anchor="ctr" rtlCol="false" tIns="0" lIns="0" bIns="0" rIns="0"/>
            <a:lstStyle/>
            <a:p>
              <a:pPr algn="l">
                <a:lnSpc>
                  <a:spcPts val="2341"/>
                </a:lnSpc>
              </a:pPr>
              <a:r>
                <a:rPr lang="en-US" sz="1951">
                  <a:solidFill>
                    <a:srgbClr val="6B7280"/>
                  </a:solidFill>
                  <a:latin typeface="DM Sans"/>
                  <a:ea typeface="DM Sans"/>
                  <a:cs typeface="DM Sans"/>
                  <a:sym typeface="DM Sans"/>
                </a:rPr>
                <a:t>2 Teilaufgaben (a, b)</a:t>
              </a:r>
            </a:p>
          </p:txBody>
        </p:sp>
      </p:gr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55</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4</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4 a)</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Rechtliche Anforderungen</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a:t>
              </a:r>
              <a:r>
                <a:rPr lang="en-US" sz="1726">
                  <a:solidFill>
                    <a:srgbClr val="FFFFFF"/>
                  </a:solidFill>
                  <a:latin typeface="Montserrat"/>
                  <a:ea typeface="Montserrat"/>
                  <a:cs typeface="Montserrat"/>
                  <a:sym typeface="Montserrat"/>
                </a:rPr>
                <a:t>   Erläutern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2 × 2 = 4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Erläutern Sie </a:t>
              </a:r>
              <a:r>
                <a:rPr lang="en-US" sz="2401" u="sng">
                  <a:solidFill>
                    <a:srgbClr val="0C1D4B"/>
                  </a:solidFill>
                  <a:latin typeface="DM Sans"/>
                  <a:ea typeface="DM Sans"/>
                  <a:cs typeface="DM Sans"/>
                  <a:sym typeface="DM Sans"/>
                </a:rPr>
                <a:t>zwei</a:t>
              </a:r>
              <a:r>
                <a:rPr lang="en-US" sz="2401">
                  <a:solidFill>
                    <a:srgbClr val="0C1D4B"/>
                  </a:solidFill>
                  <a:latin typeface="DM Sans"/>
                  <a:ea typeface="DM Sans"/>
                  <a:cs typeface="DM Sans"/>
                  <a:sym typeface="DM Sans"/>
                </a:rPr>
                <a:t> </a:t>
              </a:r>
              <a:r>
                <a:rPr lang="en-US" sz="2401" u="sng">
                  <a:solidFill>
                    <a:srgbClr val="0C1D4B"/>
                  </a:solidFill>
                  <a:latin typeface="DM Sans"/>
                  <a:ea typeface="DM Sans"/>
                  <a:cs typeface="DM Sans"/>
                  <a:sym typeface="DM Sans"/>
                </a:rPr>
                <a:t>rechtliche</a:t>
              </a:r>
              <a:r>
                <a:rPr lang="en-US" sz="2401">
                  <a:solidFill>
                    <a:srgbClr val="0C1D4B"/>
                  </a:solidFill>
                  <a:latin typeface="DM Sans"/>
                  <a:ea typeface="DM Sans"/>
                  <a:cs typeface="DM Sans"/>
                  <a:sym typeface="DM Sans"/>
                </a:rPr>
                <a:t> bzw. </a:t>
              </a:r>
              <a:r>
                <a:rPr lang="en-US" sz="2401" u="sng">
                  <a:solidFill>
                    <a:srgbClr val="0C1D4B"/>
                  </a:solidFill>
                  <a:latin typeface="DM Sans"/>
                  <a:ea typeface="DM Sans"/>
                  <a:cs typeface="DM Sans"/>
                  <a:sym typeface="DM Sans"/>
                </a:rPr>
                <a:t>regulatorische Anforderungen</a:t>
              </a:r>
              <a:r>
                <a:rPr lang="en-US" sz="2401">
                  <a:solidFill>
                    <a:srgbClr val="0C1D4B"/>
                  </a:solidFill>
                  <a:latin typeface="DM Sans"/>
                  <a:ea typeface="DM Sans"/>
                  <a:cs typeface="DM Sans"/>
                  <a:sym typeface="DM Sans"/>
                </a:rPr>
                <a:t>, die für MobilPlus relevant sind.</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Datenschutz (DSGVO) + Arbeitsrecht (Telematik überwacht Fahrpersonal).</a:t>
              </a:r>
            </a:p>
          </p:txBody>
        </p:sp>
      </p:gr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56</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4 a)</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Rechtliche Anforderungen</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  ·  2 × 2 = 4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Datenschutz (DSGVO) + Arbeitsrecht (Telematik überwacht Fahrpersonal).</a:t>
            </a:r>
          </a:p>
        </p:txBody>
      </p:sp>
      <p:grpSp>
        <p:nvGrpSpPr>
          <p:cNvPr name="Group 30" id="30"/>
          <p:cNvGrpSpPr/>
          <p:nvPr/>
        </p:nvGrpSpPr>
        <p:grpSpPr>
          <a:xfrm rot="0">
            <a:off x="13101876" y="2353847"/>
            <a:ext cx="4200954" cy="1668370"/>
            <a:chOff x="0" y="0"/>
            <a:chExt cx="5601272" cy="2224494"/>
          </a:xfrm>
        </p:grpSpPr>
        <p:sp>
          <p:nvSpPr>
            <p:cNvPr name="Freeform 31" id="31"/>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Zwei Anforderungen, je mit Erläuterung. Telematik = Verhaltenskontrolle → Betriebsrat.</a:t>
            </a:r>
          </a:p>
        </p:txBody>
      </p:sp>
      <p:grpSp>
        <p:nvGrpSpPr>
          <p:cNvPr name="Group 33" id="33"/>
          <p:cNvGrpSpPr/>
          <p:nvPr/>
        </p:nvGrpSpPr>
        <p:grpSpPr>
          <a:xfrm rot="0">
            <a:off x="13101876" y="5071739"/>
            <a:ext cx="4200954" cy="1990944"/>
            <a:chOff x="0" y="0"/>
            <a:chExt cx="5601272" cy="2654592"/>
          </a:xfrm>
        </p:grpSpPr>
        <p:sp>
          <p:nvSpPr>
            <p:cNvPr name="Freeform 34" id="34"/>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Ortungssysteme im Fahrbetrieb sind ein Paradebeispiel für mitbestimmungspflichtige Überwachungstechnik (§ 87 BetrVG).</a:t>
            </a:r>
          </a:p>
        </p:txBody>
      </p:sp>
      <p:grpSp>
        <p:nvGrpSpPr>
          <p:cNvPr name="Group 36" id="36"/>
          <p:cNvGrpSpPr/>
          <p:nvPr/>
        </p:nvGrpSpPr>
        <p:grpSpPr>
          <a:xfrm rot="0">
            <a:off x="1019975" y="4177122"/>
            <a:ext cx="11686784" cy="2146706"/>
            <a:chOff x="0" y="0"/>
            <a:chExt cx="15582379" cy="2862275"/>
          </a:xfrm>
        </p:grpSpPr>
        <p:sp>
          <p:nvSpPr>
            <p:cNvPr name="Freeform 37" id="37"/>
            <p:cNvSpPr/>
            <p:nvPr/>
          </p:nvSpPr>
          <p:spPr>
            <a:xfrm flipH="false" flipV="false" rot="0">
              <a:off x="0" y="0"/>
              <a:ext cx="15582392" cy="2862326"/>
            </a:xfrm>
            <a:custGeom>
              <a:avLst/>
              <a:gdLst/>
              <a:ahLst/>
              <a:cxnLst/>
              <a:rect r="r" b="b" t="t" l="l"/>
              <a:pathLst>
                <a:path h="2862326" w="15582392">
                  <a:moveTo>
                    <a:pt x="0" y="92329"/>
                  </a:moveTo>
                  <a:cubicBezTo>
                    <a:pt x="0" y="41402"/>
                    <a:pt x="41402" y="0"/>
                    <a:pt x="92329" y="0"/>
                  </a:cubicBezTo>
                  <a:lnTo>
                    <a:pt x="15490062" y="0"/>
                  </a:lnTo>
                  <a:cubicBezTo>
                    <a:pt x="15541117" y="0"/>
                    <a:pt x="15582392" y="41402"/>
                    <a:pt x="15582392" y="92329"/>
                  </a:cubicBezTo>
                  <a:lnTo>
                    <a:pt x="15582392" y="2769997"/>
                  </a:lnTo>
                  <a:cubicBezTo>
                    <a:pt x="15582392" y="2821051"/>
                    <a:pt x="15540989" y="2862326"/>
                    <a:pt x="15490062"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9721"/>
            <a:ext cx="11118647" cy="1871034"/>
          </a:xfrm>
          <a:prstGeom prst="rect">
            <a:avLst/>
          </a:prstGeom>
        </p:spPr>
        <p:txBody>
          <a:bodyPr anchor="t" rtlCol="false" tIns="0" lIns="0" bIns="0" rIns="0">
            <a:spAutoFit/>
          </a:bodyPr>
          <a:lstStyle/>
          <a:p>
            <a:pPr algn="l">
              <a:lnSpc>
                <a:spcPts val="2383"/>
              </a:lnSpc>
            </a:pPr>
            <a:r>
              <a:rPr lang="en-US" sz="2026" b="true">
                <a:solidFill>
                  <a:srgbClr val="0C1D4B"/>
                </a:solidFill>
                <a:latin typeface="Montserrat Bold"/>
                <a:ea typeface="Montserrat Bold"/>
                <a:cs typeface="Montserrat Bold"/>
                <a:sym typeface="Montserrat Bold"/>
              </a:rPr>
              <a:t>DSGVO</a:t>
            </a:r>
          </a:p>
          <a:p>
            <a:pPr algn="l">
              <a:lnSpc>
                <a:spcPts val="2206"/>
              </a:lnSpc>
            </a:pPr>
            <a:r>
              <a:rPr lang="en-US" sz="1876">
                <a:solidFill>
                  <a:srgbClr val="0A3A3D"/>
                </a:solidFill>
                <a:latin typeface="DM Sans"/>
                <a:ea typeface="DM Sans"/>
                <a:cs typeface="DM Sans"/>
                <a:sym typeface="DM Sans"/>
              </a:rPr>
              <a:t>Standort-, Video- und Fahrgastdaten sind personenbezogen: Zweckbindung, Löschfristen und ggf. Datenschutz-Folgenabschätzung.</a:t>
            </a:r>
          </a:p>
        </p:txBody>
      </p:sp>
      <p:grpSp>
        <p:nvGrpSpPr>
          <p:cNvPr name="Group 39" id="39"/>
          <p:cNvGrpSpPr/>
          <p:nvPr/>
        </p:nvGrpSpPr>
        <p:grpSpPr>
          <a:xfrm rot="0">
            <a:off x="1019975" y="6551838"/>
            <a:ext cx="11686784" cy="2146706"/>
            <a:chOff x="0" y="0"/>
            <a:chExt cx="15582379" cy="2862275"/>
          </a:xfrm>
        </p:grpSpPr>
        <p:sp>
          <p:nvSpPr>
            <p:cNvPr name="Freeform 40" id="40"/>
            <p:cNvSpPr/>
            <p:nvPr/>
          </p:nvSpPr>
          <p:spPr>
            <a:xfrm flipH="false" flipV="false" rot="0">
              <a:off x="0" y="0"/>
              <a:ext cx="15582392" cy="2862326"/>
            </a:xfrm>
            <a:custGeom>
              <a:avLst/>
              <a:gdLst/>
              <a:ahLst/>
              <a:cxnLst/>
              <a:rect r="r" b="b" t="t" l="l"/>
              <a:pathLst>
                <a:path h="2862326" w="15582392">
                  <a:moveTo>
                    <a:pt x="0" y="92329"/>
                  </a:moveTo>
                  <a:cubicBezTo>
                    <a:pt x="0" y="41402"/>
                    <a:pt x="41402" y="0"/>
                    <a:pt x="92329" y="0"/>
                  </a:cubicBezTo>
                  <a:lnTo>
                    <a:pt x="15490062" y="0"/>
                  </a:lnTo>
                  <a:cubicBezTo>
                    <a:pt x="15541117" y="0"/>
                    <a:pt x="15582392" y="41402"/>
                    <a:pt x="15582392" y="92329"/>
                  </a:cubicBezTo>
                  <a:lnTo>
                    <a:pt x="15582392" y="2769997"/>
                  </a:lnTo>
                  <a:cubicBezTo>
                    <a:pt x="15582392" y="2821051"/>
                    <a:pt x="15540989" y="2862326"/>
                    <a:pt x="15490062"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6694437"/>
            <a:ext cx="11118647" cy="1871034"/>
          </a:xfrm>
          <a:prstGeom prst="rect">
            <a:avLst/>
          </a:prstGeom>
        </p:spPr>
        <p:txBody>
          <a:bodyPr anchor="t" rtlCol="false" tIns="0" lIns="0" bIns="0" rIns="0">
            <a:spAutoFit/>
          </a:bodyPr>
          <a:lstStyle/>
          <a:p>
            <a:pPr algn="l">
              <a:lnSpc>
                <a:spcPts val="2383"/>
              </a:lnSpc>
            </a:pPr>
            <a:r>
              <a:rPr lang="en-US" sz="2026" b="true">
                <a:solidFill>
                  <a:srgbClr val="0C1D4B"/>
                </a:solidFill>
                <a:latin typeface="Montserrat Bold"/>
                <a:ea typeface="Montserrat Bold"/>
                <a:cs typeface="Montserrat Bold"/>
                <a:sym typeface="Montserrat Bold"/>
              </a:rPr>
              <a:t>Mitbestimmung / Betriebsvereinbarung</a:t>
            </a:r>
          </a:p>
          <a:p>
            <a:pPr algn="l">
              <a:lnSpc>
                <a:spcPts val="2206"/>
              </a:lnSpc>
            </a:pPr>
            <a:r>
              <a:rPr lang="en-US" sz="1876">
                <a:solidFill>
                  <a:srgbClr val="0A3A3D"/>
                </a:solidFill>
                <a:latin typeface="DM Sans"/>
                <a:ea typeface="DM Sans"/>
                <a:cs typeface="DM Sans"/>
                <a:sym typeface="DM Sans"/>
              </a:rPr>
              <a:t>Die Telematik ermöglicht potenziell Leistungs- und Verhaltenskontrolle des Fahrpersonals und erfordert die Beteiligung des Betriebsrats.</a:t>
            </a:r>
          </a:p>
        </p:txBody>
      </p:sp>
      <p:grpSp>
        <p:nvGrpSpPr>
          <p:cNvPr name="Group 42" id="42"/>
          <p:cNvGrpSpPr/>
          <p:nvPr/>
        </p:nvGrpSpPr>
        <p:grpSpPr>
          <a:xfrm rot="0">
            <a:off x="1070686" y="9087088"/>
            <a:ext cx="11667715" cy="480431"/>
            <a:chOff x="0" y="0"/>
            <a:chExt cx="15556954" cy="640575"/>
          </a:xfrm>
        </p:grpSpPr>
        <p:sp>
          <p:nvSpPr>
            <p:cNvPr name="Freeform 43" id="43"/>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44" id="44"/>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Erwartete Lösung – 2 Elemente</a:t>
              </a:r>
            </a:p>
          </p:txBody>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57</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4</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4 b)</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Nachweis der Compliance</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III</a:t>
              </a:r>
              <a:r>
                <a:rPr lang="en-US" sz="1726">
                  <a:solidFill>
                    <a:srgbClr val="FFFFFF"/>
                  </a:solidFill>
                  <a:latin typeface="Montserrat"/>
                  <a:ea typeface="Montserrat"/>
                  <a:cs typeface="Montserrat"/>
                  <a:sym typeface="Montserrat"/>
                </a:rPr>
                <a:t>   Beurteilen / Begründen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2 × 3 = 6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Beurteilen Sie zwei Maßnahmen zur Nachweisführung der </a:t>
              </a:r>
              <a:r>
                <a:rPr lang="en-US" sz="2401" u="sng">
                  <a:solidFill>
                    <a:srgbClr val="0C1D4B"/>
                  </a:solidFill>
                  <a:latin typeface="DM Sans"/>
                  <a:ea typeface="DM Sans"/>
                  <a:cs typeface="DM Sans"/>
                  <a:sym typeface="DM Sans"/>
                </a:rPr>
                <a:t>Compliance</a:t>
              </a:r>
              <a:r>
                <a:rPr lang="en-US" sz="2401">
                  <a:solidFill>
                    <a:srgbClr val="0C1D4B"/>
                  </a:solidFill>
                  <a:latin typeface="DM Sans"/>
                  <a:ea typeface="DM Sans"/>
                  <a:cs typeface="DM Sans"/>
                  <a:sym typeface="DM Sans"/>
                </a:rPr>
                <a:t> und </a:t>
              </a:r>
              <a:r>
                <a:rPr lang="en-US" sz="2401" u="sng">
                  <a:solidFill>
                    <a:srgbClr val="0C1D4B"/>
                  </a:solidFill>
                  <a:latin typeface="DM Sans"/>
                  <a:ea typeface="DM Sans"/>
                  <a:cs typeface="DM Sans"/>
                  <a:sym typeface="DM Sans"/>
                </a:rPr>
                <a:t>begründen</a:t>
              </a:r>
              <a:r>
                <a:rPr lang="en-US" sz="2401">
                  <a:solidFill>
                    <a:srgbClr val="0C1D4B"/>
                  </a:solidFill>
                  <a:latin typeface="DM Sans"/>
                  <a:ea typeface="DM Sans"/>
                  <a:cs typeface="DM Sans"/>
                  <a:sym typeface="DM Sans"/>
                </a:rPr>
                <a:t> Sie deren </a:t>
              </a:r>
              <a:r>
                <a:rPr lang="en-US" sz="2401" u="sng">
                  <a:solidFill>
                    <a:srgbClr val="0C1D4B"/>
                  </a:solidFill>
                  <a:latin typeface="DM Sans"/>
                  <a:ea typeface="DM Sans"/>
                  <a:cs typeface="DM Sans"/>
                  <a:sym typeface="DM Sans"/>
                </a:rPr>
                <a:t>Eignung</a:t>
              </a:r>
              <a:r>
                <a:rPr lang="en-US" sz="2401">
                  <a:solidFill>
                    <a:srgbClr val="0C1D4B"/>
                  </a:solidFill>
                  <a:latin typeface="DM Sans"/>
                  <a:ea typeface="DM Sans"/>
                  <a:cs typeface="DM Sans"/>
                  <a:sym typeface="DM Sans"/>
                </a:rPr>
                <a:t>.</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Nachweis = dokumentieren (DSFA/Verzeichnis) + regeln/prüfen (Betriebsvereinbarung/Audits).</a:t>
              </a:r>
            </a:p>
          </p:txBody>
        </p:sp>
      </p:gr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58</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4 b)</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Nachweis der Compliance</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III  ·  2 × 3 = 6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Nachweis = dokumentieren (DSFA/Verzeichnis) + regeln/prüfen (Betriebsvereinbarung/Audits).</a:t>
            </a:r>
          </a:p>
        </p:txBody>
      </p:sp>
      <p:grpSp>
        <p:nvGrpSpPr>
          <p:cNvPr name="Group 30" id="30"/>
          <p:cNvGrpSpPr/>
          <p:nvPr/>
        </p:nvGrpSpPr>
        <p:grpSpPr>
          <a:xfrm rot="0">
            <a:off x="13101876" y="2353847"/>
            <a:ext cx="4200954" cy="1668370"/>
            <a:chOff x="0" y="0"/>
            <a:chExt cx="5601272" cy="2224494"/>
          </a:xfrm>
        </p:grpSpPr>
        <p:sp>
          <p:nvSpPr>
            <p:cNvPr name="Freeform 31" id="31"/>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2×3 = 6 P.: je Maßnahme Eignung begründen (Rechenschaftspflicht, Mitbestimmung).</a:t>
            </a:r>
          </a:p>
        </p:txBody>
      </p:sp>
      <p:grpSp>
        <p:nvGrpSpPr>
          <p:cNvPr name="Group 33" id="33"/>
          <p:cNvGrpSpPr/>
          <p:nvPr/>
        </p:nvGrpSpPr>
        <p:grpSpPr>
          <a:xfrm rot="0">
            <a:off x="13101876" y="5071739"/>
            <a:ext cx="4200954" cy="2313527"/>
            <a:chOff x="0" y="0"/>
            <a:chExt cx="5601272" cy="3084703"/>
          </a:xfrm>
        </p:grpSpPr>
        <p:sp>
          <p:nvSpPr>
            <p:cNvPr name="Freeform 34" id="34"/>
            <p:cNvSpPr/>
            <p:nvPr/>
          </p:nvSpPr>
          <p:spPr>
            <a:xfrm flipH="false" flipV="false" rot="0">
              <a:off x="0" y="0"/>
              <a:ext cx="5601208" cy="3084703"/>
            </a:xfrm>
            <a:custGeom>
              <a:avLst/>
              <a:gdLst/>
              <a:ahLst/>
              <a:cxnLst/>
              <a:rect r="r" b="b" t="t" l="l"/>
              <a:pathLst>
                <a:path h="3084703" w="5601208">
                  <a:moveTo>
                    <a:pt x="0" y="73660"/>
                  </a:moveTo>
                  <a:cubicBezTo>
                    <a:pt x="0" y="33020"/>
                    <a:pt x="33020" y="0"/>
                    <a:pt x="73660" y="0"/>
                  </a:cubicBezTo>
                  <a:lnTo>
                    <a:pt x="5527548" y="0"/>
                  </a:lnTo>
                  <a:cubicBezTo>
                    <a:pt x="5568188" y="0"/>
                    <a:pt x="5601208" y="33020"/>
                    <a:pt x="5601208" y="73660"/>
                  </a:cubicBezTo>
                  <a:lnTo>
                    <a:pt x="5601208" y="3011043"/>
                  </a:lnTo>
                  <a:cubicBezTo>
                    <a:pt x="5601208" y="3051683"/>
                    <a:pt x="5568188" y="3084703"/>
                    <a:pt x="5527548" y="3084703"/>
                  </a:cubicBezTo>
                  <a:lnTo>
                    <a:pt x="73660" y="3084703"/>
                  </a:lnTo>
                  <a:cubicBezTo>
                    <a:pt x="33020" y="3084703"/>
                    <a:pt x="0" y="3051683"/>
                    <a:pt x="0" y="3011043"/>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2024691"/>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Bei umfangreicher Standortdatenverarbeitung ist eine DSFA (Art. 35 DSGVO) faktisch Pflicht – sie ist zugleich der Compliance-Nachweis.</a:t>
            </a:r>
          </a:p>
        </p:txBody>
      </p:sp>
      <p:grpSp>
        <p:nvGrpSpPr>
          <p:cNvPr name="Group 36" id="36"/>
          <p:cNvGrpSpPr/>
          <p:nvPr/>
        </p:nvGrpSpPr>
        <p:grpSpPr>
          <a:xfrm rot="0">
            <a:off x="1019975" y="4177122"/>
            <a:ext cx="11686784" cy="2146706"/>
            <a:chOff x="0" y="0"/>
            <a:chExt cx="15582379" cy="2862275"/>
          </a:xfrm>
        </p:grpSpPr>
        <p:sp>
          <p:nvSpPr>
            <p:cNvPr name="Freeform 37" id="37"/>
            <p:cNvSpPr/>
            <p:nvPr/>
          </p:nvSpPr>
          <p:spPr>
            <a:xfrm flipH="false" flipV="false" rot="0">
              <a:off x="0" y="0"/>
              <a:ext cx="15582392" cy="2862326"/>
            </a:xfrm>
            <a:custGeom>
              <a:avLst/>
              <a:gdLst/>
              <a:ahLst/>
              <a:cxnLst/>
              <a:rect r="r" b="b" t="t" l="l"/>
              <a:pathLst>
                <a:path h="2862326" w="15582392">
                  <a:moveTo>
                    <a:pt x="0" y="92329"/>
                  </a:moveTo>
                  <a:cubicBezTo>
                    <a:pt x="0" y="41402"/>
                    <a:pt x="41402" y="0"/>
                    <a:pt x="92329" y="0"/>
                  </a:cubicBezTo>
                  <a:lnTo>
                    <a:pt x="15490062" y="0"/>
                  </a:lnTo>
                  <a:cubicBezTo>
                    <a:pt x="15541117" y="0"/>
                    <a:pt x="15582392" y="41402"/>
                    <a:pt x="15582392" y="92329"/>
                  </a:cubicBezTo>
                  <a:lnTo>
                    <a:pt x="15582392" y="2769997"/>
                  </a:lnTo>
                  <a:cubicBezTo>
                    <a:pt x="15582392" y="2821051"/>
                    <a:pt x="15540989" y="2862326"/>
                    <a:pt x="15490062"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9721"/>
            <a:ext cx="11118647" cy="1871034"/>
          </a:xfrm>
          <a:prstGeom prst="rect">
            <a:avLst/>
          </a:prstGeom>
        </p:spPr>
        <p:txBody>
          <a:bodyPr anchor="t" rtlCol="false" tIns="0" lIns="0" bIns="0" rIns="0">
            <a:spAutoFit/>
          </a:bodyPr>
          <a:lstStyle/>
          <a:p>
            <a:pPr algn="l">
              <a:lnSpc>
                <a:spcPts val="2383"/>
              </a:lnSpc>
            </a:pPr>
            <a:r>
              <a:rPr lang="en-US" sz="2026" b="true">
                <a:solidFill>
                  <a:srgbClr val="0C1D4B"/>
                </a:solidFill>
                <a:latin typeface="Montserrat Bold"/>
                <a:ea typeface="Montserrat Bold"/>
                <a:cs typeface="Montserrat Bold"/>
                <a:sym typeface="Montserrat Bold"/>
              </a:rPr>
              <a:t>Datenschutz-Folgenabschätzung &amp; Verfahrensverzeichnis</a:t>
            </a:r>
          </a:p>
          <a:p>
            <a:pPr algn="l">
              <a:lnSpc>
                <a:spcPts val="2206"/>
              </a:lnSpc>
            </a:pPr>
            <a:r>
              <a:rPr lang="en-US" sz="1876">
                <a:solidFill>
                  <a:srgbClr val="0A3A3D"/>
                </a:solidFill>
                <a:latin typeface="DM Sans"/>
                <a:ea typeface="DM Sans"/>
                <a:cs typeface="DM Sans"/>
                <a:sym typeface="DM Sans"/>
              </a:rPr>
              <a:t>Beurteilt: erfüllen die Rechenschaftspflicht bei der umfangreichen Verarbeitung von Standortdaten.</a:t>
            </a:r>
          </a:p>
        </p:txBody>
      </p:sp>
      <p:grpSp>
        <p:nvGrpSpPr>
          <p:cNvPr name="Group 39" id="39"/>
          <p:cNvGrpSpPr/>
          <p:nvPr/>
        </p:nvGrpSpPr>
        <p:grpSpPr>
          <a:xfrm rot="0">
            <a:off x="1019975" y="6551838"/>
            <a:ext cx="11686784" cy="2146706"/>
            <a:chOff x="0" y="0"/>
            <a:chExt cx="15582379" cy="2862275"/>
          </a:xfrm>
        </p:grpSpPr>
        <p:sp>
          <p:nvSpPr>
            <p:cNvPr name="Freeform 40" id="40"/>
            <p:cNvSpPr/>
            <p:nvPr/>
          </p:nvSpPr>
          <p:spPr>
            <a:xfrm flipH="false" flipV="false" rot="0">
              <a:off x="0" y="0"/>
              <a:ext cx="15582392" cy="2862326"/>
            </a:xfrm>
            <a:custGeom>
              <a:avLst/>
              <a:gdLst/>
              <a:ahLst/>
              <a:cxnLst/>
              <a:rect r="r" b="b" t="t" l="l"/>
              <a:pathLst>
                <a:path h="2862326" w="15582392">
                  <a:moveTo>
                    <a:pt x="0" y="92329"/>
                  </a:moveTo>
                  <a:cubicBezTo>
                    <a:pt x="0" y="41402"/>
                    <a:pt x="41402" y="0"/>
                    <a:pt x="92329" y="0"/>
                  </a:cubicBezTo>
                  <a:lnTo>
                    <a:pt x="15490062" y="0"/>
                  </a:lnTo>
                  <a:cubicBezTo>
                    <a:pt x="15541117" y="0"/>
                    <a:pt x="15582392" y="41402"/>
                    <a:pt x="15582392" y="92329"/>
                  </a:cubicBezTo>
                  <a:lnTo>
                    <a:pt x="15582392" y="2769997"/>
                  </a:lnTo>
                  <a:cubicBezTo>
                    <a:pt x="15582392" y="2821051"/>
                    <a:pt x="15540989" y="2862326"/>
                    <a:pt x="15490062"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6694437"/>
            <a:ext cx="11118647" cy="1871034"/>
          </a:xfrm>
          <a:prstGeom prst="rect">
            <a:avLst/>
          </a:prstGeom>
        </p:spPr>
        <p:txBody>
          <a:bodyPr anchor="t" rtlCol="false" tIns="0" lIns="0" bIns="0" rIns="0">
            <a:spAutoFit/>
          </a:bodyPr>
          <a:lstStyle/>
          <a:p>
            <a:pPr algn="l">
              <a:lnSpc>
                <a:spcPts val="2383"/>
              </a:lnSpc>
            </a:pPr>
            <a:r>
              <a:rPr lang="en-US" sz="2026" b="true">
                <a:solidFill>
                  <a:srgbClr val="0C1D4B"/>
                </a:solidFill>
                <a:latin typeface="Montserrat Bold"/>
                <a:ea typeface="Montserrat Bold"/>
                <a:cs typeface="Montserrat Bold"/>
                <a:sym typeface="Montserrat Bold"/>
              </a:rPr>
              <a:t>Betriebsvereinbarung &amp; regelmäßige Audits</a:t>
            </a:r>
          </a:p>
          <a:p>
            <a:pPr algn="l">
              <a:lnSpc>
                <a:spcPts val="2206"/>
              </a:lnSpc>
            </a:pPr>
            <a:r>
              <a:rPr lang="en-US" sz="1876">
                <a:solidFill>
                  <a:srgbClr val="0A3A3D"/>
                </a:solidFill>
                <a:latin typeface="DM Sans"/>
                <a:ea typeface="DM Sans"/>
                <a:cs typeface="DM Sans"/>
                <a:sym typeface="DM Sans"/>
              </a:rPr>
              <a:t>Beurteilt: schaffen Mitbestimmungs- und Compliance-Nachweis und regeln die zulässige Datennutzung.</a:t>
            </a:r>
          </a:p>
        </p:txBody>
      </p:sp>
      <p:grpSp>
        <p:nvGrpSpPr>
          <p:cNvPr name="Group 42" id="42"/>
          <p:cNvGrpSpPr/>
          <p:nvPr/>
        </p:nvGrpSpPr>
        <p:grpSpPr>
          <a:xfrm rot="0">
            <a:off x="1070686" y="9087088"/>
            <a:ext cx="11667715" cy="480431"/>
            <a:chOff x="0" y="0"/>
            <a:chExt cx="15556954" cy="640575"/>
          </a:xfrm>
        </p:grpSpPr>
        <p:sp>
          <p:nvSpPr>
            <p:cNvPr name="Freeform 43" id="43"/>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44" id="44"/>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Erwartete Lösung – 2 Elemente</a:t>
              </a:r>
            </a:p>
          </p:txBody>
        </p:sp>
      </p:gr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59</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a:t>
              </a:r>
            </a:p>
          </p:txBody>
        </p:sp>
      </p:grpSp>
      <p:grpSp>
        <p:nvGrpSpPr>
          <p:cNvPr name="Group 15" id="15"/>
          <p:cNvGrpSpPr/>
          <p:nvPr/>
        </p:nvGrpSpPr>
        <p:grpSpPr>
          <a:xfrm rot="0">
            <a:off x="1029500" y="3088510"/>
            <a:ext cx="12354049" cy="823608"/>
            <a:chOff x="0" y="0"/>
            <a:chExt cx="16472065" cy="1098144"/>
          </a:xfrm>
        </p:grpSpPr>
        <p:sp>
          <p:nvSpPr>
            <p:cNvPr name="Freeform 16" id="16"/>
            <p:cNvSpPr/>
            <p:nvPr/>
          </p:nvSpPr>
          <p:spPr>
            <a:xfrm flipH="false" flipV="false" rot="0">
              <a:off x="0" y="0"/>
              <a:ext cx="16472069" cy="1098138"/>
            </a:xfrm>
            <a:custGeom>
              <a:avLst/>
              <a:gdLst/>
              <a:ahLst/>
              <a:cxnLst/>
              <a:rect r="r" b="b" t="t" l="l"/>
              <a:pathLst>
                <a:path h="1098138" w="16472069">
                  <a:moveTo>
                    <a:pt x="0" y="0"/>
                  </a:moveTo>
                  <a:lnTo>
                    <a:pt x="16472069" y="0"/>
                  </a:lnTo>
                  <a:lnTo>
                    <a:pt x="16472069" y="1098138"/>
                  </a:lnTo>
                  <a:lnTo>
                    <a:pt x="0" y="1098138"/>
                  </a:lnTo>
                  <a:close/>
                </a:path>
              </a:pathLst>
            </a:custGeom>
            <a:blipFill>
              <a:blip r:embed="rId3">
                <a:alphaModFix amt="0"/>
              </a:blip>
              <a:stretch>
                <a:fillRect l="0" t="-242275" r="0" b="-242275"/>
              </a:stretch>
            </a:blipFill>
          </p:spPr>
        </p:sp>
        <p:sp>
          <p:nvSpPr>
            <p:cNvPr name="TextBox 17" id="17"/>
            <p:cNvSpPr txBox="true"/>
            <p:nvPr/>
          </p:nvSpPr>
          <p:spPr>
            <a:xfrm>
              <a:off x="0" y="0"/>
              <a:ext cx="16472065" cy="1098144"/>
            </a:xfrm>
            <a:prstGeom prst="rect">
              <a:avLst/>
            </a:prstGeom>
          </p:spPr>
          <p:txBody>
            <a:bodyPr anchor="ctr" rtlCol="false" tIns="0" lIns="0" bIns="0" rIns="0"/>
            <a:lstStyle/>
            <a:p>
              <a:pPr algn="l">
                <a:lnSpc>
                  <a:spcPts val="3602"/>
                </a:lnSpc>
              </a:pPr>
              <a:r>
                <a:rPr lang="en-US" b="true" sz="3002" spc="450">
                  <a:solidFill>
                    <a:srgbClr val="FF4000"/>
                  </a:solidFill>
                  <a:latin typeface="Montserrat Bold"/>
                  <a:ea typeface="Montserrat Bold"/>
                  <a:cs typeface="Montserrat Bold"/>
                  <a:sym typeface="Montserrat Bold"/>
                </a:rPr>
                <a:t>AUFGABE 5</a:t>
              </a:r>
            </a:p>
          </p:txBody>
        </p:sp>
      </p:grpSp>
      <p:sp>
        <p:nvSpPr>
          <p:cNvPr name="TextBox 18" id="18"/>
          <p:cNvSpPr txBox="true"/>
          <p:nvPr/>
        </p:nvSpPr>
        <p:spPr>
          <a:xfrm rot="0">
            <a:off x="988324" y="3921643"/>
            <a:ext cx="16197539" cy="2186749"/>
          </a:xfrm>
          <a:prstGeom prst="rect">
            <a:avLst/>
          </a:prstGeom>
        </p:spPr>
        <p:txBody>
          <a:bodyPr anchor="t" rtlCol="false" tIns="0" lIns="0" bIns="0" rIns="0">
            <a:spAutoFit/>
          </a:bodyPr>
          <a:lstStyle/>
          <a:p>
            <a:pPr algn="l">
              <a:lnSpc>
                <a:spcPts val="7767"/>
              </a:lnSpc>
            </a:pPr>
            <a:r>
              <a:rPr lang="en-US" sz="6605" b="true">
                <a:solidFill>
                  <a:srgbClr val="0C1D4B"/>
                </a:solidFill>
                <a:latin typeface="Montserrat Bold"/>
                <a:ea typeface="Montserrat Bold"/>
                <a:cs typeface="Montserrat Bold"/>
                <a:sym typeface="Montserrat Bold"/>
              </a:rPr>
              <a:t>Dokumentation &amp; Roll-out</a:t>
            </a:r>
          </a:p>
        </p:txBody>
      </p:sp>
      <p:sp>
        <p:nvSpPr>
          <p:cNvPr name="TextBox 19" id="19"/>
          <p:cNvSpPr txBox="true"/>
          <p:nvPr/>
        </p:nvSpPr>
        <p:spPr>
          <a:xfrm rot="0">
            <a:off x="1070686" y="6501146"/>
            <a:ext cx="15099392" cy="354317"/>
          </a:xfrm>
          <a:prstGeom prst="rect">
            <a:avLst/>
          </a:prstGeom>
        </p:spPr>
        <p:txBody>
          <a:bodyPr anchor="t" rtlCol="false" tIns="0" lIns="0" bIns="0" rIns="0">
            <a:spAutoFit/>
          </a:bodyPr>
          <a:lstStyle/>
          <a:p>
            <a:pPr algn="l">
              <a:lnSpc>
                <a:spcPts val="2837"/>
              </a:lnSpc>
            </a:pPr>
            <a:r>
              <a:rPr lang="en-US" sz="2251">
                <a:solidFill>
                  <a:srgbClr val="23262B"/>
                </a:solidFill>
                <a:latin typeface="DM Sans"/>
                <a:ea typeface="DM Sans"/>
                <a:cs typeface="DM Sans"/>
                <a:sym typeface="DM Sans"/>
              </a:rPr>
              <a:t>Sie unterstützen den </a:t>
            </a:r>
            <a:r>
              <a:rPr lang="en-US" sz="2251" u="sng">
                <a:solidFill>
                  <a:srgbClr val="23262B"/>
                </a:solidFill>
                <a:latin typeface="DM Sans"/>
                <a:ea typeface="DM Sans"/>
                <a:cs typeface="DM Sans"/>
                <a:sym typeface="DM Sans"/>
              </a:rPr>
              <a:t>Projektleiter</a:t>
            </a:r>
            <a:r>
              <a:rPr lang="en-US" sz="2251">
                <a:solidFill>
                  <a:srgbClr val="23262B"/>
                </a:solidFill>
                <a:latin typeface="DM Sans"/>
                <a:ea typeface="DM Sans"/>
                <a:cs typeface="DM Sans"/>
                <a:sym typeface="DM Sans"/>
              </a:rPr>
              <a:t> bei </a:t>
            </a:r>
            <a:r>
              <a:rPr lang="en-US" sz="2251" u="sng">
                <a:solidFill>
                  <a:srgbClr val="23262B"/>
                </a:solidFill>
                <a:latin typeface="DM Sans"/>
                <a:ea typeface="DM Sans"/>
                <a:cs typeface="DM Sans"/>
                <a:sym typeface="DM Sans"/>
              </a:rPr>
              <a:t>Dokumentation</a:t>
            </a:r>
            <a:r>
              <a:rPr lang="en-US" sz="2251">
                <a:solidFill>
                  <a:srgbClr val="23262B"/>
                </a:solidFill>
                <a:latin typeface="DM Sans"/>
                <a:ea typeface="DM Sans"/>
                <a:cs typeface="DM Sans"/>
                <a:sym typeface="DM Sans"/>
              </a:rPr>
              <a:t>, </a:t>
            </a:r>
            <a:r>
              <a:rPr lang="en-US" sz="2251" u="sng">
                <a:solidFill>
                  <a:srgbClr val="23262B"/>
                </a:solidFill>
                <a:latin typeface="DM Sans"/>
                <a:ea typeface="DM Sans"/>
                <a:cs typeface="DM Sans"/>
                <a:sym typeface="DM Sans"/>
              </a:rPr>
              <a:t>Kundenberatung</a:t>
            </a:r>
            <a:r>
              <a:rPr lang="en-US" sz="2251">
                <a:solidFill>
                  <a:srgbClr val="23262B"/>
                </a:solidFill>
                <a:latin typeface="DM Sans"/>
                <a:ea typeface="DM Sans"/>
                <a:cs typeface="DM Sans"/>
                <a:sym typeface="DM Sans"/>
              </a:rPr>
              <a:t> und </a:t>
            </a:r>
            <a:r>
              <a:rPr lang="en-US" sz="2251" u="sng">
                <a:solidFill>
                  <a:srgbClr val="23262B"/>
                </a:solidFill>
                <a:latin typeface="DM Sans"/>
                <a:ea typeface="DM Sans"/>
                <a:cs typeface="DM Sans"/>
                <a:sym typeface="DM Sans"/>
              </a:rPr>
              <a:t>Roll-out</a:t>
            </a:r>
            <a:r>
              <a:rPr lang="en-US" sz="2251">
                <a:solidFill>
                  <a:srgbClr val="23262B"/>
                </a:solidFill>
                <a:latin typeface="DM Sans"/>
                <a:ea typeface="DM Sans"/>
                <a:cs typeface="DM Sans"/>
                <a:sym typeface="DM Sans"/>
              </a:rPr>
              <a:t>.</a:t>
            </a:r>
          </a:p>
        </p:txBody>
      </p:sp>
      <p:grpSp>
        <p:nvGrpSpPr>
          <p:cNvPr name="Group 20" id="20"/>
          <p:cNvGrpSpPr/>
          <p:nvPr/>
        </p:nvGrpSpPr>
        <p:grpSpPr>
          <a:xfrm rot="0">
            <a:off x="1061152" y="8295132"/>
            <a:ext cx="3038942" cy="870118"/>
            <a:chOff x="0" y="0"/>
            <a:chExt cx="4051922" cy="1160158"/>
          </a:xfrm>
        </p:grpSpPr>
        <p:sp>
          <p:nvSpPr>
            <p:cNvPr name="Freeform 21" id="21"/>
            <p:cNvSpPr/>
            <p:nvPr/>
          </p:nvSpPr>
          <p:spPr>
            <a:xfrm flipH="false" flipV="false" rot="0">
              <a:off x="0" y="0"/>
              <a:ext cx="4051935" cy="1160145"/>
            </a:xfrm>
            <a:custGeom>
              <a:avLst/>
              <a:gdLst/>
              <a:ahLst/>
              <a:cxnLst/>
              <a:rect r="r" b="b" t="t" l="l"/>
              <a:pathLst>
                <a:path h="1160145" w="4051935">
                  <a:moveTo>
                    <a:pt x="0" y="224536"/>
                  </a:moveTo>
                  <a:cubicBezTo>
                    <a:pt x="0" y="100584"/>
                    <a:pt x="100584" y="0"/>
                    <a:pt x="224536" y="0"/>
                  </a:cubicBezTo>
                  <a:lnTo>
                    <a:pt x="3827399" y="0"/>
                  </a:lnTo>
                  <a:cubicBezTo>
                    <a:pt x="3951351" y="0"/>
                    <a:pt x="4051935" y="100584"/>
                    <a:pt x="4051935" y="224536"/>
                  </a:cubicBezTo>
                  <a:lnTo>
                    <a:pt x="4051935" y="935609"/>
                  </a:lnTo>
                  <a:cubicBezTo>
                    <a:pt x="4051935" y="1059561"/>
                    <a:pt x="3951351" y="1160145"/>
                    <a:pt x="3827399" y="1160145"/>
                  </a:cubicBezTo>
                  <a:lnTo>
                    <a:pt x="224536" y="1160145"/>
                  </a:lnTo>
                  <a:cubicBezTo>
                    <a:pt x="100584" y="1160145"/>
                    <a:pt x="0" y="1059688"/>
                    <a:pt x="0" y="935609"/>
                  </a:cubicBezTo>
                  <a:close/>
                </a:path>
              </a:pathLst>
            </a:custGeom>
            <a:solidFill>
              <a:srgbClr val="5CE1E6"/>
            </a:solidFill>
            <a:ln w="19065" cap="sq">
              <a:solidFill>
                <a:srgbClr val="5CE1E6"/>
              </a:solidFill>
              <a:prstDash val="solid"/>
              <a:miter/>
            </a:ln>
          </p:spPr>
        </p:sp>
      </p:grpSp>
      <p:grpSp>
        <p:nvGrpSpPr>
          <p:cNvPr name="Group 22" id="22"/>
          <p:cNvGrpSpPr/>
          <p:nvPr/>
        </p:nvGrpSpPr>
        <p:grpSpPr>
          <a:xfrm rot="0">
            <a:off x="1070686" y="8304667"/>
            <a:ext cx="3019882" cy="851059"/>
            <a:chOff x="0" y="0"/>
            <a:chExt cx="4026510" cy="1134745"/>
          </a:xfrm>
        </p:grpSpPr>
        <p:sp>
          <p:nvSpPr>
            <p:cNvPr name="Freeform 23" id="23"/>
            <p:cNvSpPr/>
            <p:nvPr/>
          </p:nvSpPr>
          <p:spPr>
            <a:xfrm flipH="false" flipV="false" rot="0">
              <a:off x="0" y="0"/>
              <a:ext cx="4026506" cy="1134743"/>
            </a:xfrm>
            <a:custGeom>
              <a:avLst/>
              <a:gdLst/>
              <a:ahLst/>
              <a:cxnLst/>
              <a:rect r="r" b="b" t="t" l="l"/>
              <a:pathLst>
                <a:path h="1134743" w="4026506">
                  <a:moveTo>
                    <a:pt x="0" y="0"/>
                  </a:moveTo>
                  <a:lnTo>
                    <a:pt x="4026506" y="0"/>
                  </a:lnTo>
                  <a:lnTo>
                    <a:pt x="4026506" y="1134743"/>
                  </a:lnTo>
                  <a:lnTo>
                    <a:pt x="0" y="1134743"/>
                  </a:lnTo>
                  <a:close/>
                </a:path>
              </a:pathLst>
            </a:custGeom>
            <a:blipFill>
              <a:blip r:embed="rId3">
                <a:alphaModFix amt="0"/>
              </a:blip>
              <a:stretch>
                <a:fillRect l="0" t="-19140" r="0" b="-19140"/>
              </a:stretch>
            </a:blipFill>
          </p:spPr>
        </p:sp>
        <p:sp>
          <p:nvSpPr>
            <p:cNvPr name="TextBox 24" id="24"/>
            <p:cNvSpPr txBox="true"/>
            <p:nvPr/>
          </p:nvSpPr>
          <p:spPr>
            <a:xfrm>
              <a:off x="0" y="-9525"/>
              <a:ext cx="4026510" cy="1144270"/>
            </a:xfrm>
            <a:prstGeom prst="rect">
              <a:avLst/>
            </a:prstGeom>
          </p:spPr>
          <p:txBody>
            <a:bodyPr anchor="ctr" rtlCol="false" tIns="0" lIns="0" bIns="0" rIns="0"/>
            <a:lstStyle/>
            <a:p>
              <a:pPr algn="ctr">
                <a:lnSpc>
                  <a:spcPts val="2702"/>
                </a:lnSpc>
              </a:pPr>
              <a:r>
                <a:rPr lang="en-US" sz="2251" b="true">
                  <a:solidFill>
                    <a:srgbClr val="0C1D4B"/>
                  </a:solidFill>
                  <a:latin typeface="Montserrat Bold"/>
                  <a:ea typeface="Montserrat Bold"/>
                  <a:cs typeface="Montserrat Bold"/>
                  <a:sym typeface="Montserrat Bold"/>
                </a:rPr>
                <a:t>12 Punkte</a:t>
              </a:r>
            </a:p>
          </p:txBody>
        </p:sp>
      </p:grpSp>
      <p:grpSp>
        <p:nvGrpSpPr>
          <p:cNvPr name="Group 25" id="25"/>
          <p:cNvGrpSpPr/>
          <p:nvPr/>
        </p:nvGrpSpPr>
        <p:grpSpPr>
          <a:xfrm rot="0">
            <a:off x="4323921" y="8304667"/>
            <a:ext cx="8236039" cy="851059"/>
            <a:chOff x="0" y="0"/>
            <a:chExt cx="10981385" cy="1134745"/>
          </a:xfrm>
        </p:grpSpPr>
        <p:sp>
          <p:nvSpPr>
            <p:cNvPr name="Freeform 26" id="26"/>
            <p:cNvSpPr/>
            <p:nvPr/>
          </p:nvSpPr>
          <p:spPr>
            <a:xfrm flipH="false" flipV="false" rot="0">
              <a:off x="0" y="0"/>
              <a:ext cx="10981379" cy="1134743"/>
            </a:xfrm>
            <a:custGeom>
              <a:avLst/>
              <a:gdLst/>
              <a:ahLst/>
              <a:cxnLst/>
              <a:rect r="r" b="b" t="t" l="l"/>
              <a:pathLst>
                <a:path h="1134743" w="10981379">
                  <a:moveTo>
                    <a:pt x="0" y="0"/>
                  </a:moveTo>
                  <a:lnTo>
                    <a:pt x="10981379" y="0"/>
                  </a:lnTo>
                  <a:lnTo>
                    <a:pt x="10981379" y="1134743"/>
                  </a:lnTo>
                  <a:lnTo>
                    <a:pt x="0" y="1134743"/>
                  </a:lnTo>
                  <a:close/>
                </a:path>
              </a:pathLst>
            </a:custGeom>
            <a:blipFill>
              <a:blip r:embed="rId3">
                <a:alphaModFix amt="0"/>
              </a:blip>
              <a:stretch>
                <a:fillRect l="0" t="-138564" r="0" b="-138565"/>
              </a:stretch>
            </a:blipFill>
          </p:spPr>
        </p:sp>
        <p:sp>
          <p:nvSpPr>
            <p:cNvPr name="TextBox 27" id="27"/>
            <p:cNvSpPr txBox="true"/>
            <p:nvPr/>
          </p:nvSpPr>
          <p:spPr>
            <a:xfrm>
              <a:off x="0" y="9525"/>
              <a:ext cx="10981385" cy="1125220"/>
            </a:xfrm>
            <a:prstGeom prst="rect">
              <a:avLst/>
            </a:prstGeom>
          </p:spPr>
          <p:txBody>
            <a:bodyPr anchor="ctr" rtlCol="false" tIns="0" lIns="0" bIns="0" rIns="0"/>
            <a:lstStyle/>
            <a:p>
              <a:pPr algn="l">
                <a:lnSpc>
                  <a:spcPts val="2341"/>
                </a:lnSpc>
              </a:pPr>
              <a:r>
                <a:rPr lang="en-US" sz="1951">
                  <a:solidFill>
                    <a:srgbClr val="6B7280"/>
                  </a:solidFill>
                  <a:latin typeface="DM Sans"/>
                  <a:ea typeface="DM Sans"/>
                  <a:cs typeface="DM Sans"/>
                  <a:sym typeface="DM Sans"/>
                </a:rPr>
                <a:t>2 Teilaufgaben (a, b)</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60</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5</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5 a)</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Dokumentation &amp; Kundenberatung</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a:t>
              </a:r>
              <a:r>
                <a:rPr lang="en-US" sz="1726">
                  <a:solidFill>
                    <a:srgbClr val="FFFFFF"/>
                  </a:solidFill>
                  <a:latin typeface="Montserrat"/>
                  <a:ea typeface="Montserrat"/>
                  <a:cs typeface="Montserrat"/>
                  <a:sym typeface="Montserrat"/>
                </a:rPr>
                <a:t>   Erläutern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3 × 2 = 6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Erläutern Sie </a:t>
              </a:r>
              <a:r>
                <a:rPr lang="en-US" sz="2401" u="sng">
                  <a:solidFill>
                    <a:srgbClr val="0C1D4B"/>
                  </a:solidFill>
                  <a:latin typeface="DM Sans"/>
                  <a:ea typeface="DM Sans"/>
                  <a:cs typeface="DM Sans"/>
                  <a:sym typeface="DM Sans"/>
                </a:rPr>
                <a:t>drei Aspekte</a:t>
              </a:r>
              <a:r>
                <a:rPr lang="en-US" sz="2401">
                  <a:solidFill>
                    <a:srgbClr val="0C1D4B"/>
                  </a:solidFill>
                  <a:latin typeface="DM Sans"/>
                  <a:ea typeface="DM Sans"/>
                  <a:cs typeface="DM Sans"/>
                  <a:sym typeface="DM Sans"/>
                </a:rPr>
                <a:t> der </a:t>
              </a:r>
              <a:r>
                <a:rPr lang="en-US" sz="2401" u="sng">
                  <a:solidFill>
                    <a:srgbClr val="0C1D4B"/>
                  </a:solidFill>
                  <a:latin typeface="DM Sans"/>
                  <a:ea typeface="DM Sans"/>
                  <a:cs typeface="DM Sans"/>
                  <a:sym typeface="DM Sans"/>
                </a:rPr>
                <a:t>projektbegleitenden Dokumentation</a:t>
              </a:r>
              <a:r>
                <a:rPr lang="en-US" sz="2401">
                  <a:solidFill>
                    <a:srgbClr val="0C1D4B"/>
                  </a:solidFill>
                  <a:latin typeface="DM Sans"/>
                  <a:ea typeface="DM Sans"/>
                  <a:cs typeface="DM Sans"/>
                  <a:sym typeface="DM Sans"/>
                </a:rPr>
                <a:t> und </a:t>
              </a:r>
              <a:r>
                <a:rPr lang="en-US" sz="2401" u="sng">
                  <a:solidFill>
                    <a:srgbClr val="0C1D4B"/>
                  </a:solidFill>
                  <a:latin typeface="DM Sans"/>
                  <a:ea typeface="DM Sans"/>
                  <a:cs typeface="DM Sans"/>
                  <a:sym typeface="DM Sans"/>
                </a:rPr>
                <a:t>Kundenberatung</a:t>
              </a:r>
              <a:r>
                <a:rPr lang="en-US" sz="2401">
                  <a:solidFill>
                    <a:srgbClr val="0C1D4B"/>
                  </a:solidFill>
                  <a:latin typeface="DM Sans"/>
                  <a:ea typeface="DM Sans"/>
                  <a:cs typeface="DM Sans"/>
                  <a:sym typeface="DM Sans"/>
                </a:rPr>
                <a:t>.</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Zwei Ebenen: Projektdoku (PM-Handbuch) und Betriebsdoku – plus laufende Abstimmung.</a:t>
              </a:r>
            </a:p>
          </p:txBody>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61</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5 a)</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Dokumentation &amp; Kundenberatung</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C8641E"/>
            </a:solidFill>
            <a:ln w="19065" cap="sq">
              <a:solidFill>
                <a:srgbClr val="C8641E"/>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  ·  3 × 2 = 6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grpSp>
        <p:nvGrpSpPr>
          <p:cNvPr name="Group 29" id="29"/>
          <p:cNvGrpSpPr/>
          <p:nvPr/>
        </p:nvGrpSpPr>
        <p:grpSpPr>
          <a:xfrm rot="0">
            <a:off x="13101876" y="2353847"/>
            <a:ext cx="4200954" cy="1668370"/>
            <a:chOff x="0" y="0"/>
            <a:chExt cx="5601272" cy="2224494"/>
          </a:xfrm>
        </p:grpSpPr>
        <p:sp>
          <p:nvSpPr>
            <p:cNvPr name="Freeform 30" id="30"/>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grpSp>
        <p:nvGrpSpPr>
          <p:cNvPr name="Group 31" id="31"/>
          <p:cNvGrpSpPr/>
          <p:nvPr/>
        </p:nvGrpSpPr>
        <p:grpSpPr>
          <a:xfrm rot="0">
            <a:off x="13101876" y="5071739"/>
            <a:ext cx="4200954" cy="1990944"/>
            <a:chOff x="0" y="0"/>
            <a:chExt cx="5601272" cy="2654592"/>
          </a:xfrm>
        </p:grpSpPr>
        <p:sp>
          <p:nvSpPr>
            <p:cNvPr name="Freeform 32" id="32"/>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grpSp>
        <p:nvGrpSpPr>
          <p:cNvPr name="Group 33" id="33"/>
          <p:cNvGrpSpPr/>
          <p:nvPr/>
        </p:nvGrpSpPr>
        <p:grpSpPr>
          <a:xfrm rot="0">
            <a:off x="1019975" y="4177122"/>
            <a:ext cx="5647020" cy="2146706"/>
            <a:chOff x="0" y="0"/>
            <a:chExt cx="7529360" cy="2862275"/>
          </a:xfrm>
        </p:grpSpPr>
        <p:sp>
          <p:nvSpPr>
            <p:cNvPr name="Freeform 34" id="34"/>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grpSp>
        <p:nvGrpSpPr>
          <p:cNvPr name="Group 35" id="35"/>
          <p:cNvGrpSpPr/>
          <p:nvPr/>
        </p:nvGrpSpPr>
        <p:grpSpPr>
          <a:xfrm rot="0">
            <a:off x="1019975" y="6551838"/>
            <a:ext cx="5647020" cy="2146706"/>
            <a:chOff x="0" y="0"/>
            <a:chExt cx="7529360" cy="2862275"/>
          </a:xfrm>
        </p:grpSpPr>
        <p:sp>
          <p:nvSpPr>
            <p:cNvPr name="Freeform 36" id="36"/>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grpSp>
        <p:nvGrpSpPr>
          <p:cNvPr name="Group 37" id="37"/>
          <p:cNvGrpSpPr/>
          <p:nvPr/>
        </p:nvGrpSpPr>
        <p:grpSpPr>
          <a:xfrm rot="0">
            <a:off x="7059730" y="4177122"/>
            <a:ext cx="5647020" cy="2146706"/>
            <a:chOff x="0" y="0"/>
            <a:chExt cx="7529360" cy="2862275"/>
          </a:xfrm>
        </p:grpSpPr>
        <p:sp>
          <p:nvSpPr>
            <p:cNvPr name="Freeform 38" id="38"/>
            <p:cNvSpPr/>
            <p:nvPr/>
          </p:nvSpPr>
          <p:spPr>
            <a:xfrm flipH="false" flipV="false" rot="0">
              <a:off x="0" y="0"/>
              <a:ext cx="7529323" cy="2862326"/>
            </a:xfrm>
            <a:custGeom>
              <a:avLst/>
              <a:gdLst/>
              <a:ahLst/>
              <a:cxnLst/>
              <a:rect r="r" b="b" t="t" l="l"/>
              <a:pathLst>
                <a:path h="2862326" w="7529323">
                  <a:moveTo>
                    <a:pt x="0" y="92329"/>
                  </a:moveTo>
                  <a:cubicBezTo>
                    <a:pt x="0" y="41402"/>
                    <a:pt x="41402" y="0"/>
                    <a:pt x="92329" y="0"/>
                  </a:cubicBezTo>
                  <a:lnTo>
                    <a:pt x="7436993" y="0"/>
                  </a:lnTo>
                  <a:cubicBezTo>
                    <a:pt x="7488048" y="0"/>
                    <a:pt x="7529323" y="41402"/>
                    <a:pt x="7529323" y="92329"/>
                  </a:cubicBezTo>
                  <a:lnTo>
                    <a:pt x="7529323" y="2769997"/>
                  </a:lnTo>
                  <a:cubicBezTo>
                    <a:pt x="7529323" y="2821051"/>
                    <a:pt x="7487920" y="2862326"/>
                    <a:pt x="7436993"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grpSp>
        <p:nvGrpSpPr>
          <p:cNvPr name="Group 39" id="39"/>
          <p:cNvGrpSpPr/>
          <p:nvPr/>
        </p:nvGrpSpPr>
        <p:grpSpPr>
          <a:xfrm rot="0">
            <a:off x="1070686" y="9087088"/>
            <a:ext cx="11667715" cy="480431"/>
            <a:chOff x="0" y="0"/>
            <a:chExt cx="15556954" cy="640575"/>
          </a:xfrm>
        </p:grpSpPr>
        <p:sp>
          <p:nvSpPr>
            <p:cNvPr name="Freeform 40" id="40"/>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41" id="41"/>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Erwartete Lösung – 3 Elemente</a:t>
              </a:r>
            </a:p>
          </p:txBody>
        </p:sp>
      </p:grpSp>
      <p:sp>
        <p:nvSpPr>
          <p:cNvPr name="Freeform 42" id="42"/>
          <p:cNvSpPr/>
          <p:nvPr/>
        </p:nvSpPr>
        <p:spPr>
          <a:xfrm flipH="false" flipV="false" rot="0">
            <a:off x="5483240" y="3944082"/>
            <a:ext cx="1325324" cy="1199418"/>
          </a:xfrm>
          <a:custGeom>
            <a:avLst/>
            <a:gdLst/>
            <a:ahLst/>
            <a:cxnLst/>
            <a:rect r="r" b="b" t="t" l="l"/>
            <a:pathLst>
              <a:path h="1199418" w="1325324">
                <a:moveTo>
                  <a:pt x="0" y="0"/>
                </a:moveTo>
                <a:lnTo>
                  <a:pt x="1325324" y="0"/>
                </a:lnTo>
                <a:lnTo>
                  <a:pt x="1325324" y="1199418"/>
                </a:lnTo>
                <a:lnTo>
                  <a:pt x="0" y="11994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3" id="43"/>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Zwei Ebenen: Projektdoku (PM-Handbuch) und Betriebsdoku – plus laufende Abstimmung.</a:t>
            </a:r>
          </a:p>
        </p:txBody>
      </p:sp>
      <p:sp>
        <p:nvSpPr>
          <p:cNvPr name="TextBox 44" id="44"/>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Drei Aspekte, je mit Zielgruppe (Leitstelle, Werkstatt, Fahrpersonal).</a:t>
            </a:r>
          </a:p>
        </p:txBody>
      </p:sp>
      <p:sp>
        <p:nvSpPr>
          <p:cNvPr name="TextBox 45" id="4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Empfängerorientierte Doku: die Leitstelle braucht andere Unterlagen als das Fahrpersonal – ein Dokument passt nicht für alle.</a:t>
            </a:r>
          </a:p>
        </p:txBody>
      </p:sp>
      <p:sp>
        <p:nvSpPr>
          <p:cNvPr name="TextBox 46" id="46"/>
          <p:cNvSpPr txBox="true"/>
          <p:nvPr/>
        </p:nvSpPr>
        <p:spPr>
          <a:xfrm rot="0">
            <a:off x="1304039" y="4310196"/>
            <a:ext cx="5078892" cy="1880559"/>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PM-Handbuch &amp; Statusberichte</a:t>
            </a:r>
          </a:p>
          <a:p>
            <a:pPr algn="l">
              <a:lnSpc>
                <a:spcPts val="1941"/>
              </a:lnSpc>
            </a:pPr>
            <a:r>
              <a:rPr lang="en-US" sz="1651">
                <a:solidFill>
                  <a:srgbClr val="0A3A3D"/>
                </a:solidFill>
                <a:latin typeface="DM Sans"/>
                <a:ea typeface="DM Sans"/>
                <a:cs typeface="DM Sans"/>
                <a:sym typeface="DM Sans"/>
              </a:rPr>
              <a:t>Einheitliche, empfängerorientierte projektbegleitende Dokumentation.</a:t>
            </a:r>
          </a:p>
        </p:txBody>
      </p:sp>
      <p:sp>
        <p:nvSpPr>
          <p:cNvPr name="TextBox 47" id="47"/>
          <p:cNvSpPr txBox="true"/>
          <p:nvPr/>
        </p:nvSpPr>
        <p:spPr>
          <a:xfrm rot="0">
            <a:off x="1304039" y="6684912"/>
            <a:ext cx="5078892" cy="1880559"/>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Betriebs- &amp; Anwenderdokumentation</a:t>
            </a:r>
          </a:p>
          <a:p>
            <a:pPr algn="l">
              <a:lnSpc>
                <a:spcPts val="1941"/>
              </a:lnSpc>
            </a:pPr>
            <a:r>
              <a:rPr lang="en-US" sz="1651">
                <a:solidFill>
                  <a:srgbClr val="0A3A3D"/>
                </a:solidFill>
                <a:latin typeface="DM Sans"/>
                <a:ea typeface="DM Sans"/>
                <a:cs typeface="DM Sans"/>
                <a:sym typeface="DM Sans"/>
              </a:rPr>
              <a:t>Für Leitstelle, Werkstatt und Fahrpersonal.</a:t>
            </a:r>
          </a:p>
        </p:txBody>
      </p:sp>
      <p:sp>
        <p:nvSpPr>
          <p:cNvPr name="TextBox 48" id="48"/>
          <p:cNvSpPr txBox="true"/>
          <p:nvPr/>
        </p:nvSpPr>
        <p:spPr>
          <a:xfrm rot="0">
            <a:off x="7343794" y="4310196"/>
            <a:ext cx="5078892" cy="1880559"/>
          </a:xfrm>
          <a:prstGeom prst="rect">
            <a:avLst/>
          </a:prstGeom>
        </p:spPr>
        <p:txBody>
          <a:bodyPr anchor="t" rtlCol="false" tIns="0" lIns="0" bIns="0" rIns="0">
            <a:spAutoFit/>
          </a:bodyPr>
          <a:lstStyle/>
          <a:p>
            <a:pPr algn="l">
              <a:lnSpc>
                <a:spcPts val="2118"/>
              </a:lnSpc>
            </a:pPr>
            <a:r>
              <a:rPr lang="en-US" sz="1801" b="true">
                <a:solidFill>
                  <a:srgbClr val="0C1D4B"/>
                </a:solidFill>
                <a:latin typeface="Montserrat Bold"/>
                <a:ea typeface="Montserrat Bold"/>
                <a:cs typeface="Montserrat Bold"/>
                <a:sym typeface="Montserrat Bold"/>
              </a:rPr>
              <a:t>Regelmäßige Kundenberatung &amp; Abstimmung</a:t>
            </a:r>
          </a:p>
          <a:p>
            <a:pPr algn="l">
              <a:lnSpc>
                <a:spcPts val="1941"/>
              </a:lnSpc>
            </a:pPr>
            <a:r>
              <a:rPr lang="en-US" sz="1651">
                <a:solidFill>
                  <a:srgbClr val="0A3A3D"/>
                </a:solidFill>
                <a:latin typeface="DM Sans"/>
                <a:ea typeface="DM Sans"/>
                <a:cs typeface="DM Sans"/>
                <a:sym typeface="DM Sans"/>
              </a:rPr>
              <a:t>Mit Fahrbetrieb, Werkstatt und Datenschutz zur Anforderungsklärung und Feedback.</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62</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5</a:t>
              </a:r>
            </a:p>
          </p:txBody>
        </p:sp>
      </p:grpSp>
      <p:grpSp>
        <p:nvGrpSpPr>
          <p:cNvPr name="Group 15" id="15"/>
          <p:cNvGrpSpPr/>
          <p:nvPr/>
        </p:nvGrpSpPr>
        <p:grpSpPr>
          <a:xfrm rot="0">
            <a:off x="1029500" y="1304039"/>
            <a:ext cx="10981382" cy="823608"/>
            <a:chOff x="0" y="0"/>
            <a:chExt cx="14641843" cy="1098144"/>
          </a:xfrm>
        </p:grpSpPr>
        <p:sp>
          <p:nvSpPr>
            <p:cNvPr name="Freeform 16" id="16"/>
            <p:cNvSpPr/>
            <p:nvPr/>
          </p:nvSpPr>
          <p:spPr>
            <a:xfrm flipH="false" flipV="false" rot="0">
              <a:off x="0" y="0"/>
              <a:ext cx="14641840" cy="1098138"/>
            </a:xfrm>
            <a:custGeom>
              <a:avLst/>
              <a:gdLst/>
              <a:ahLst/>
              <a:cxnLst/>
              <a:rect r="r" b="b" t="t" l="l"/>
              <a:pathLst>
                <a:path h="1098138" w="14641840">
                  <a:moveTo>
                    <a:pt x="0" y="0"/>
                  </a:moveTo>
                  <a:lnTo>
                    <a:pt x="14641840" y="0"/>
                  </a:lnTo>
                  <a:lnTo>
                    <a:pt x="14641840" y="1098138"/>
                  </a:lnTo>
                  <a:lnTo>
                    <a:pt x="0" y="1098138"/>
                  </a:lnTo>
                  <a:close/>
                </a:path>
              </a:pathLst>
            </a:custGeom>
            <a:blipFill>
              <a:blip r:embed="rId3">
                <a:alphaModFix amt="0"/>
              </a:blip>
              <a:stretch>
                <a:fillRect l="0" t="-209800" r="0" b="-209800"/>
              </a:stretch>
            </a:blipFill>
          </p:spPr>
        </p:sp>
        <p:sp>
          <p:nvSpPr>
            <p:cNvPr name="TextBox 17" id="17"/>
            <p:cNvSpPr txBox="true"/>
            <p:nvPr/>
          </p:nvSpPr>
          <p:spPr>
            <a:xfrm>
              <a:off x="0" y="0"/>
              <a:ext cx="14641843" cy="1098144"/>
            </a:xfrm>
            <a:prstGeom prst="rect">
              <a:avLst/>
            </a:prstGeom>
          </p:spPr>
          <p:txBody>
            <a:bodyPr anchor="ctr" rtlCol="false" tIns="0" lIns="0" bIns="0" rIns="0"/>
            <a:lstStyle/>
            <a:p>
              <a:pPr algn="l">
                <a:lnSpc>
                  <a:spcPts val="5404"/>
                </a:lnSpc>
              </a:pPr>
              <a:r>
                <a:rPr lang="en-US" sz="4503" b="true">
                  <a:solidFill>
                    <a:srgbClr val="0C1D4B"/>
                  </a:solidFill>
                  <a:latin typeface="Montserrat Bold"/>
                  <a:ea typeface="Montserrat Bold"/>
                  <a:cs typeface="Montserrat Bold"/>
                  <a:sym typeface="Montserrat Bold"/>
                </a:rPr>
                <a:t>Aufgabe 5 b)</a:t>
              </a:r>
            </a:p>
          </p:txBody>
        </p:sp>
      </p:grpSp>
      <p:grpSp>
        <p:nvGrpSpPr>
          <p:cNvPr name="Group 18" id="18"/>
          <p:cNvGrpSpPr/>
          <p:nvPr/>
        </p:nvGrpSpPr>
        <p:grpSpPr>
          <a:xfrm rot="0">
            <a:off x="1070686" y="2127647"/>
            <a:ext cx="15099392" cy="617706"/>
            <a:chOff x="0" y="0"/>
            <a:chExt cx="20132523" cy="823608"/>
          </a:xfrm>
        </p:grpSpPr>
        <p:sp>
          <p:nvSpPr>
            <p:cNvPr name="Freeform 19" id="19"/>
            <p:cNvSpPr/>
            <p:nvPr/>
          </p:nvSpPr>
          <p:spPr>
            <a:xfrm flipH="false" flipV="false" rot="0">
              <a:off x="0" y="0"/>
              <a:ext cx="20132529" cy="823603"/>
            </a:xfrm>
            <a:custGeom>
              <a:avLst/>
              <a:gdLst/>
              <a:ahLst/>
              <a:cxnLst/>
              <a:rect r="r" b="b" t="t" l="l"/>
              <a:pathLst>
                <a:path h="823603" w="20132529">
                  <a:moveTo>
                    <a:pt x="0" y="0"/>
                  </a:moveTo>
                  <a:lnTo>
                    <a:pt x="20132529" y="0"/>
                  </a:lnTo>
                  <a:lnTo>
                    <a:pt x="20132529" y="823603"/>
                  </a:lnTo>
                  <a:lnTo>
                    <a:pt x="0" y="823603"/>
                  </a:lnTo>
                  <a:close/>
                </a:path>
              </a:pathLst>
            </a:custGeom>
            <a:blipFill>
              <a:blip r:embed="rId3">
                <a:alphaModFix amt="0"/>
              </a:blip>
              <a:stretch>
                <a:fillRect l="0" t="-426300" r="0" b="-426301"/>
              </a:stretch>
            </a:blipFill>
          </p:spPr>
        </p:sp>
        <p:sp>
          <p:nvSpPr>
            <p:cNvPr name="TextBox 20" id="20"/>
            <p:cNvSpPr txBox="true"/>
            <p:nvPr/>
          </p:nvSpPr>
          <p:spPr>
            <a:xfrm>
              <a:off x="0" y="9525"/>
              <a:ext cx="20132523" cy="814083"/>
            </a:xfrm>
            <a:prstGeom prst="rect">
              <a:avLst/>
            </a:prstGeom>
          </p:spPr>
          <p:txBody>
            <a:bodyPr anchor="ctr" rtlCol="false" tIns="0" lIns="0" bIns="0" rIns="0"/>
            <a:lstStyle/>
            <a:p>
              <a:pPr algn="l">
                <a:lnSpc>
                  <a:spcPts val="2882"/>
                </a:lnSpc>
              </a:pPr>
              <a:r>
                <a:rPr lang="en-US" sz="2401" b="true">
                  <a:solidFill>
                    <a:srgbClr val="FF4000"/>
                  </a:solidFill>
                  <a:latin typeface="Montserrat Bold"/>
                  <a:ea typeface="Montserrat Bold"/>
                  <a:cs typeface="Montserrat Bold"/>
                  <a:sym typeface="Montserrat Bold"/>
                </a:rPr>
                <a:t>Schulung &amp; Roll-out</a:t>
              </a:r>
            </a:p>
          </p:txBody>
        </p:sp>
      </p:grpSp>
      <p:grpSp>
        <p:nvGrpSpPr>
          <p:cNvPr name="Group 21" id="21"/>
          <p:cNvGrpSpPr/>
          <p:nvPr/>
        </p:nvGrpSpPr>
        <p:grpSpPr>
          <a:xfrm rot="0">
            <a:off x="1019975" y="2941711"/>
            <a:ext cx="4617520" cy="732854"/>
            <a:chOff x="0" y="0"/>
            <a:chExt cx="6156693" cy="977138"/>
          </a:xfrm>
        </p:grpSpPr>
        <p:sp>
          <p:nvSpPr>
            <p:cNvPr name="Freeform 22" id="22"/>
            <p:cNvSpPr/>
            <p:nvPr/>
          </p:nvSpPr>
          <p:spPr>
            <a:xfrm flipH="false" flipV="false" rot="0">
              <a:off x="0" y="0"/>
              <a:ext cx="6156706" cy="977138"/>
            </a:xfrm>
            <a:custGeom>
              <a:avLst/>
              <a:gdLst/>
              <a:ahLst/>
              <a:cxnLst/>
              <a:rect r="r" b="b" t="t" l="l"/>
              <a:pathLst>
                <a:path h="977138" w="6156706">
                  <a:moveTo>
                    <a:pt x="0" y="169164"/>
                  </a:moveTo>
                  <a:cubicBezTo>
                    <a:pt x="0" y="75692"/>
                    <a:pt x="75692" y="0"/>
                    <a:pt x="169164" y="0"/>
                  </a:cubicBezTo>
                  <a:lnTo>
                    <a:pt x="5987542" y="0"/>
                  </a:lnTo>
                  <a:cubicBezTo>
                    <a:pt x="6080887" y="0"/>
                    <a:pt x="6156706" y="75692"/>
                    <a:pt x="6156706" y="169164"/>
                  </a:cubicBezTo>
                  <a:lnTo>
                    <a:pt x="6156706" y="807974"/>
                  </a:lnTo>
                  <a:cubicBezTo>
                    <a:pt x="6156706" y="901319"/>
                    <a:pt x="6081014" y="977138"/>
                    <a:pt x="5987542" y="977138"/>
                  </a:cubicBezTo>
                  <a:lnTo>
                    <a:pt x="169164" y="977138"/>
                  </a:lnTo>
                  <a:cubicBezTo>
                    <a:pt x="75692" y="977138"/>
                    <a:pt x="0" y="901446"/>
                    <a:pt x="0" y="807974"/>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056961" y="2951245"/>
            <a:ext cx="4543549" cy="713794"/>
            <a:chOff x="0" y="0"/>
            <a:chExt cx="6058065" cy="951725"/>
          </a:xfrm>
        </p:grpSpPr>
        <p:sp>
          <p:nvSpPr>
            <p:cNvPr name="Freeform 24" id="24"/>
            <p:cNvSpPr/>
            <p:nvPr/>
          </p:nvSpPr>
          <p:spPr>
            <a:xfrm flipH="false" flipV="false" rot="0">
              <a:off x="0" y="0"/>
              <a:ext cx="6058061" cy="951720"/>
            </a:xfrm>
            <a:custGeom>
              <a:avLst/>
              <a:gdLst/>
              <a:ahLst/>
              <a:cxnLst/>
              <a:rect r="r" b="b" t="t" l="l"/>
              <a:pathLst>
                <a:path h="951720" w="6058061">
                  <a:moveTo>
                    <a:pt x="0" y="0"/>
                  </a:moveTo>
                  <a:lnTo>
                    <a:pt x="6058061" y="0"/>
                  </a:lnTo>
                  <a:lnTo>
                    <a:pt x="6058061" y="951720"/>
                  </a:lnTo>
                  <a:lnTo>
                    <a:pt x="0" y="951720"/>
                  </a:lnTo>
                  <a:close/>
                </a:path>
              </a:pathLst>
            </a:custGeom>
            <a:blipFill>
              <a:blip r:embed="rId3">
                <a:alphaModFix amt="0"/>
              </a:blip>
              <a:stretch>
                <a:fillRect l="0" t="-74029" r="0" b="-74030"/>
              </a:stretch>
            </a:blipFill>
          </p:spPr>
        </p:sp>
        <p:sp>
          <p:nvSpPr>
            <p:cNvPr name="TextBox 25" id="25"/>
            <p:cNvSpPr txBox="true"/>
            <p:nvPr/>
          </p:nvSpPr>
          <p:spPr>
            <a:xfrm>
              <a:off x="0" y="0"/>
              <a:ext cx="6058065" cy="951725"/>
            </a:xfrm>
            <a:prstGeom prst="rect">
              <a:avLst/>
            </a:prstGeom>
          </p:spPr>
          <p:txBody>
            <a:bodyPr anchor="ctr" rtlCol="false" tIns="0" lIns="0" bIns="0" rIns="0"/>
            <a:lstStyle/>
            <a:p>
              <a:pPr algn="ctr">
                <a:lnSpc>
                  <a:spcPts val="2071"/>
                </a:lnSpc>
              </a:pPr>
              <a:r>
                <a:rPr lang="en-US" sz="1726" b="true">
                  <a:solidFill>
                    <a:srgbClr val="FFFFFF"/>
                  </a:solidFill>
                  <a:latin typeface="Montserrat Bold"/>
                  <a:ea typeface="Montserrat Bold"/>
                  <a:cs typeface="Montserrat Bold"/>
                  <a:sym typeface="Montserrat Bold"/>
                </a:rPr>
                <a:t>AFB III</a:t>
              </a:r>
              <a:r>
                <a:rPr lang="en-US" sz="1726">
                  <a:solidFill>
                    <a:srgbClr val="FFFFFF"/>
                  </a:solidFill>
                  <a:latin typeface="Montserrat"/>
                  <a:ea typeface="Montserrat"/>
                  <a:cs typeface="Montserrat"/>
                  <a:sym typeface="Montserrat"/>
                </a:rPr>
                <a:t>   Ableiten / Begründen</a:t>
              </a:r>
            </a:p>
          </p:txBody>
        </p:sp>
      </p:grpSp>
      <p:grpSp>
        <p:nvGrpSpPr>
          <p:cNvPr name="Group 26" id="26"/>
          <p:cNvGrpSpPr/>
          <p:nvPr/>
        </p:nvGrpSpPr>
        <p:grpSpPr>
          <a:xfrm rot="0">
            <a:off x="5851779" y="2941711"/>
            <a:ext cx="3176216" cy="732854"/>
            <a:chOff x="0" y="0"/>
            <a:chExt cx="4234955" cy="977138"/>
          </a:xfrm>
        </p:grpSpPr>
        <p:sp>
          <p:nvSpPr>
            <p:cNvPr name="Freeform 27" id="27"/>
            <p:cNvSpPr/>
            <p:nvPr/>
          </p:nvSpPr>
          <p:spPr>
            <a:xfrm flipH="false" flipV="false" rot="0">
              <a:off x="0" y="0"/>
              <a:ext cx="4234942" cy="977138"/>
            </a:xfrm>
            <a:custGeom>
              <a:avLst/>
              <a:gdLst/>
              <a:ahLst/>
              <a:cxnLst/>
              <a:rect r="r" b="b" t="t" l="l"/>
              <a:pathLst>
                <a:path h="977138" w="4234942">
                  <a:moveTo>
                    <a:pt x="0" y="169164"/>
                  </a:moveTo>
                  <a:cubicBezTo>
                    <a:pt x="0" y="75692"/>
                    <a:pt x="75692" y="0"/>
                    <a:pt x="169164" y="0"/>
                  </a:cubicBezTo>
                  <a:lnTo>
                    <a:pt x="4065778" y="0"/>
                  </a:lnTo>
                  <a:cubicBezTo>
                    <a:pt x="4159123" y="0"/>
                    <a:pt x="4234942" y="75692"/>
                    <a:pt x="4234942" y="169164"/>
                  </a:cubicBezTo>
                  <a:lnTo>
                    <a:pt x="4234942" y="807974"/>
                  </a:lnTo>
                  <a:cubicBezTo>
                    <a:pt x="4234942" y="901319"/>
                    <a:pt x="4159250" y="977138"/>
                    <a:pt x="4065778" y="977138"/>
                  </a:cubicBezTo>
                  <a:lnTo>
                    <a:pt x="169164" y="977138"/>
                  </a:lnTo>
                  <a:cubicBezTo>
                    <a:pt x="75692" y="977138"/>
                    <a:pt x="0" y="901446"/>
                    <a:pt x="0" y="807974"/>
                  </a:cubicBezTo>
                  <a:close/>
                </a:path>
              </a:pathLst>
            </a:custGeom>
            <a:solidFill>
              <a:srgbClr val="EEF2F7"/>
            </a:solidFill>
            <a:ln w="19065" cap="sq">
              <a:solidFill>
                <a:srgbClr val="D8DEE7"/>
              </a:solidFill>
              <a:prstDash val="solid"/>
              <a:miter/>
            </a:ln>
          </p:spPr>
        </p:sp>
      </p:grpSp>
      <p:grpSp>
        <p:nvGrpSpPr>
          <p:cNvPr name="Group 28" id="28"/>
          <p:cNvGrpSpPr/>
          <p:nvPr/>
        </p:nvGrpSpPr>
        <p:grpSpPr>
          <a:xfrm rot="0">
            <a:off x="5861314" y="2951245"/>
            <a:ext cx="3157147" cy="713794"/>
            <a:chOff x="0" y="0"/>
            <a:chExt cx="4209529" cy="951725"/>
          </a:xfrm>
        </p:grpSpPr>
        <p:sp>
          <p:nvSpPr>
            <p:cNvPr name="Freeform 29" id="29"/>
            <p:cNvSpPr/>
            <p:nvPr/>
          </p:nvSpPr>
          <p:spPr>
            <a:xfrm flipH="false" flipV="false" rot="0">
              <a:off x="0" y="0"/>
              <a:ext cx="4209529" cy="951720"/>
            </a:xfrm>
            <a:custGeom>
              <a:avLst/>
              <a:gdLst/>
              <a:ahLst/>
              <a:cxnLst/>
              <a:rect r="r" b="b" t="t" l="l"/>
              <a:pathLst>
                <a:path h="951720" w="4209529">
                  <a:moveTo>
                    <a:pt x="0" y="0"/>
                  </a:moveTo>
                  <a:lnTo>
                    <a:pt x="4209529" y="0"/>
                  </a:lnTo>
                  <a:lnTo>
                    <a:pt x="4209529" y="951720"/>
                  </a:lnTo>
                  <a:lnTo>
                    <a:pt x="0" y="951720"/>
                  </a:lnTo>
                  <a:close/>
                </a:path>
              </a:pathLst>
            </a:custGeom>
            <a:blipFill>
              <a:blip r:embed="rId3">
                <a:alphaModFix amt="0"/>
              </a:blip>
              <a:stretch>
                <a:fillRect l="0" t="-36183" r="0" b="-36184"/>
              </a:stretch>
            </a:blipFill>
          </p:spPr>
        </p:sp>
        <p:sp>
          <p:nvSpPr>
            <p:cNvPr name="TextBox 30" id="30"/>
            <p:cNvSpPr txBox="true"/>
            <p:nvPr/>
          </p:nvSpPr>
          <p:spPr>
            <a:xfrm>
              <a:off x="0" y="0"/>
              <a:ext cx="4209529" cy="951725"/>
            </a:xfrm>
            <a:prstGeom prst="rect">
              <a:avLst/>
            </a:prstGeom>
          </p:spPr>
          <p:txBody>
            <a:bodyPr anchor="ctr" rtlCol="false" tIns="0" lIns="0" bIns="0" rIns="0"/>
            <a:lstStyle/>
            <a:p>
              <a:pPr algn="ctr">
                <a:lnSpc>
                  <a:spcPts val="2071"/>
                </a:lnSpc>
              </a:pPr>
              <a:r>
                <a:rPr lang="en-US" sz="1726" b="true">
                  <a:solidFill>
                    <a:srgbClr val="0C1D4B"/>
                  </a:solidFill>
                  <a:latin typeface="Montserrat Bold"/>
                  <a:ea typeface="Montserrat Bold"/>
                  <a:cs typeface="Montserrat Bold"/>
                  <a:sym typeface="Montserrat Bold"/>
                </a:rPr>
                <a:t>2 × 3 = 6 P.</a:t>
              </a:r>
            </a:p>
          </p:txBody>
        </p:sp>
      </p:grpSp>
      <p:grpSp>
        <p:nvGrpSpPr>
          <p:cNvPr name="Group 31" id="31"/>
          <p:cNvGrpSpPr/>
          <p:nvPr/>
        </p:nvGrpSpPr>
        <p:grpSpPr>
          <a:xfrm rot="0">
            <a:off x="1070686" y="4118019"/>
            <a:ext cx="4118019" cy="411804"/>
            <a:chOff x="0" y="0"/>
            <a:chExt cx="5490693" cy="549072"/>
          </a:xfrm>
        </p:grpSpPr>
        <p:sp>
          <p:nvSpPr>
            <p:cNvPr name="Freeform 32" id="32"/>
            <p:cNvSpPr/>
            <p:nvPr/>
          </p:nvSpPr>
          <p:spPr>
            <a:xfrm flipH="false" flipV="false" rot="0">
              <a:off x="0" y="0"/>
              <a:ext cx="5490690" cy="549069"/>
            </a:xfrm>
            <a:custGeom>
              <a:avLst/>
              <a:gdLst/>
              <a:ahLst/>
              <a:cxnLst/>
              <a:rect r="r" b="b" t="t" l="l"/>
              <a:pathLst>
                <a:path h="549069" w="5490690">
                  <a:moveTo>
                    <a:pt x="0" y="0"/>
                  </a:moveTo>
                  <a:lnTo>
                    <a:pt x="5490690" y="0"/>
                  </a:lnTo>
                  <a:lnTo>
                    <a:pt x="5490690" y="549069"/>
                  </a:lnTo>
                  <a:lnTo>
                    <a:pt x="0" y="549069"/>
                  </a:lnTo>
                  <a:close/>
                </a:path>
              </a:pathLst>
            </a:custGeom>
            <a:blipFill>
              <a:blip r:embed="rId3">
                <a:alphaModFix amt="0"/>
              </a:blip>
              <a:stretch>
                <a:fillRect l="0" t="-144850" r="0" b="-144850"/>
              </a:stretch>
            </a:blipFill>
          </p:spPr>
        </p:sp>
        <p:sp>
          <p:nvSpPr>
            <p:cNvPr name="TextBox 33" id="33"/>
            <p:cNvSpPr txBox="true"/>
            <p:nvPr/>
          </p:nvSpPr>
          <p:spPr>
            <a:xfrm>
              <a:off x="0" y="0"/>
              <a:ext cx="5490693" cy="549072"/>
            </a:xfrm>
            <a:prstGeom prst="rect">
              <a:avLst/>
            </a:prstGeom>
          </p:spPr>
          <p:txBody>
            <a:bodyPr anchor="ctr" rtlCol="false" tIns="0" lIns="0" bIns="0" rIns="0"/>
            <a:lstStyle/>
            <a:p>
              <a:pPr algn="l">
                <a:lnSpc>
                  <a:spcPts val="1981"/>
                </a:lnSpc>
              </a:pPr>
              <a:r>
                <a:rPr lang="en-US" b="true" sz="1651" spc="300">
                  <a:solidFill>
                    <a:srgbClr val="6B7280"/>
                  </a:solidFill>
                  <a:latin typeface="Montserrat Bold"/>
                  <a:ea typeface="Montserrat Bold"/>
                  <a:cs typeface="Montserrat Bold"/>
                  <a:sym typeface="Montserrat Bold"/>
                </a:rPr>
                <a:t>FRAGE</a:t>
              </a:r>
            </a:p>
          </p:txBody>
        </p:sp>
      </p:grpSp>
      <p:grpSp>
        <p:nvGrpSpPr>
          <p:cNvPr name="Group 34" id="34"/>
          <p:cNvGrpSpPr/>
          <p:nvPr/>
        </p:nvGrpSpPr>
        <p:grpSpPr>
          <a:xfrm rot="0">
            <a:off x="1019975" y="4575191"/>
            <a:ext cx="16285235" cy="2489873"/>
            <a:chOff x="0" y="0"/>
            <a:chExt cx="21713647" cy="3319831"/>
          </a:xfrm>
        </p:grpSpPr>
        <p:sp>
          <p:nvSpPr>
            <p:cNvPr name="Freeform 35" id="35"/>
            <p:cNvSpPr/>
            <p:nvPr/>
          </p:nvSpPr>
          <p:spPr>
            <a:xfrm flipH="false" flipV="false" rot="0">
              <a:off x="0" y="0"/>
              <a:ext cx="21713571" cy="3319780"/>
            </a:xfrm>
            <a:custGeom>
              <a:avLst/>
              <a:gdLst/>
              <a:ahLst/>
              <a:cxnLst/>
              <a:rect r="r" b="b" t="t" l="l"/>
              <a:pathLst>
                <a:path h="3319780" w="21713571">
                  <a:moveTo>
                    <a:pt x="0" y="92202"/>
                  </a:moveTo>
                  <a:cubicBezTo>
                    <a:pt x="0" y="41275"/>
                    <a:pt x="41275" y="0"/>
                    <a:pt x="92202" y="0"/>
                  </a:cubicBezTo>
                  <a:lnTo>
                    <a:pt x="21621369" y="0"/>
                  </a:lnTo>
                  <a:cubicBezTo>
                    <a:pt x="21672296" y="0"/>
                    <a:pt x="21713571" y="41275"/>
                    <a:pt x="21713571" y="92202"/>
                  </a:cubicBezTo>
                  <a:lnTo>
                    <a:pt x="21713571" y="3227578"/>
                  </a:lnTo>
                  <a:cubicBezTo>
                    <a:pt x="21713571" y="3278505"/>
                    <a:pt x="21672296" y="3319780"/>
                    <a:pt x="21621369" y="3319780"/>
                  </a:cubicBezTo>
                  <a:lnTo>
                    <a:pt x="92202" y="3319780"/>
                  </a:lnTo>
                  <a:cubicBezTo>
                    <a:pt x="41275" y="3319780"/>
                    <a:pt x="0" y="3278505"/>
                    <a:pt x="0" y="3227578"/>
                  </a:cubicBezTo>
                  <a:close/>
                </a:path>
              </a:pathLst>
            </a:custGeom>
            <a:solidFill>
              <a:srgbClr val="EEF2F7"/>
            </a:solidFill>
            <a:ln w="19065" cap="sq">
              <a:solidFill>
                <a:srgbClr val="D8DEE7"/>
              </a:solidFill>
              <a:prstDash val="solid"/>
              <a:miter/>
            </a:ln>
          </p:spPr>
        </p:sp>
      </p:grpSp>
      <p:grpSp>
        <p:nvGrpSpPr>
          <p:cNvPr name="Group 36" id="36"/>
          <p:cNvGrpSpPr/>
          <p:nvPr/>
        </p:nvGrpSpPr>
        <p:grpSpPr>
          <a:xfrm rot="0">
            <a:off x="1441304" y="4804353"/>
            <a:ext cx="15442568" cy="2059009"/>
            <a:chOff x="0" y="0"/>
            <a:chExt cx="20590091" cy="2745345"/>
          </a:xfrm>
        </p:grpSpPr>
        <p:sp>
          <p:nvSpPr>
            <p:cNvPr name="Freeform 37" id="37"/>
            <p:cNvSpPr/>
            <p:nvPr/>
          </p:nvSpPr>
          <p:spPr>
            <a:xfrm flipH="false" flipV="false" rot="0">
              <a:off x="0" y="0"/>
              <a:ext cx="20590086" cy="2745343"/>
            </a:xfrm>
            <a:custGeom>
              <a:avLst/>
              <a:gdLst/>
              <a:ahLst/>
              <a:cxnLst/>
              <a:rect r="r" b="b" t="t" l="l"/>
              <a:pathLst>
                <a:path h="2745343" w="20590086">
                  <a:moveTo>
                    <a:pt x="0" y="0"/>
                  </a:moveTo>
                  <a:lnTo>
                    <a:pt x="20590086" y="0"/>
                  </a:lnTo>
                  <a:lnTo>
                    <a:pt x="20590086" y="2745343"/>
                  </a:lnTo>
                  <a:lnTo>
                    <a:pt x="0" y="2745343"/>
                  </a:lnTo>
                  <a:close/>
                </a:path>
              </a:pathLst>
            </a:custGeom>
            <a:blipFill>
              <a:blip r:embed="rId3">
                <a:alphaModFix amt="0"/>
              </a:blip>
              <a:stretch>
                <a:fillRect l="0" t="-96137" r="0" b="-96137"/>
              </a:stretch>
            </a:blipFill>
          </p:spPr>
        </p:sp>
        <p:sp>
          <p:nvSpPr>
            <p:cNvPr name="TextBox 38" id="38"/>
            <p:cNvSpPr txBox="true"/>
            <p:nvPr/>
          </p:nvSpPr>
          <p:spPr>
            <a:xfrm>
              <a:off x="0" y="-28575"/>
              <a:ext cx="20590091" cy="2773920"/>
            </a:xfrm>
            <a:prstGeom prst="rect">
              <a:avLst/>
            </a:prstGeom>
          </p:spPr>
          <p:txBody>
            <a:bodyPr anchor="ctr" rtlCol="false" tIns="0" lIns="0" bIns="0" rIns="0"/>
            <a:lstStyle/>
            <a:p>
              <a:pPr algn="l">
                <a:lnSpc>
                  <a:spcPts val="3112"/>
                </a:lnSpc>
              </a:pPr>
              <a:r>
                <a:rPr lang="en-US" sz="2401">
                  <a:solidFill>
                    <a:srgbClr val="0C1D4B"/>
                  </a:solidFill>
                  <a:latin typeface="DM Sans"/>
                  <a:ea typeface="DM Sans"/>
                  <a:cs typeface="DM Sans"/>
                  <a:sym typeface="DM Sans"/>
                </a:rPr>
                <a:t>Leiten Sie </a:t>
              </a:r>
              <a:r>
                <a:rPr lang="en-US" sz="2401" u="sng">
                  <a:solidFill>
                    <a:srgbClr val="0C1D4B"/>
                  </a:solidFill>
                  <a:latin typeface="DM Sans"/>
                  <a:ea typeface="DM Sans"/>
                  <a:cs typeface="DM Sans"/>
                  <a:sym typeface="DM Sans"/>
                </a:rPr>
                <a:t>zwei Schulungs- bzw. Roll-out-Maßnahmen</a:t>
              </a:r>
              <a:r>
                <a:rPr lang="en-US" sz="2401">
                  <a:solidFill>
                    <a:srgbClr val="0C1D4B"/>
                  </a:solidFill>
                  <a:latin typeface="DM Sans"/>
                  <a:ea typeface="DM Sans"/>
                  <a:cs typeface="DM Sans"/>
                  <a:sym typeface="DM Sans"/>
                </a:rPr>
                <a:t> für das Fahr- und Leitstellenpersonal ab und begründen Sie diese.</a:t>
              </a:r>
            </a:p>
          </p:txBody>
        </p:sp>
      </p:grpSp>
      <p:grpSp>
        <p:nvGrpSpPr>
          <p:cNvPr name="Group 39" id="39"/>
          <p:cNvGrpSpPr/>
          <p:nvPr/>
        </p:nvGrpSpPr>
        <p:grpSpPr>
          <a:xfrm rot="0">
            <a:off x="1019975" y="7402897"/>
            <a:ext cx="16285235" cy="1872177"/>
            <a:chOff x="0" y="0"/>
            <a:chExt cx="21713647" cy="2496236"/>
          </a:xfrm>
        </p:grpSpPr>
        <p:sp>
          <p:nvSpPr>
            <p:cNvPr name="Freeform 40" id="40"/>
            <p:cNvSpPr/>
            <p:nvPr/>
          </p:nvSpPr>
          <p:spPr>
            <a:xfrm flipH="false" flipV="false" rot="0">
              <a:off x="0" y="0"/>
              <a:ext cx="21713698" cy="2496185"/>
            </a:xfrm>
            <a:custGeom>
              <a:avLst/>
              <a:gdLst/>
              <a:ahLst/>
              <a:cxnLst/>
              <a:rect r="r" b="b" t="t" l="l"/>
              <a:pathLst>
                <a:path h="2496185" w="21713698">
                  <a:moveTo>
                    <a:pt x="0" y="92456"/>
                  </a:moveTo>
                  <a:cubicBezTo>
                    <a:pt x="0" y="41402"/>
                    <a:pt x="41402" y="0"/>
                    <a:pt x="92456" y="0"/>
                  </a:cubicBezTo>
                  <a:lnTo>
                    <a:pt x="21621242" y="0"/>
                  </a:lnTo>
                  <a:cubicBezTo>
                    <a:pt x="21672296" y="0"/>
                    <a:pt x="21713698" y="41402"/>
                    <a:pt x="21713698" y="92456"/>
                  </a:cubicBezTo>
                  <a:lnTo>
                    <a:pt x="21713698" y="2403729"/>
                  </a:lnTo>
                  <a:cubicBezTo>
                    <a:pt x="21713698" y="2454783"/>
                    <a:pt x="21672296" y="2496185"/>
                    <a:pt x="21621242" y="2496185"/>
                  </a:cubicBezTo>
                  <a:lnTo>
                    <a:pt x="92456" y="2496185"/>
                  </a:lnTo>
                  <a:cubicBezTo>
                    <a:pt x="41402" y="2496185"/>
                    <a:pt x="0" y="2454783"/>
                    <a:pt x="0" y="2403729"/>
                  </a:cubicBezTo>
                  <a:close/>
                </a:path>
              </a:pathLst>
            </a:custGeom>
            <a:solidFill>
              <a:srgbClr val="E8FBFC"/>
            </a:solidFill>
            <a:ln w="19065" cap="sq">
              <a:solidFill>
                <a:srgbClr val="5CE1E6"/>
              </a:solidFill>
              <a:prstDash val="solid"/>
              <a:miter/>
            </a:ln>
          </p:spPr>
        </p:sp>
      </p:grpSp>
      <p:grpSp>
        <p:nvGrpSpPr>
          <p:cNvPr name="Group 41" id="41"/>
          <p:cNvGrpSpPr/>
          <p:nvPr/>
        </p:nvGrpSpPr>
        <p:grpSpPr>
          <a:xfrm rot="0">
            <a:off x="1441304" y="7549696"/>
            <a:ext cx="15442568" cy="1578569"/>
            <a:chOff x="0" y="0"/>
            <a:chExt cx="20590091" cy="2104758"/>
          </a:xfrm>
        </p:grpSpPr>
        <p:sp>
          <p:nvSpPr>
            <p:cNvPr name="Freeform 42" id="42"/>
            <p:cNvSpPr/>
            <p:nvPr/>
          </p:nvSpPr>
          <p:spPr>
            <a:xfrm flipH="false" flipV="false" rot="0">
              <a:off x="0" y="0"/>
              <a:ext cx="20590086" cy="2104764"/>
            </a:xfrm>
            <a:custGeom>
              <a:avLst/>
              <a:gdLst/>
              <a:ahLst/>
              <a:cxnLst/>
              <a:rect r="r" b="b" t="t" l="l"/>
              <a:pathLst>
                <a:path h="2104764" w="20590086">
                  <a:moveTo>
                    <a:pt x="0" y="0"/>
                  </a:moveTo>
                  <a:lnTo>
                    <a:pt x="20590086" y="0"/>
                  </a:lnTo>
                  <a:lnTo>
                    <a:pt x="20590086" y="2104764"/>
                  </a:lnTo>
                  <a:lnTo>
                    <a:pt x="0" y="2104764"/>
                  </a:lnTo>
                  <a:close/>
                </a:path>
              </a:pathLst>
            </a:custGeom>
            <a:blipFill>
              <a:blip r:embed="rId3">
                <a:alphaModFix amt="0"/>
              </a:blip>
              <a:stretch>
                <a:fillRect l="0" t="-140614" r="0" b="-140614"/>
              </a:stretch>
            </a:blipFill>
          </p:spPr>
        </p:sp>
        <p:sp>
          <p:nvSpPr>
            <p:cNvPr name="TextBox 43" id="43"/>
            <p:cNvSpPr txBox="true"/>
            <p:nvPr/>
          </p:nvSpPr>
          <p:spPr>
            <a:xfrm>
              <a:off x="0" y="-19050"/>
              <a:ext cx="20590091" cy="2123808"/>
            </a:xfrm>
            <a:prstGeom prst="rect">
              <a:avLst/>
            </a:prstGeom>
          </p:spPr>
          <p:txBody>
            <a:bodyPr anchor="ctr" rtlCol="false" tIns="0" lIns="0" bIns="0" rIns="0"/>
            <a:lstStyle/>
            <a:p>
              <a:pPr algn="l">
                <a:lnSpc>
                  <a:spcPts val="2648"/>
                </a:lnSpc>
              </a:pPr>
              <a:r>
                <a:rPr lang="en-US" sz="2101" b="true">
                  <a:solidFill>
                    <a:srgbClr val="0A3A3D"/>
                  </a:solidFill>
                  <a:latin typeface="DM Sans Bold"/>
                  <a:ea typeface="DM Sans Bold"/>
                  <a:cs typeface="DM Sans Bold"/>
                  <a:sym typeface="DM Sans Bold"/>
                </a:rPr>
                <a:t>Denk-Hinweis  ⟶  </a:t>
              </a:r>
              <a:r>
                <a:rPr lang="en-US" sz="2101">
                  <a:solidFill>
                    <a:srgbClr val="23262B"/>
                  </a:solidFill>
                  <a:latin typeface="DM Sans"/>
                  <a:ea typeface="DM Sans"/>
                  <a:cs typeface="DM Sans"/>
                  <a:sym typeface="DM Sans"/>
                </a:rPr>
                <a:t>Zwei Zielgruppen rollenspezifisch schulen + schrittweise ausrollen.</a:t>
              </a:r>
            </a:p>
          </p:txBody>
        </p:sp>
      </p:gr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6333" y="411804"/>
            <a:ext cx="1441304" cy="590245"/>
            <a:chOff x="0" y="0"/>
            <a:chExt cx="1921739" cy="786994"/>
          </a:xfrm>
        </p:grpSpPr>
        <p:sp>
          <p:nvSpPr>
            <p:cNvPr name="Freeform 3" id="3" descr="preencoded.png"/>
            <p:cNvSpPr/>
            <p:nvPr/>
          </p:nvSpPr>
          <p:spPr>
            <a:xfrm flipH="false" flipV="false" rot="0">
              <a:off x="0" y="0"/>
              <a:ext cx="1921764" cy="787019"/>
            </a:xfrm>
            <a:custGeom>
              <a:avLst/>
              <a:gdLst/>
              <a:ahLst/>
              <a:cxnLst/>
              <a:rect r="r" b="b" t="t" l="l"/>
              <a:pathLst>
                <a:path h="787019" w="1921764">
                  <a:moveTo>
                    <a:pt x="0" y="0"/>
                  </a:moveTo>
                  <a:lnTo>
                    <a:pt x="1921764" y="0"/>
                  </a:lnTo>
                  <a:lnTo>
                    <a:pt x="1921764" y="787019"/>
                  </a:lnTo>
                  <a:lnTo>
                    <a:pt x="0" y="787019"/>
                  </a:lnTo>
                  <a:lnTo>
                    <a:pt x="0" y="0"/>
                  </a:lnTo>
                  <a:close/>
                </a:path>
              </a:pathLst>
            </a:custGeom>
            <a:blipFill>
              <a:blip r:embed="rId2"/>
              <a:stretch>
                <a:fillRect l="-52" t="0" r="-51" b="3"/>
              </a:stretch>
            </a:blipFill>
          </p:spPr>
        </p:sp>
      </p:grpSp>
      <p:grpSp>
        <p:nvGrpSpPr>
          <p:cNvPr name="Group 4" id="4"/>
          <p:cNvGrpSpPr/>
          <p:nvPr/>
        </p:nvGrpSpPr>
        <p:grpSpPr>
          <a:xfrm rot="0">
            <a:off x="-9535" y="9654083"/>
            <a:ext cx="18320909" cy="650491"/>
            <a:chOff x="0" y="0"/>
            <a:chExt cx="24427878" cy="867321"/>
          </a:xfrm>
        </p:grpSpPr>
        <p:sp>
          <p:nvSpPr>
            <p:cNvPr name="Freeform 5" id="5"/>
            <p:cNvSpPr/>
            <p:nvPr/>
          </p:nvSpPr>
          <p:spPr>
            <a:xfrm flipH="false" flipV="false" rot="0">
              <a:off x="0" y="0"/>
              <a:ext cx="24427814" cy="867283"/>
            </a:xfrm>
            <a:custGeom>
              <a:avLst/>
              <a:gdLst/>
              <a:ahLst/>
              <a:cxnLst/>
              <a:rect r="r" b="b" t="t" l="l"/>
              <a:pathLst>
                <a:path h="867283" w="24427814">
                  <a:moveTo>
                    <a:pt x="0" y="0"/>
                  </a:moveTo>
                  <a:lnTo>
                    <a:pt x="24427814" y="0"/>
                  </a:lnTo>
                  <a:lnTo>
                    <a:pt x="24427814" y="867283"/>
                  </a:lnTo>
                  <a:lnTo>
                    <a:pt x="0" y="867283"/>
                  </a:lnTo>
                  <a:close/>
                </a:path>
              </a:pathLst>
            </a:custGeom>
            <a:solidFill>
              <a:srgbClr val="3C4F75"/>
            </a:solidFill>
            <a:ln w="19065" cap="sq">
              <a:solidFill>
                <a:srgbClr val="3C4F75"/>
              </a:solidFill>
              <a:prstDash val="solid"/>
              <a:miter/>
            </a:ln>
          </p:spPr>
        </p:sp>
      </p:grpSp>
      <p:grpSp>
        <p:nvGrpSpPr>
          <p:cNvPr name="Group 6" id="6"/>
          <p:cNvGrpSpPr/>
          <p:nvPr/>
        </p:nvGrpSpPr>
        <p:grpSpPr>
          <a:xfrm rot="0">
            <a:off x="686333" y="9663617"/>
            <a:ext cx="11667715" cy="631431"/>
            <a:chOff x="0" y="0"/>
            <a:chExt cx="15556954" cy="841908"/>
          </a:xfrm>
        </p:grpSpPr>
        <p:sp>
          <p:nvSpPr>
            <p:cNvPr name="Freeform 7" id="7"/>
            <p:cNvSpPr/>
            <p:nvPr/>
          </p:nvSpPr>
          <p:spPr>
            <a:xfrm flipH="false" flipV="false" rot="0">
              <a:off x="0" y="0"/>
              <a:ext cx="15556954" cy="841906"/>
            </a:xfrm>
            <a:custGeom>
              <a:avLst/>
              <a:gdLst/>
              <a:ahLst/>
              <a:cxnLst/>
              <a:rect r="r" b="b" t="t" l="l"/>
              <a:pathLst>
                <a:path h="841906" w="15556954">
                  <a:moveTo>
                    <a:pt x="0" y="0"/>
                  </a:moveTo>
                  <a:lnTo>
                    <a:pt x="15556954" y="0"/>
                  </a:lnTo>
                  <a:lnTo>
                    <a:pt x="15556954" y="841906"/>
                  </a:lnTo>
                  <a:lnTo>
                    <a:pt x="0" y="841906"/>
                  </a:lnTo>
                  <a:close/>
                </a:path>
              </a:pathLst>
            </a:custGeom>
            <a:blipFill>
              <a:blip r:embed="rId3">
                <a:alphaModFix amt="0"/>
              </a:blip>
              <a:stretch>
                <a:fillRect l="0" t="-310049" r="0" b="-310049"/>
              </a:stretch>
            </a:blipFill>
          </p:spPr>
        </p:sp>
        <p:sp>
          <p:nvSpPr>
            <p:cNvPr name="TextBox 8" id="8"/>
            <p:cNvSpPr txBox="true"/>
            <p:nvPr/>
          </p:nvSpPr>
          <p:spPr>
            <a:xfrm>
              <a:off x="0" y="0"/>
              <a:ext cx="15556954" cy="841908"/>
            </a:xfrm>
            <a:prstGeom prst="rect">
              <a:avLst/>
            </a:prstGeom>
          </p:spPr>
          <p:txBody>
            <a:bodyPr anchor="ctr" rtlCol="false" tIns="0" lIns="0" bIns="0" rIns="0"/>
            <a:lstStyle/>
            <a:p>
              <a:pPr algn="l">
                <a:lnSpc>
                  <a:spcPts val="1711"/>
                </a:lnSpc>
              </a:pPr>
              <a:r>
                <a:rPr lang="en-US" sz="1426">
                  <a:solidFill>
                    <a:srgbClr val="C9D2E3"/>
                  </a:solidFill>
                  <a:latin typeface="DM Sans"/>
                  <a:ea typeface="DM Sans"/>
                  <a:cs typeface="DM Sans"/>
                  <a:sym typeface="DM Sans"/>
                </a:rPr>
                <a:t>Probeklausur · Systemintegration und Vernetzung II</a:t>
              </a:r>
            </a:p>
          </p:txBody>
        </p:sp>
      </p:grpSp>
      <p:grpSp>
        <p:nvGrpSpPr>
          <p:cNvPr name="Group 9" id="9"/>
          <p:cNvGrpSpPr/>
          <p:nvPr/>
        </p:nvGrpSpPr>
        <p:grpSpPr>
          <a:xfrm rot="0">
            <a:off x="16791899" y="9663617"/>
            <a:ext cx="823608" cy="631431"/>
            <a:chOff x="0" y="0"/>
            <a:chExt cx="1098144" cy="841908"/>
          </a:xfrm>
        </p:grpSpPr>
        <p:sp>
          <p:nvSpPr>
            <p:cNvPr name="Freeform 10" id="10"/>
            <p:cNvSpPr/>
            <p:nvPr/>
          </p:nvSpPr>
          <p:spPr>
            <a:xfrm flipH="false" flipV="false" rot="0">
              <a:off x="0" y="0"/>
              <a:ext cx="1098138" cy="841906"/>
            </a:xfrm>
            <a:custGeom>
              <a:avLst/>
              <a:gdLst/>
              <a:ahLst/>
              <a:cxnLst/>
              <a:rect r="r" b="b" t="t" l="l"/>
              <a:pathLst>
                <a:path h="841906" w="1098138">
                  <a:moveTo>
                    <a:pt x="0" y="0"/>
                  </a:moveTo>
                  <a:lnTo>
                    <a:pt x="1098138" y="0"/>
                  </a:lnTo>
                  <a:lnTo>
                    <a:pt x="1098138" y="841906"/>
                  </a:lnTo>
                  <a:lnTo>
                    <a:pt x="0" y="841906"/>
                  </a:lnTo>
                  <a:close/>
                </a:path>
              </a:pathLst>
            </a:custGeom>
            <a:blipFill>
              <a:blip r:embed="rId3">
                <a:alphaModFix amt="0"/>
              </a:blip>
              <a:stretch>
                <a:fillRect l="-48366" t="0" r="-48366" b="0"/>
              </a:stretch>
            </a:blipFill>
          </p:spPr>
        </p:sp>
        <p:sp>
          <p:nvSpPr>
            <p:cNvPr name="TextBox 11" id="11"/>
            <p:cNvSpPr txBox="true"/>
            <p:nvPr/>
          </p:nvSpPr>
          <p:spPr>
            <a:xfrm>
              <a:off x="0" y="0"/>
              <a:ext cx="1098144" cy="841908"/>
            </a:xfrm>
            <a:prstGeom prst="rect">
              <a:avLst/>
            </a:prstGeom>
          </p:spPr>
          <p:txBody>
            <a:bodyPr anchor="ctr" rtlCol="false" tIns="0" lIns="0" bIns="0" rIns="0"/>
            <a:lstStyle/>
            <a:p>
              <a:pPr algn="r">
                <a:lnSpc>
                  <a:spcPts val="1711"/>
                </a:lnSpc>
              </a:pPr>
              <a:r>
                <a:rPr lang="en-US" sz="1426">
                  <a:solidFill>
                    <a:srgbClr val="C9D2E3"/>
                  </a:solidFill>
                  <a:latin typeface="DM Sans"/>
                  <a:ea typeface="DM Sans"/>
                  <a:cs typeface="DM Sans"/>
                  <a:sym typeface="DM Sans"/>
                </a:rPr>
                <a:t>63</a:t>
              </a:r>
            </a:p>
          </p:txBody>
        </p:sp>
      </p:grpSp>
      <p:grpSp>
        <p:nvGrpSpPr>
          <p:cNvPr name="Group 12" id="12"/>
          <p:cNvGrpSpPr/>
          <p:nvPr/>
        </p:nvGrpSpPr>
        <p:grpSpPr>
          <a:xfrm rot="0">
            <a:off x="8830399" y="466706"/>
            <a:ext cx="8785108" cy="494167"/>
            <a:chOff x="0" y="0"/>
            <a:chExt cx="11713477" cy="658889"/>
          </a:xfrm>
        </p:grpSpPr>
        <p:sp>
          <p:nvSpPr>
            <p:cNvPr name="Freeform 13" id="13"/>
            <p:cNvSpPr/>
            <p:nvPr/>
          </p:nvSpPr>
          <p:spPr>
            <a:xfrm flipH="false" flipV="false" rot="0">
              <a:off x="0" y="0"/>
              <a:ext cx="11713471" cy="658883"/>
            </a:xfrm>
            <a:custGeom>
              <a:avLst/>
              <a:gdLst/>
              <a:ahLst/>
              <a:cxnLst/>
              <a:rect r="r" b="b" t="t" l="l"/>
              <a:pathLst>
                <a:path h="658883" w="11713471">
                  <a:moveTo>
                    <a:pt x="0" y="0"/>
                  </a:moveTo>
                  <a:lnTo>
                    <a:pt x="11713471" y="0"/>
                  </a:lnTo>
                  <a:lnTo>
                    <a:pt x="11713471" y="658883"/>
                  </a:lnTo>
                  <a:lnTo>
                    <a:pt x="0" y="658883"/>
                  </a:lnTo>
                  <a:close/>
                </a:path>
              </a:pathLst>
            </a:custGeom>
            <a:blipFill>
              <a:blip r:embed="rId3">
                <a:alphaModFix amt="0"/>
              </a:blip>
              <a:stretch>
                <a:fillRect l="0" t="-296400" r="0" b="-296401"/>
              </a:stretch>
            </a:blipFill>
          </p:spPr>
        </p:sp>
        <p:sp>
          <p:nvSpPr>
            <p:cNvPr name="TextBox 14" id="14"/>
            <p:cNvSpPr txBox="true"/>
            <p:nvPr/>
          </p:nvSpPr>
          <p:spPr>
            <a:xfrm>
              <a:off x="0" y="0"/>
              <a:ext cx="11713477" cy="658889"/>
            </a:xfrm>
            <a:prstGeom prst="rect">
              <a:avLst/>
            </a:prstGeom>
          </p:spPr>
          <p:txBody>
            <a:bodyPr anchor="ctr" rtlCol="false" tIns="0" lIns="0" bIns="0" rIns="0"/>
            <a:lstStyle/>
            <a:p>
              <a:pPr algn="r">
                <a:lnSpc>
                  <a:spcPts val="2071"/>
                </a:lnSpc>
              </a:pPr>
              <a:r>
                <a:rPr lang="en-US" sz="1726" b="true">
                  <a:solidFill>
                    <a:srgbClr val="0C1D4B"/>
                  </a:solidFill>
                  <a:latin typeface="Montserrat Bold"/>
                  <a:ea typeface="Montserrat Bold"/>
                  <a:cs typeface="Montserrat Bold"/>
                  <a:sym typeface="Montserrat Bold"/>
                </a:rPr>
                <a:t>MobilPlus Verkehrsbetriebe AG   ·   Aufgabe 5 b)</a:t>
              </a:r>
            </a:p>
          </p:txBody>
        </p:sp>
      </p:grpSp>
      <p:grpSp>
        <p:nvGrpSpPr>
          <p:cNvPr name="Group 15" id="15"/>
          <p:cNvGrpSpPr/>
          <p:nvPr/>
        </p:nvGrpSpPr>
        <p:grpSpPr>
          <a:xfrm rot="0">
            <a:off x="1029500" y="1235402"/>
            <a:ext cx="6863363" cy="960872"/>
            <a:chOff x="0" y="0"/>
            <a:chExt cx="9151150" cy="1281163"/>
          </a:xfrm>
        </p:grpSpPr>
        <p:sp>
          <p:nvSpPr>
            <p:cNvPr name="Freeform 16" id="16"/>
            <p:cNvSpPr/>
            <p:nvPr/>
          </p:nvSpPr>
          <p:spPr>
            <a:xfrm flipH="false" flipV="false" rot="0">
              <a:off x="0" y="0"/>
              <a:ext cx="9151149" cy="1281161"/>
            </a:xfrm>
            <a:custGeom>
              <a:avLst/>
              <a:gdLst/>
              <a:ahLst/>
              <a:cxnLst/>
              <a:rect r="r" b="b" t="t" l="l"/>
              <a:pathLst>
                <a:path h="1281161" w="9151149">
                  <a:moveTo>
                    <a:pt x="0" y="0"/>
                  </a:moveTo>
                  <a:lnTo>
                    <a:pt x="9151149" y="0"/>
                  </a:lnTo>
                  <a:lnTo>
                    <a:pt x="9151149" y="1281161"/>
                  </a:lnTo>
                  <a:lnTo>
                    <a:pt x="0" y="1281161"/>
                  </a:lnTo>
                  <a:close/>
                </a:path>
              </a:pathLst>
            </a:custGeom>
            <a:blipFill>
              <a:blip r:embed="rId3">
                <a:alphaModFix amt="0"/>
              </a:blip>
              <a:stretch>
                <a:fillRect l="0" t="-89178" r="0" b="-89178"/>
              </a:stretch>
            </a:blipFill>
          </p:spPr>
        </p:sp>
        <p:sp>
          <p:nvSpPr>
            <p:cNvPr name="TextBox 17" id="17"/>
            <p:cNvSpPr txBox="true"/>
            <p:nvPr/>
          </p:nvSpPr>
          <p:spPr>
            <a:xfrm>
              <a:off x="0" y="0"/>
              <a:ext cx="9151150" cy="1281163"/>
            </a:xfrm>
            <a:prstGeom prst="rect">
              <a:avLst/>
            </a:prstGeom>
          </p:spPr>
          <p:txBody>
            <a:bodyPr anchor="ctr" rtlCol="false" tIns="0" lIns="0" bIns="0" rIns="0"/>
            <a:lstStyle/>
            <a:p>
              <a:pPr algn="l">
                <a:lnSpc>
                  <a:spcPts val="6124"/>
                </a:lnSpc>
              </a:pPr>
              <a:r>
                <a:rPr lang="en-US" sz="5103" b="true">
                  <a:solidFill>
                    <a:srgbClr val="0C1D4B"/>
                  </a:solidFill>
                  <a:latin typeface="Montserrat Bold"/>
                  <a:ea typeface="Montserrat Bold"/>
                  <a:cs typeface="Montserrat Bold"/>
                  <a:sym typeface="Montserrat Bold"/>
                </a:rPr>
                <a:t>Lösung</a:t>
              </a:r>
            </a:p>
          </p:txBody>
        </p:sp>
      </p:grpSp>
      <p:grpSp>
        <p:nvGrpSpPr>
          <p:cNvPr name="Group 18" id="18"/>
          <p:cNvGrpSpPr/>
          <p:nvPr/>
        </p:nvGrpSpPr>
        <p:grpSpPr>
          <a:xfrm rot="0">
            <a:off x="1070686" y="2168823"/>
            <a:ext cx="11667715" cy="549069"/>
            <a:chOff x="0" y="0"/>
            <a:chExt cx="15556954" cy="732092"/>
          </a:xfrm>
        </p:grpSpPr>
        <p:sp>
          <p:nvSpPr>
            <p:cNvPr name="Freeform 19" id="19"/>
            <p:cNvSpPr/>
            <p:nvPr/>
          </p:nvSpPr>
          <p:spPr>
            <a:xfrm flipH="false" flipV="false" rot="0">
              <a:off x="0" y="0"/>
              <a:ext cx="15556954" cy="732092"/>
            </a:xfrm>
            <a:custGeom>
              <a:avLst/>
              <a:gdLst/>
              <a:ahLst/>
              <a:cxnLst/>
              <a:rect r="r" b="b" t="t" l="l"/>
              <a:pathLst>
                <a:path h="732092" w="15556954">
                  <a:moveTo>
                    <a:pt x="0" y="0"/>
                  </a:moveTo>
                  <a:lnTo>
                    <a:pt x="15556954" y="0"/>
                  </a:lnTo>
                  <a:lnTo>
                    <a:pt x="15556954" y="732092"/>
                  </a:lnTo>
                  <a:lnTo>
                    <a:pt x="0" y="732092"/>
                  </a:lnTo>
                  <a:close/>
                </a:path>
              </a:pathLst>
            </a:custGeom>
            <a:blipFill>
              <a:blip r:embed="rId3">
                <a:alphaModFix amt="0"/>
              </a:blip>
              <a:stretch>
                <a:fillRect l="0" t="-364057" r="0" b="-364057"/>
              </a:stretch>
            </a:blipFill>
          </p:spPr>
        </p:sp>
        <p:sp>
          <p:nvSpPr>
            <p:cNvPr name="TextBox 20" id="20"/>
            <p:cNvSpPr txBox="true"/>
            <p:nvPr/>
          </p:nvSpPr>
          <p:spPr>
            <a:xfrm>
              <a:off x="0" y="0"/>
              <a:ext cx="15556954" cy="732092"/>
            </a:xfrm>
            <a:prstGeom prst="rect">
              <a:avLst/>
            </a:prstGeom>
          </p:spPr>
          <p:txBody>
            <a:bodyPr anchor="ctr" rtlCol="false" tIns="0" lIns="0" bIns="0" rIns="0"/>
            <a:lstStyle/>
            <a:p>
              <a:pPr algn="l">
                <a:lnSpc>
                  <a:spcPts val="2521"/>
                </a:lnSpc>
              </a:pPr>
              <a:r>
                <a:rPr lang="en-US" sz="2101" b="true">
                  <a:solidFill>
                    <a:srgbClr val="FF4000"/>
                  </a:solidFill>
                  <a:latin typeface="Montserrat Bold"/>
                  <a:ea typeface="Montserrat Bold"/>
                  <a:cs typeface="Montserrat Bold"/>
                  <a:sym typeface="Montserrat Bold"/>
                </a:rPr>
                <a:t>Schulung &amp; Roll-out</a:t>
              </a:r>
            </a:p>
          </p:txBody>
        </p:sp>
      </p:grpSp>
      <p:grpSp>
        <p:nvGrpSpPr>
          <p:cNvPr name="Group 21" id="21"/>
          <p:cNvGrpSpPr/>
          <p:nvPr/>
        </p:nvGrpSpPr>
        <p:grpSpPr>
          <a:xfrm rot="0">
            <a:off x="13099485" y="1294505"/>
            <a:ext cx="4205716" cy="774030"/>
            <a:chOff x="0" y="0"/>
            <a:chExt cx="5607622" cy="1032040"/>
          </a:xfrm>
        </p:grpSpPr>
        <p:sp>
          <p:nvSpPr>
            <p:cNvPr name="Freeform 22" id="22"/>
            <p:cNvSpPr/>
            <p:nvPr/>
          </p:nvSpPr>
          <p:spPr>
            <a:xfrm flipH="false" flipV="false" rot="0">
              <a:off x="0" y="0"/>
              <a:ext cx="5607685" cy="1032129"/>
            </a:xfrm>
            <a:custGeom>
              <a:avLst/>
              <a:gdLst/>
              <a:ahLst/>
              <a:cxnLst/>
              <a:rect r="r" b="b" t="t" l="l"/>
              <a:pathLst>
                <a:path h="1032129" w="5607685">
                  <a:moveTo>
                    <a:pt x="0" y="187706"/>
                  </a:moveTo>
                  <a:cubicBezTo>
                    <a:pt x="0" y="84074"/>
                    <a:pt x="84074" y="0"/>
                    <a:pt x="187706" y="0"/>
                  </a:cubicBezTo>
                  <a:lnTo>
                    <a:pt x="5419979" y="0"/>
                  </a:lnTo>
                  <a:cubicBezTo>
                    <a:pt x="5523611" y="0"/>
                    <a:pt x="5607685" y="84074"/>
                    <a:pt x="5607685" y="187706"/>
                  </a:cubicBezTo>
                  <a:lnTo>
                    <a:pt x="5607685" y="844423"/>
                  </a:lnTo>
                  <a:cubicBezTo>
                    <a:pt x="5607685" y="948055"/>
                    <a:pt x="5523611" y="1032129"/>
                    <a:pt x="5419979" y="1032129"/>
                  </a:cubicBezTo>
                  <a:lnTo>
                    <a:pt x="187706" y="1032129"/>
                  </a:lnTo>
                  <a:cubicBezTo>
                    <a:pt x="84074" y="1032002"/>
                    <a:pt x="0" y="948055"/>
                    <a:pt x="0" y="844423"/>
                  </a:cubicBezTo>
                  <a:close/>
                </a:path>
              </a:pathLst>
            </a:custGeom>
            <a:solidFill>
              <a:srgbClr val="8A1E3F"/>
            </a:solidFill>
            <a:ln w="19065" cap="sq">
              <a:solidFill>
                <a:srgbClr val="8A1E3F"/>
              </a:solidFill>
              <a:prstDash val="solid"/>
              <a:miter/>
            </a:ln>
          </p:spPr>
        </p:sp>
      </p:grpSp>
      <p:grpSp>
        <p:nvGrpSpPr>
          <p:cNvPr name="Group 23" id="23"/>
          <p:cNvGrpSpPr/>
          <p:nvPr/>
        </p:nvGrpSpPr>
        <p:grpSpPr>
          <a:xfrm rot="0">
            <a:off x="13109019" y="1304039"/>
            <a:ext cx="4186647" cy="754971"/>
            <a:chOff x="0" y="0"/>
            <a:chExt cx="5582196" cy="1006627"/>
          </a:xfrm>
        </p:grpSpPr>
        <p:sp>
          <p:nvSpPr>
            <p:cNvPr name="Freeform 24" id="24"/>
            <p:cNvSpPr/>
            <p:nvPr/>
          </p:nvSpPr>
          <p:spPr>
            <a:xfrm flipH="false" flipV="false" rot="0">
              <a:off x="0" y="0"/>
              <a:ext cx="5582201" cy="1006626"/>
            </a:xfrm>
            <a:custGeom>
              <a:avLst/>
              <a:gdLst/>
              <a:ahLst/>
              <a:cxnLst/>
              <a:rect r="r" b="b" t="t" l="l"/>
              <a:pathLst>
                <a:path h="1006626" w="5582201">
                  <a:moveTo>
                    <a:pt x="0" y="0"/>
                  </a:moveTo>
                  <a:lnTo>
                    <a:pt x="5582201" y="0"/>
                  </a:lnTo>
                  <a:lnTo>
                    <a:pt x="5582201" y="1006626"/>
                  </a:lnTo>
                  <a:lnTo>
                    <a:pt x="0" y="1006626"/>
                  </a:lnTo>
                  <a:close/>
                </a:path>
              </a:pathLst>
            </a:custGeom>
            <a:blipFill>
              <a:blip r:embed="rId3">
                <a:alphaModFix amt="0"/>
              </a:blip>
              <a:stretch>
                <a:fillRect l="0" t="-58053" r="0" b="-58053"/>
              </a:stretch>
            </a:blipFill>
          </p:spPr>
        </p:sp>
        <p:sp>
          <p:nvSpPr>
            <p:cNvPr name="TextBox 25" id="25"/>
            <p:cNvSpPr txBox="true"/>
            <p:nvPr/>
          </p:nvSpPr>
          <p:spPr>
            <a:xfrm>
              <a:off x="0" y="0"/>
              <a:ext cx="5582196" cy="1006627"/>
            </a:xfrm>
            <a:prstGeom prst="rect">
              <a:avLst/>
            </a:prstGeom>
          </p:spPr>
          <p:txBody>
            <a:bodyPr anchor="ctr" rtlCol="false" tIns="0" lIns="0" bIns="0" rIns="0"/>
            <a:lstStyle/>
            <a:p>
              <a:pPr algn="ctr">
                <a:lnSpc>
                  <a:spcPts val="2161"/>
                </a:lnSpc>
              </a:pPr>
              <a:r>
                <a:rPr lang="en-US" sz="1801" b="true">
                  <a:solidFill>
                    <a:srgbClr val="FFFFFF"/>
                  </a:solidFill>
                  <a:latin typeface="Montserrat Bold"/>
                  <a:ea typeface="Montserrat Bold"/>
                  <a:cs typeface="Montserrat Bold"/>
                  <a:sym typeface="Montserrat Bold"/>
                </a:rPr>
                <a:t>AFB III  ·  2 × 3 = 6 P.</a:t>
              </a:r>
            </a:p>
          </p:txBody>
        </p:sp>
      </p:grpSp>
      <p:grpSp>
        <p:nvGrpSpPr>
          <p:cNvPr name="Group 26" id="26"/>
          <p:cNvGrpSpPr/>
          <p:nvPr/>
        </p:nvGrpSpPr>
        <p:grpSpPr>
          <a:xfrm rot="0">
            <a:off x="1070686" y="2772794"/>
            <a:ext cx="10981382" cy="384353"/>
            <a:chOff x="0" y="0"/>
            <a:chExt cx="14641843" cy="512470"/>
          </a:xfrm>
        </p:grpSpPr>
        <p:sp>
          <p:nvSpPr>
            <p:cNvPr name="Freeform 27" id="27"/>
            <p:cNvSpPr/>
            <p:nvPr/>
          </p:nvSpPr>
          <p:spPr>
            <a:xfrm flipH="false" flipV="false" rot="0">
              <a:off x="0" y="0"/>
              <a:ext cx="14641840" cy="512464"/>
            </a:xfrm>
            <a:custGeom>
              <a:avLst/>
              <a:gdLst/>
              <a:ahLst/>
              <a:cxnLst/>
              <a:rect r="r" b="b" t="t" l="l"/>
              <a:pathLst>
                <a:path h="512464" w="14641840">
                  <a:moveTo>
                    <a:pt x="0" y="0"/>
                  </a:moveTo>
                  <a:lnTo>
                    <a:pt x="14641840" y="0"/>
                  </a:lnTo>
                  <a:lnTo>
                    <a:pt x="14641840" y="512464"/>
                  </a:lnTo>
                  <a:lnTo>
                    <a:pt x="0" y="512464"/>
                  </a:lnTo>
                  <a:close/>
                </a:path>
              </a:pathLst>
            </a:custGeom>
            <a:blipFill>
              <a:blip r:embed="rId3">
                <a:alphaModFix amt="0"/>
              </a:blip>
              <a:stretch>
                <a:fillRect l="0" t="-506714" r="0" b="-506716"/>
              </a:stretch>
            </a:blipFill>
          </p:spPr>
        </p:sp>
        <p:sp>
          <p:nvSpPr>
            <p:cNvPr name="TextBox 28" id="28"/>
            <p:cNvSpPr txBox="true"/>
            <p:nvPr/>
          </p:nvSpPr>
          <p:spPr>
            <a:xfrm>
              <a:off x="0" y="0"/>
              <a:ext cx="14641843" cy="512470"/>
            </a:xfrm>
            <a:prstGeom prst="rect">
              <a:avLst/>
            </a:prstGeom>
          </p:spPr>
          <p:txBody>
            <a:bodyPr anchor="ctr" rtlCol="false" tIns="0" lIns="0" bIns="0" rIns="0"/>
            <a:lstStyle/>
            <a:p>
              <a:pPr algn="l">
                <a:lnSpc>
                  <a:spcPts val="1891"/>
                </a:lnSpc>
              </a:pPr>
              <a:r>
                <a:rPr lang="en-US" b="true" sz="1576" spc="300">
                  <a:solidFill>
                    <a:srgbClr val="6B7280"/>
                  </a:solidFill>
                  <a:latin typeface="Montserrat Bold"/>
                  <a:ea typeface="Montserrat Bold"/>
                  <a:cs typeface="Montserrat Bold"/>
                  <a:sym typeface="Montserrat Bold"/>
                </a:rPr>
                <a:t>WIE KOMMEN WIR DRAUF?</a:t>
              </a:r>
            </a:p>
          </p:txBody>
        </p:sp>
      </p:grpSp>
      <p:sp>
        <p:nvSpPr>
          <p:cNvPr name="TextBox 29" id="29"/>
          <p:cNvSpPr txBox="true"/>
          <p:nvPr/>
        </p:nvSpPr>
        <p:spPr>
          <a:xfrm rot="0">
            <a:off x="1166774" y="3198324"/>
            <a:ext cx="11530451" cy="851059"/>
          </a:xfrm>
          <a:prstGeom prst="rect">
            <a:avLst/>
          </a:prstGeom>
        </p:spPr>
        <p:txBody>
          <a:bodyPr anchor="t" rtlCol="false" tIns="0" lIns="0" bIns="0" rIns="0">
            <a:spAutoFit/>
          </a:bodyPr>
          <a:lstStyle/>
          <a:p>
            <a:pPr algn="l" marL="326264" indent="-163132" lvl="1">
              <a:lnSpc>
                <a:spcPts val="2161"/>
              </a:lnSpc>
              <a:buFont typeface="Arial"/>
              <a:buChar char="•"/>
            </a:pPr>
            <a:r>
              <a:rPr lang="en-US" sz="1801">
                <a:solidFill>
                  <a:srgbClr val="23262B"/>
                </a:solidFill>
                <a:latin typeface="DM Sans"/>
                <a:ea typeface="DM Sans"/>
                <a:cs typeface="DM Sans"/>
                <a:sym typeface="DM Sans"/>
              </a:rPr>
              <a:t>Zwei Zielgruppen rollenspezifisch schulen + schrittweise ausrollen.</a:t>
            </a:r>
          </a:p>
        </p:txBody>
      </p:sp>
      <p:grpSp>
        <p:nvGrpSpPr>
          <p:cNvPr name="Group 30" id="30"/>
          <p:cNvGrpSpPr/>
          <p:nvPr/>
        </p:nvGrpSpPr>
        <p:grpSpPr>
          <a:xfrm rot="0">
            <a:off x="13101876" y="2353847"/>
            <a:ext cx="4200954" cy="1668370"/>
            <a:chOff x="0" y="0"/>
            <a:chExt cx="5601272" cy="2224494"/>
          </a:xfrm>
        </p:grpSpPr>
        <p:sp>
          <p:nvSpPr>
            <p:cNvPr name="Freeform 31" id="31"/>
            <p:cNvSpPr/>
            <p:nvPr/>
          </p:nvSpPr>
          <p:spPr>
            <a:xfrm flipH="false" flipV="false" rot="0">
              <a:off x="0" y="0"/>
              <a:ext cx="5601335" cy="2224532"/>
            </a:xfrm>
            <a:custGeom>
              <a:avLst/>
              <a:gdLst/>
              <a:ahLst/>
              <a:cxnLst/>
              <a:rect r="r" b="b" t="t" l="l"/>
              <a:pathLst>
                <a:path h="2224532" w="5601335">
                  <a:moveTo>
                    <a:pt x="0" y="73914"/>
                  </a:moveTo>
                  <a:cubicBezTo>
                    <a:pt x="0" y="33020"/>
                    <a:pt x="33020" y="0"/>
                    <a:pt x="73914" y="0"/>
                  </a:cubicBezTo>
                  <a:lnTo>
                    <a:pt x="5527421" y="0"/>
                  </a:lnTo>
                  <a:cubicBezTo>
                    <a:pt x="5568188" y="0"/>
                    <a:pt x="5601335" y="33020"/>
                    <a:pt x="5601335" y="73914"/>
                  </a:cubicBezTo>
                  <a:lnTo>
                    <a:pt x="5601335" y="2150618"/>
                  </a:lnTo>
                  <a:cubicBezTo>
                    <a:pt x="5601335" y="2191385"/>
                    <a:pt x="5568315" y="2224532"/>
                    <a:pt x="5527421" y="2224532"/>
                  </a:cubicBezTo>
                  <a:lnTo>
                    <a:pt x="73914" y="2224532"/>
                  </a:lnTo>
                  <a:cubicBezTo>
                    <a:pt x="33147" y="2224532"/>
                    <a:pt x="0" y="2191512"/>
                    <a:pt x="0" y="2150618"/>
                  </a:cubicBezTo>
                  <a:close/>
                </a:path>
              </a:pathLst>
            </a:custGeom>
            <a:solidFill>
              <a:srgbClr val="FFF6C7"/>
            </a:solidFill>
            <a:ln w="14299" cap="sq">
              <a:solidFill>
                <a:srgbClr val="E8C50E"/>
              </a:solidFill>
              <a:prstDash val="solid"/>
              <a:miter/>
            </a:ln>
          </p:spPr>
        </p:sp>
      </p:grpSp>
      <p:sp>
        <p:nvSpPr>
          <p:cNvPr name="TextBox 32" id="32"/>
          <p:cNvSpPr txBox="true"/>
          <p:nvPr/>
        </p:nvSpPr>
        <p:spPr>
          <a:xfrm rot="0">
            <a:off x="13314921" y="2498265"/>
            <a:ext cx="3774853" cy="1379534"/>
          </a:xfrm>
          <a:prstGeom prst="rect">
            <a:avLst/>
          </a:prstGeom>
        </p:spPr>
        <p:txBody>
          <a:bodyPr anchor="t" rtlCol="false" tIns="0" lIns="0" bIns="0" rIns="0">
            <a:spAutoFit/>
          </a:bodyPr>
          <a:lstStyle/>
          <a:p>
            <a:pPr algn="l">
              <a:lnSpc>
                <a:spcPts val="1745"/>
              </a:lnSpc>
            </a:pPr>
            <a:r>
              <a:rPr lang="en-US" sz="1426" b="true">
                <a:solidFill>
                  <a:srgbClr val="7A5B00"/>
                </a:solidFill>
                <a:latin typeface="DM Sans Bold"/>
                <a:ea typeface="DM Sans Bold"/>
                <a:cs typeface="DM Sans Bold"/>
                <a:sym typeface="DM Sans Bold"/>
              </a:rPr>
              <a:t>Punkte-Tipp: </a:t>
            </a:r>
            <a:r>
              <a:rPr lang="en-US" sz="1426">
                <a:solidFill>
                  <a:srgbClr val="5A4600"/>
                </a:solidFill>
                <a:latin typeface="DM Sans"/>
                <a:ea typeface="DM Sans"/>
                <a:cs typeface="DM Sans"/>
                <a:sym typeface="DM Sans"/>
              </a:rPr>
              <a:t>2×3 = 6 P.: je Maßnahme eine Begründung (sichere Bedienung, Akzeptanz).</a:t>
            </a:r>
          </a:p>
        </p:txBody>
      </p:sp>
      <p:grpSp>
        <p:nvGrpSpPr>
          <p:cNvPr name="Group 33" id="33"/>
          <p:cNvGrpSpPr/>
          <p:nvPr/>
        </p:nvGrpSpPr>
        <p:grpSpPr>
          <a:xfrm rot="0">
            <a:off x="13101876" y="5071739"/>
            <a:ext cx="4200954" cy="1990944"/>
            <a:chOff x="0" y="0"/>
            <a:chExt cx="5601272" cy="2654592"/>
          </a:xfrm>
        </p:grpSpPr>
        <p:sp>
          <p:nvSpPr>
            <p:cNvPr name="Freeform 34" id="34"/>
            <p:cNvSpPr/>
            <p:nvPr/>
          </p:nvSpPr>
          <p:spPr>
            <a:xfrm flipH="false" flipV="false" rot="0">
              <a:off x="0" y="0"/>
              <a:ext cx="5601335" cy="2654681"/>
            </a:xfrm>
            <a:custGeom>
              <a:avLst/>
              <a:gdLst/>
              <a:ahLst/>
              <a:cxnLst/>
              <a:rect r="r" b="b" t="t" l="l"/>
              <a:pathLst>
                <a:path h="2654681" w="5601335">
                  <a:moveTo>
                    <a:pt x="0" y="73787"/>
                  </a:moveTo>
                  <a:cubicBezTo>
                    <a:pt x="0" y="33020"/>
                    <a:pt x="33020" y="0"/>
                    <a:pt x="73787" y="0"/>
                  </a:cubicBezTo>
                  <a:lnTo>
                    <a:pt x="5527548" y="0"/>
                  </a:lnTo>
                  <a:cubicBezTo>
                    <a:pt x="5568315" y="0"/>
                    <a:pt x="5601335" y="33020"/>
                    <a:pt x="5601335" y="73787"/>
                  </a:cubicBezTo>
                  <a:lnTo>
                    <a:pt x="5601335" y="2580894"/>
                  </a:lnTo>
                  <a:cubicBezTo>
                    <a:pt x="5601335" y="2621661"/>
                    <a:pt x="5568315" y="2654681"/>
                    <a:pt x="5527548" y="2654681"/>
                  </a:cubicBezTo>
                  <a:lnTo>
                    <a:pt x="73787" y="2654681"/>
                  </a:lnTo>
                  <a:cubicBezTo>
                    <a:pt x="33020" y="2654681"/>
                    <a:pt x="0" y="2621661"/>
                    <a:pt x="0" y="2580894"/>
                  </a:cubicBezTo>
                  <a:close/>
                </a:path>
              </a:pathLst>
            </a:custGeom>
            <a:solidFill>
              <a:srgbClr val="E8930C"/>
            </a:solidFill>
            <a:ln w="14299" cap="sq">
              <a:solidFill>
                <a:srgbClr val="E8930C"/>
              </a:solidFill>
              <a:prstDash val="solid"/>
              <a:miter/>
            </a:ln>
          </p:spPr>
        </p:sp>
      </p:grpSp>
      <p:sp>
        <p:nvSpPr>
          <p:cNvPr name="TextBox 35" id="35"/>
          <p:cNvSpPr txBox="true"/>
          <p:nvPr/>
        </p:nvSpPr>
        <p:spPr>
          <a:xfrm rot="0">
            <a:off x="13314921" y="5216157"/>
            <a:ext cx="3774853" cy="1702117"/>
          </a:xfrm>
          <a:prstGeom prst="rect">
            <a:avLst/>
          </a:prstGeom>
        </p:spPr>
        <p:txBody>
          <a:bodyPr anchor="t" rtlCol="false" tIns="0" lIns="0" bIns="0" rIns="0">
            <a:spAutoFit/>
          </a:bodyPr>
          <a:lstStyle/>
          <a:p>
            <a:pPr algn="l">
              <a:lnSpc>
                <a:spcPts val="1745"/>
              </a:lnSpc>
            </a:pPr>
            <a:r>
              <a:rPr lang="en-US" sz="1426" b="true">
                <a:solidFill>
                  <a:srgbClr val="3A2200"/>
                </a:solidFill>
                <a:latin typeface="DM Sans Bold"/>
                <a:ea typeface="DM Sans Bold"/>
                <a:cs typeface="DM Sans Bold"/>
                <a:sym typeface="DM Sans Bold"/>
              </a:rPr>
              <a:t>Sidefacts: </a:t>
            </a:r>
            <a:r>
              <a:rPr lang="en-US" sz="1426">
                <a:solidFill>
                  <a:srgbClr val="2A1800"/>
                </a:solidFill>
                <a:latin typeface="DM Sans"/>
                <a:ea typeface="DM Sans"/>
                <a:cs typeface="DM Sans"/>
                <a:sym typeface="DM Sans"/>
              </a:rPr>
              <a:t>Rollenspezifisch heißt: Fahrpersonal lernt das Bordsystem, Leitstelle die Leitsoftware – zielgerichtet statt Gießkanne.</a:t>
            </a:r>
          </a:p>
        </p:txBody>
      </p:sp>
      <p:grpSp>
        <p:nvGrpSpPr>
          <p:cNvPr name="Group 36" id="36"/>
          <p:cNvGrpSpPr/>
          <p:nvPr/>
        </p:nvGrpSpPr>
        <p:grpSpPr>
          <a:xfrm rot="0">
            <a:off x="1019975" y="4177122"/>
            <a:ext cx="11686784" cy="2146706"/>
            <a:chOff x="0" y="0"/>
            <a:chExt cx="15582379" cy="2862275"/>
          </a:xfrm>
        </p:grpSpPr>
        <p:sp>
          <p:nvSpPr>
            <p:cNvPr name="Freeform 37" id="37"/>
            <p:cNvSpPr/>
            <p:nvPr/>
          </p:nvSpPr>
          <p:spPr>
            <a:xfrm flipH="false" flipV="false" rot="0">
              <a:off x="0" y="0"/>
              <a:ext cx="15582392" cy="2862326"/>
            </a:xfrm>
            <a:custGeom>
              <a:avLst/>
              <a:gdLst/>
              <a:ahLst/>
              <a:cxnLst/>
              <a:rect r="r" b="b" t="t" l="l"/>
              <a:pathLst>
                <a:path h="2862326" w="15582392">
                  <a:moveTo>
                    <a:pt x="0" y="92329"/>
                  </a:moveTo>
                  <a:cubicBezTo>
                    <a:pt x="0" y="41402"/>
                    <a:pt x="41402" y="0"/>
                    <a:pt x="92329" y="0"/>
                  </a:cubicBezTo>
                  <a:lnTo>
                    <a:pt x="15490062" y="0"/>
                  </a:lnTo>
                  <a:cubicBezTo>
                    <a:pt x="15541117" y="0"/>
                    <a:pt x="15582392" y="41402"/>
                    <a:pt x="15582392" y="92329"/>
                  </a:cubicBezTo>
                  <a:lnTo>
                    <a:pt x="15582392" y="2769997"/>
                  </a:lnTo>
                  <a:cubicBezTo>
                    <a:pt x="15582392" y="2821051"/>
                    <a:pt x="15540989" y="2862326"/>
                    <a:pt x="15490062"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38" id="38"/>
          <p:cNvSpPr txBox="true"/>
          <p:nvPr/>
        </p:nvSpPr>
        <p:spPr>
          <a:xfrm rot="0">
            <a:off x="1304039" y="4319721"/>
            <a:ext cx="11118647" cy="1396598"/>
          </a:xfrm>
          <a:prstGeom prst="rect">
            <a:avLst/>
          </a:prstGeom>
        </p:spPr>
        <p:txBody>
          <a:bodyPr anchor="t" rtlCol="false" tIns="0" lIns="0" bIns="0" rIns="0">
            <a:spAutoFit/>
          </a:bodyPr>
          <a:lstStyle/>
          <a:p>
            <a:pPr algn="l">
              <a:lnSpc>
                <a:spcPts val="2383"/>
              </a:lnSpc>
            </a:pPr>
            <a:r>
              <a:rPr lang="en-US" sz="2026" b="true">
                <a:solidFill>
                  <a:srgbClr val="0C1D4B"/>
                </a:solidFill>
                <a:latin typeface="Montserrat Bold"/>
                <a:ea typeface="Montserrat Bold"/>
                <a:cs typeface="Montserrat Bold"/>
                <a:sym typeface="Montserrat Bold"/>
              </a:rPr>
              <a:t>Rollenspezifische Schulung + Handreichungen</a:t>
            </a:r>
          </a:p>
          <a:p>
            <a:pPr algn="l">
              <a:lnSpc>
                <a:spcPts val="2206"/>
              </a:lnSpc>
            </a:pPr>
            <a:r>
              <a:rPr lang="en-US" sz="1876">
                <a:solidFill>
                  <a:srgbClr val="0A3A3D"/>
                </a:solidFill>
                <a:latin typeface="DM Sans"/>
                <a:ea typeface="DM Sans"/>
                <a:cs typeface="DM Sans"/>
                <a:sym typeface="DM Sans"/>
              </a:rPr>
              <a:t>Leitstellenpersonal an der neuen Software, Fahrpersonal am Bordsystem. </a:t>
            </a:r>
          </a:p>
          <a:p>
            <a:pPr algn="l">
              <a:lnSpc>
                <a:spcPts val="2206"/>
              </a:lnSpc>
            </a:pPr>
          </a:p>
          <a:p>
            <a:pPr algn="l">
              <a:lnSpc>
                <a:spcPts val="2206"/>
              </a:lnSpc>
            </a:pPr>
          </a:p>
          <a:p>
            <a:pPr algn="l">
              <a:lnSpc>
                <a:spcPts val="2206"/>
              </a:lnSpc>
            </a:pPr>
            <a:r>
              <a:rPr lang="en-US" sz="1876">
                <a:solidFill>
                  <a:srgbClr val="0A3A3D"/>
                </a:solidFill>
                <a:latin typeface="DM Sans"/>
                <a:ea typeface="DM Sans"/>
                <a:cs typeface="DM Sans"/>
                <a:sym typeface="DM Sans"/>
              </a:rPr>
              <a:t>Begründung: sichert die korrekte und sichere Bedienung.</a:t>
            </a:r>
          </a:p>
        </p:txBody>
      </p:sp>
      <p:grpSp>
        <p:nvGrpSpPr>
          <p:cNvPr name="Group 39" id="39"/>
          <p:cNvGrpSpPr/>
          <p:nvPr/>
        </p:nvGrpSpPr>
        <p:grpSpPr>
          <a:xfrm rot="0">
            <a:off x="1019975" y="6551838"/>
            <a:ext cx="11686784" cy="2146706"/>
            <a:chOff x="0" y="0"/>
            <a:chExt cx="15582379" cy="2862275"/>
          </a:xfrm>
        </p:grpSpPr>
        <p:sp>
          <p:nvSpPr>
            <p:cNvPr name="Freeform 40" id="40"/>
            <p:cNvSpPr/>
            <p:nvPr/>
          </p:nvSpPr>
          <p:spPr>
            <a:xfrm flipH="false" flipV="false" rot="0">
              <a:off x="0" y="0"/>
              <a:ext cx="15582392" cy="2862326"/>
            </a:xfrm>
            <a:custGeom>
              <a:avLst/>
              <a:gdLst/>
              <a:ahLst/>
              <a:cxnLst/>
              <a:rect r="r" b="b" t="t" l="l"/>
              <a:pathLst>
                <a:path h="2862326" w="15582392">
                  <a:moveTo>
                    <a:pt x="0" y="92329"/>
                  </a:moveTo>
                  <a:cubicBezTo>
                    <a:pt x="0" y="41402"/>
                    <a:pt x="41402" y="0"/>
                    <a:pt x="92329" y="0"/>
                  </a:cubicBezTo>
                  <a:lnTo>
                    <a:pt x="15490062" y="0"/>
                  </a:lnTo>
                  <a:cubicBezTo>
                    <a:pt x="15541117" y="0"/>
                    <a:pt x="15582392" y="41402"/>
                    <a:pt x="15582392" y="92329"/>
                  </a:cubicBezTo>
                  <a:lnTo>
                    <a:pt x="15582392" y="2769997"/>
                  </a:lnTo>
                  <a:cubicBezTo>
                    <a:pt x="15582392" y="2821051"/>
                    <a:pt x="15540989" y="2862326"/>
                    <a:pt x="15490062" y="2862326"/>
                  </a:cubicBezTo>
                  <a:lnTo>
                    <a:pt x="92329" y="2862326"/>
                  </a:lnTo>
                  <a:cubicBezTo>
                    <a:pt x="41275" y="2862326"/>
                    <a:pt x="0" y="2820924"/>
                    <a:pt x="0" y="2769997"/>
                  </a:cubicBezTo>
                  <a:close/>
                </a:path>
              </a:pathLst>
            </a:custGeom>
            <a:solidFill>
              <a:srgbClr val="5CE1E6"/>
            </a:solidFill>
            <a:ln w="19065" cap="sq">
              <a:solidFill>
                <a:srgbClr val="5CE1E6"/>
              </a:solidFill>
              <a:prstDash val="solid"/>
              <a:miter/>
            </a:ln>
          </p:spPr>
        </p:sp>
      </p:grpSp>
      <p:sp>
        <p:nvSpPr>
          <p:cNvPr name="TextBox 41" id="41"/>
          <p:cNvSpPr txBox="true"/>
          <p:nvPr/>
        </p:nvSpPr>
        <p:spPr>
          <a:xfrm rot="0">
            <a:off x="1304039" y="6694437"/>
            <a:ext cx="11118647" cy="1672823"/>
          </a:xfrm>
          <a:prstGeom prst="rect">
            <a:avLst/>
          </a:prstGeom>
        </p:spPr>
        <p:txBody>
          <a:bodyPr anchor="t" rtlCol="false" tIns="0" lIns="0" bIns="0" rIns="0">
            <a:spAutoFit/>
          </a:bodyPr>
          <a:lstStyle/>
          <a:p>
            <a:pPr algn="l">
              <a:lnSpc>
                <a:spcPts val="2383"/>
              </a:lnSpc>
            </a:pPr>
            <a:r>
              <a:rPr lang="en-US" sz="2026" b="true">
                <a:solidFill>
                  <a:srgbClr val="0C1D4B"/>
                </a:solidFill>
                <a:latin typeface="Montserrat Bold"/>
                <a:ea typeface="Montserrat Bold"/>
                <a:cs typeface="Montserrat Bold"/>
                <a:sym typeface="Montserrat Bold"/>
              </a:rPr>
              <a:t>Begleiteter Pilot-/Wellen-Roll-out mit Hypercare</a:t>
            </a:r>
          </a:p>
          <a:p>
            <a:pPr algn="l">
              <a:lnSpc>
                <a:spcPts val="2206"/>
              </a:lnSpc>
            </a:pPr>
            <a:r>
              <a:rPr lang="en-US" sz="1876">
                <a:solidFill>
                  <a:srgbClr val="0A3A3D"/>
                </a:solidFill>
                <a:latin typeface="DM Sans"/>
                <a:ea typeface="DM Sans"/>
                <a:cs typeface="DM Sans"/>
                <a:sym typeface="DM Sans"/>
              </a:rPr>
              <a:t>Schrittweise Einführung mit Hotline. </a:t>
            </a:r>
          </a:p>
          <a:p>
            <a:pPr algn="l">
              <a:lnSpc>
                <a:spcPts val="2206"/>
              </a:lnSpc>
            </a:pPr>
          </a:p>
          <a:p>
            <a:pPr algn="l">
              <a:lnSpc>
                <a:spcPts val="2206"/>
              </a:lnSpc>
            </a:pPr>
          </a:p>
          <a:p>
            <a:pPr algn="l">
              <a:lnSpc>
                <a:spcPts val="2206"/>
              </a:lnSpc>
            </a:pPr>
          </a:p>
          <a:p>
            <a:pPr algn="l">
              <a:lnSpc>
                <a:spcPts val="2206"/>
              </a:lnSpc>
            </a:pPr>
            <a:r>
              <a:rPr lang="en-US" sz="1876">
                <a:solidFill>
                  <a:srgbClr val="0A3A3D"/>
                </a:solidFill>
                <a:latin typeface="DM Sans"/>
                <a:ea typeface="DM Sans"/>
                <a:cs typeface="DM Sans"/>
                <a:sym typeface="DM Sans"/>
              </a:rPr>
              <a:t>Begründung: Risiken werden früh erkannt und die Akzeptanz steigt.</a:t>
            </a:r>
          </a:p>
        </p:txBody>
      </p:sp>
      <p:grpSp>
        <p:nvGrpSpPr>
          <p:cNvPr name="Group 42" id="42"/>
          <p:cNvGrpSpPr/>
          <p:nvPr/>
        </p:nvGrpSpPr>
        <p:grpSpPr>
          <a:xfrm rot="0">
            <a:off x="1070686" y="9087088"/>
            <a:ext cx="11667715" cy="480431"/>
            <a:chOff x="0" y="0"/>
            <a:chExt cx="15556954" cy="640575"/>
          </a:xfrm>
        </p:grpSpPr>
        <p:sp>
          <p:nvSpPr>
            <p:cNvPr name="Freeform 43" id="43"/>
            <p:cNvSpPr/>
            <p:nvPr/>
          </p:nvSpPr>
          <p:spPr>
            <a:xfrm flipH="false" flipV="false" rot="0">
              <a:off x="0" y="0"/>
              <a:ext cx="15556954" cy="640580"/>
            </a:xfrm>
            <a:custGeom>
              <a:avLst/>
              <a:gdLst/>
              <a:ahLst/>
              <a:cxnLst/>
              <a:rect r="r" b="b" t="t" l="l"/>
              <a:pathLst>
                <a:path h="640580" w="15556954">
                  <a:moveTo>
                    <a:pt x="0" y="0"/>
                  </a:moveTo>
                  <a:lnTo>
                    <a:pt x="15556954" y="0"/>
                  </a:lnTo>
                  <a:lnTo>
                    <a:pt x="15556954" y="640580"/>
                  </a:lnTo>
                  <a:lnTo>
                    <a:pt x="0" y="640580"/>
                  </a:lnTo>
                  <a:close/>
                </a:path>
              </a:pathLst>
            </a:custGeom>
            <a:blipFill>
              <a:blip r:embed="rId3">
                <a:alphaModFix amt="0"/>
              </a:blip>
              <a:stretch>
                <a:fillRect l="0" t="-423208" r="0" b="-423207"/>
              </a:stretch>
            </a:blipFill>
          </p:spPr>
        </p:sp>
        <p:sp>
          <p:nvSpPr>
            <p:cNvPr name="TextBox 44" id="44"/>
            <p:cNvSpPr txBox="true"/>
            <p:nvPr/>
          </p:nvSpPr>
          <p:spPr>
            <a:xfrm>
              <a:off x="0" y="9525"/>
              <a:ext cx="15556954" cy="631050"/>
            </a:xfrm>
            <a:prstGeom prst="rect">
              <a:avLst/>
            </a:prstGeom>
          </p:spPr>
          <p:txBody>
            <a:bodyPr anchor="ctr" rtlCol="false" tIns="0" lIns="0" bIns="0" rIns="0"/>
            <a:lstStyle/>
            <a:p>
              <a:pPr algn="l">
                <a:lnSpc>
                  <a:spcPts val="1981"/>
                </a:lnSpc>
              </a:pPr>
              <a:r>
                <a:rPr lang="en-US" sz="1651" i="true">
                  <a:solidFill>
                    <a:srgbClr val="6B7280"/>
                  </a:solidFill>
                  <a:latin typeface="DM Sans Italics"/>
                  <a:ea typeface="DM Sans Italics"/>
                  <a:cs typeface="DM Sans Italics"/>
                  <a:sym typeface="DM Sans Italics"/>
                </a:rPr>
                <a:t>Erwartete Lösung – 2 Elemente</a:t>
              </a:r>
            </a:p>
          </p:txBody>
        </p:sp>
      </p:gr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0C1D4B"/>
        </a:solidFill>
      </p:bgPr>
    </p:bg>
    <p:spTree>
      <p:nvGrpSpPr>
        <p:cNvPr id="1" name=""/>
        <p:cNvGrpSpPr/>
        <p:nvPr/>
      </p:nvGrpSpPr>
      <p:grpSpPr>
        <a:xfrm>
          <a:off x="0" y="0"/>
          <a:ext cx="0" cy="0"/>
          <a:chOff x="0" y="0"/>
          <a:chExt cx="0" cy="0"/>
        </a:xfrm>
      </p:grpSpPr>
      <p:grpSp>
        <p:nvGrpSpPr>
          <p:cNvPr name="Group 2" id="2"/>
          <p:cNvGrpSpPr/>
          <p:nvPr/>
        </p:nvGrpSpPr>
        <p:grpSpPr>
          <a:xfrm rot="0">
            <a:off x="686333" y="3431677"/>
            <a:ext cx="16925049" cy="2196274"/>
            <a:chOff x="0" y="0"/>
            <a:chExt cx="22566732" cy="2928366"/>
          </a:xfrm>
        </p:grpSpPr>
        <p:sp>
          <p:nvSpPr>
            <p:cNvPr name="Freeform 3" id="3"/>
            <p:cNvSpPr/>
            <p:nvPr/>
          </p:nvSpPr>
          <p:spPr>
            <a:xfrm flipH="false" flipV="false" rot="0">
              <a:off x="0" y="0"/>
              <a:ext cx="22566734" cy="2928368"/>
            </a:xfrm>
            <a:custGeom>
              <a:avLst/>
              <a:gdLst/>
              <a:ahLst/>
              <a:cxnLst/>
              <a:rect r="r" b="b" t="t" l="l"/>
              <a:pathLst>
                <a:path h="2928368" w="22566734">
                  <a:moveTo>
                    <a:pt x="0" y="0"/>
                  </a:moveTo>
                  <a:lnTo>
                    <a:pt x="22566734" y="0"/>
                  </a:lnTo>
                  <a:lnTo>
                    <a:pt x="22566734" y="2928368"/>
                  </a:lnTo>
                  <a:lnTo>
                    <a:pt x="0" y="2928368"/>
                  </a:lnTo>
                  <a:close/>
                </a:path>
              </a:pathLst>
            </a:custGeom>
            <a:blipFill>
              <a:blip r:embed="rId2">
                <a:alphaModFix amt="0"/>
              </a:blip>
              <a:stretch>
                <a:fillRect l="0" t="-100156" r="0" b="-100156"/>
              </a:stretch>
            </a:blipFill>
          </p:spPr>
        </p:sp>
        <p:sp>
          <p:nvSpPr>
            <p:cNvPr name="TextBox 4" id="4"/>
            <p:cNvSpPr txBox="true"/>
            <p:nvPr/>
          </p:nvSpPr>
          <p:spPr>
            <a:xfrm>
              <a:off x="0" y="0"/>
              <a:ext cx="22566732" cy="2928366"/>
            </a:xfrm>
            <a:prstGeom prst="rect">
              <a:avLst/>
            </a:prstGeom>
          </p:spPr>
          <p:txBody>
            <a:bodyPr anchor="ctr" rtlCol="false" tIns="0" lIns="0" bIns="0" rIns="0"/>
            <a:lstStyle/>
            <a:p>
              <a:pPr algn="ctr">
                <a:lnSpc>
                  <a:spcPts val="11889"/>
                </a:lnSpc>
              </a:pPr>
              <a:r>
                <a:rPr lang="en-US" sz="9907" b="true">
                  <a:solidFill>
                    <a:srgbClr val="5CE1E6"/>
                  </a:solidFill>
                  <a:latin typeface="Montserrat Bold"/>
                  <a:ea typeface="Montserrat Bold"/>
                  <a:cs typeface="Montserrat Bold"/>
                  <a:sym typeface="Montserrat Bold"/>
                </a:rPr>
                <a:t>Kahoot – Finale!</a:t>
              </a:r>
            </a:p>
          </p:txBody>
        </p:sp>
      </p:grpSp>
      <p:grpSp>
        <p:nvGrpSpPr>
          <p:cNvPr name="Group 5" id="5"/>
          <p:cNvGrpSpPr/>
          <p:nvPr/>
        </p:nvGrpSpPr>
        <p:grpSpPr>
          <a:xfrm rot="0">
            <a:off x="686333" y="5765225"/>
            <a:ext cx="16925049" cy="1098137"/>
            <a:chOff x="0" y="0"/>
            <a:chExt cx="22566732" cy="1464183"/>
          </a:xfrm>
        </p:grpSpPr>
        <p:sp>
          <p:nvSpPr>
            <p:cNvPr name="Freeform 6" id="6"/>
            <p:cNvSpPr/>
            <p:nvPr/>
          </p:nvSpPr>
          <p:spPr>
            <a:xfrm flipH="false" flipV="false" rot="0">
              <a:off x="0" y="0"/>
              <a:ext cx="22566734" cy="1464184"/>
            </a:xfrm>
            <a:custGeom>
              <a:avLst/>
              <a:gdLst/>
              <a:ahLst/>
              <a:cxnLst/>
              <a:rect r="r" b="b" t="t" l="l"/>
              <a:pathLst>
                <a:path h="1464184" w="22566734">
                  <a:moveTo>
                    <a:pt x="0" y="0"/>
                  </a:moveTo>
                  <a:lnTo>
                    <a:pt x="22566734" y="0"/>
                  </a:lnTo>
                  <a:lnTo>
                    <a:pt x="22566734" y="1464184"/>
                  </a:lnTo>
                  <a:lnTo>
                    <a:pt x="0" y="1464184"/>
                  </a:lnTo>
                  <a:close/>
                </a:path>
              </a:pathLst>
            </a:custGeom>
            <a:blipFill>
              <a:blip r:embed="rId2">
                <a:alphaModFix amt="0"/>
              </a:blip>
              <a:stretch>
                <a:fillRect l="0" t="-250313" r="0" b="-250313"/>
              </a:stretch>
            </a:blipFill>
          </p:spPr>
        </p:sp>
        <p:sp>
          <p:nvSpPr>
            <p:cNvPr name="TextBox 7" id="7"/>
            <p:cNvSpPr txBox="true"/>
            <p:nvPr/>
          </p:nvSpPr>
          <p:spPr>
            <a:xfrm>
              <a:off x="0" y="-9525"/>
              <a:ext cx="22566732" cy="1473708"/>
            </a:xfrm>
            <a:prstGeom prst="rect">
              <a:avLst/>
            </a:prstGeom>
          </p:spPr>
          <p:txBody>
            <a:bodyPr anchor="ctr" rtlCol="false" tIns="0" lIns="0" bIns="0" rIns="0"/>
            <a:lstStyle/>
            <a:p>
              <a:pPr algn="ctr">
                <a:lnSpc>
                  <a:spcPts val="3602"/>
                </a:lnSpc>
              </a:pPr>
              <a:r>
                <a:rPr lang="en-US" sz="3002">
                  <a:solidFill>
                    <a:srgbClr val="C9D2E3"/>
                  </a:solidFill>
                  <a:latin typeface="DM Sans"/>
                  <a:ea typeface="DM Sans"/>
                  <a:cs typeface="DM Sans"/>
                  <a:sym typeface="DM Sans"/>
                </a:rPr>
                <a:t>Viel Erfolg bei der Prüfung. · CLOUDHELDEN.ORG</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DAHT2aJuqb4</dc:identifier>
  <dcterms:modified xsi:type="dcterms:W3CDTF">2011-08-01T06:04:30Z</dcterms:modified>
  <cp:revision>1</cp:revision>
  <dc:title>BS Livestream Probeklausur Sys 02</dc:title>
</cp:coreProperties>
</file>